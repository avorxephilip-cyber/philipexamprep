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71" r:id="rId10"/>
    <p:sldId id="262" r:id="rId11"/>
    <p:sldId id="269" r:id="rId12"/>
    <p:sldId id="263" r:id="rId13"/>
    <p:sldId id="264" r:id="rId14"/>
    <p:sldId id="265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F6797-C341-401F-84FB-43D991D1AC88}" v="2" dt="2026-01-27T18:35:48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7" d="100"/>
          <a:sy n="57" d="100"/>
        </p:scale>
        <p:origin x="146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mfort ANIPA" userId="c4bd65e3adbd3b1a" providerId="LiveId" clId="{F1A02D38-8ADC-4A75-9B32-68CD144AD12C}"/>
    <pc:docChg chg="undo custSel addSld delSld modSld sldOrd">
      <pc:chgData name="Comfort ANIPA" userId="c4bd65e3adbd3b1a" providerId="LiveId" clId="{F1A02D38-8ADC-4A75-9B32-68CD144AD12C}" dt="2026-01-27T19:01:32.991" v="673" actId="20577"/>
      <pc:docMkLst>
        <pc:docMk/>
      </pc:docMkLst>
      <pc:sldChg chg="modSp mod">
        <pc:chgData name="Comfort ANIPA" userId="c4bd65e3adbd3b1a" providerId="LiveId" clId="{F1A02D38-8ADC-4A75-9B32-68CD144AD12C}" dt="2026-01-27T18:27:54.025" v="16" actId="122"/>
        <pc:sldMkLst>
          <pc:docMk/>
          <pc:sldMk cId="0" sldId="256"/>
        </pc:sldMkLst>
        <pc:spChg chg="mod">
          <ac:chgData name="Comfort ANIPA" userId="c4bd65e3adbd3b1a" providerId="LiveId" clId="{F1A02D38-8ADC-4A75-9B32-68CD144AD12C}" dt="2026-01-27T18:27:54.025" v="16" actId="122"/>
          <ac:spMkLst>
            <pc:docMk/>
            <pc:sldMk cId="0" sldId="256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27:42.469" v="1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omfort ANIPA" userId="c4bd65e3adbd3b1a" providerId="LiveId" clId="{F1A02D38-8ADC-4A75-9B32-68CD144AD12C}" dt="2026-01-27T18:29:13.891" v="58" actId="6549"/>
        <pc:sldMkLst>
          <pc:docMk/>
          <pc:sldMk cId="0" sldId="257"/>
        </pc:sldMkLst>
        <pc:spChg chg="mod">
          <ac:chgData name="Comfort ANIPA" userId="c4bd65e3adbd3b1a" providerId="LiveId" clId="{F1A02D38-8ADC-4A75-9B32-68CD144AD12C}" dt="2026-01-27T18:28:27.151" v="3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29:13.891" v="58" actId="6549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Comfort ANIPA" userId="c4bd65e3adbd3b1a" providerId="LiveId" clId="{F1A02D38-8ADC-4A75-9B32-68CD144AD12C}" dt="2026-01-27T18:36:54.337" v="108" actId="113"/>
        <pc:sldMkLst>
          <pc:docMk/>
          <pc:sldMk cId="0" sldId="258"/>
        </pc:sldMkLst>
        <pc:spChg chg="mod">
          <ac:chgData name="Comfort ANIPA" userId="c4bd65e3adbd3b1a" providerId="LiveId" clId="{F1A02D38-8ADC-4A75-9B32-68CD144AD12C}" dt="2026-01-27T18:36:54.337" v="108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29:56.029" v="5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Comfort ANIPA" userId="c4bd65e3adbd3b1a" providerId="LiveId" clId="{F1A02D38-8ADC-4A75-9B32-68CD144AD12C}" dt="2026-01-27T18:37:06.270" v="109" actId="113"/>
        <pc:sldMkLst>
          <pc:docMk/>
          <pc:sldMk cId="0" sldId="259"/>
        </pc:sldMkLst>
        <pc:spChg chg="mod">
          <ac:chgData name="Comfort ANIPA" userId="c4bd65e3adbd3b1a" providerId="LiveId" clId="{F1A02D38-8ADC-4A75-9B32-68CD144AD12C}" dt="2026-01-27T18:37:06.270" v="109" actId="113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Comfort ANIPA" userId="c4bd65e3adbd3b1a" providerId="LiveId" clId="{F1A02D38-8ADC-4A75-9B32-68CD144AD12C}" dt="2026-01-27T18:37:14.957" v="110" actId="113"/>
        <pc:sldMkLst>
          <pc:docMk/>
          <pc:sldMk cId="0" sldId="260"/>
        </pc:sldMkLst>
        <pc:spChg chg="mod">
          <ac:chgData name="Comfort ANIPA" userId="c4bd65e3adbd3b1a" providerId="LiveId" clId="{F1A02D38-8ADC-4A75-9B32-68CD144AD12C}" dt="2026-01-27T18:37:14.957" v="110" actId="113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Comfort ANIPA" userId="c4bd65e3adbd3b1a" providerId="LiveId" clId="{F1A02D38-8ADC-4A75-9B32-68CD144AD12C}" dt="2026-01-27T18:41:58.135" v="147" actId="14100"/>
        <pc:sldMkLst>
          <pc:docMk/>
          <pc:sldMk cId="0" sldId="261"/>
        </pc:sldMkLst>
        <pc:spChg chg="mod">
          <ac:chgData name="Comfort ANIPA" userId="c4bd65e3adbd3b1a" providerId="LiveId" clId="{F1A02D38-8ADC-4A75-9B32-68CD144AD12C}" dt="2026-01-27T18:41:58.135" v="147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32:26.868" v="67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Comfort ANIPA" userId="c4bd65e3adbd3b1a" providerId="LiveId" clId="{F1A02D38-8ADC-4A75-9B32-68CD144AD12C}" dt="2026-01-27T18:35:48.555" v="84"/>
        <pc:sldMkLst>
          <pc:docMk/>
          <pc:sldMk cId="0" sldId="262"/>
        </pc:sldMkLst>
        <pc:spChg chg="mod">
          <ac:chgData name="Comfort ANIPA" userId="c4bd65e3adbd3b1a" providerId="LiveId" clId="{F1A02D38-8ADC-4A75-9B32-68CD144AD12C}" dt="2026-01-27T18:35:48.555" v="84"/>
          <ac:spMkLst>
            <pc:docMk/>
            <pc:sldMk cId="0" sldId="262"/>
            <ac:spMk id="2" creationId="{00000000-0000-0000-0000-000000000000}"/>
          </ac:spMkLst>
        </pc:spChg>
      </pc:sldChg>
      <pc:sldChg chg="modSp mod modShow">
        <pc:chgData name="Comfort ANIPA" userId="c4bd65e3adbd3b1a" providerId="LiveId" clId="{F1A02D38-8ADC-4A75-9B32-68CD144AD12C}" dt="2026-01-27T18:46:41.653" v="353" actId="20577"/>
        <pc:sldMkLst>
          <pc:docMk/>
          <pc:sldMk cId="0" sldId="263"/>
        </pc:sldMkLst>
        <pc:spChg chg="mod">
          <ac:chgData name="Comfort ANIPA" userId="c4bd65e3adbd3b1a" providerId="LiveId" clId="{F1A02D38-8ADC-4A75-9B32-68CD144AD12C}" dt="2026-01-27T18:44:59.220" v="304" actId="6549"/>
          <ac:spMkLst>
            <pc:docMk/>
            <pc:sldMk cId="0" sldId="263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46:41.653" v="35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 modShow">
        <pc:chgData name="Comfort ANIPA" userId="c4bd65e3adbd3b1a" providerId="LiveId" clId="{F1A02D38-8ADC-4A75-9B32-68CD144AD12C}" dt="2026-01-27T18:48:04.354" v="375" actId="14100"/>
        <pc:sldMkLst>
          <pc:docMk/>
          <pc:sldMk cId="0" sldId="264"/>
        </pc:sldMkLst>
        <pc:spChg chg="mod">
          <ac:chgData name="Comfort ANIPA" userId="c4bd65e3adbd3b1a" providerId="LiveId" clId="{F1A02D38-8ADC-4A75-9B32-68CD144AD12C}" dt="2026-01-27T18:47:53.236" v="374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48:04.354" v="375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 ord modShow">
        <pc:chgData name="Comfort ANIPA" userId="c4bd65e3adbd3b1a" providerId="LiveId" clId="{F1A02D38-8ADC-4A75-9B32-68CD144AD12C}" dt="2026-01-27T18:49:44.029" v="428" actId="20577"/>
        <pc:sldMkLst>
          <pc:docMk/>
          <pc:sldMk cId="0" sldId="265"/>
        </pc:sldMkLst>
        <pc:spChg chg="mod">
          <ac:chgData name="Comfort ANIPA" userId="c4bd65e3adbd3b1a" providerId="LiveId" clId="{F1A02D38-8ADC-4A75-9B32-68CD144AD12C}" dt="2026-01-27T18:49:19.450" v="388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Comfort ANIPA" userId="c4bd65e3adbd3b1a" providerId="LiveId" clId="{F1A02D38-8ADC-4A75-9B32-68CD144AD12C}" dt="2026-01-27T18:49:44.029" v="428" actId="20577"/>
          <ac:spMkLst>
            <pc:docMk/>
            <pc:sldMk cId="0" sldId="265"/>
            <ac:spMk id="3" creationId="{00000000-0000-0000-0000-000000000000}"/>
          </ac:spMkLst>
        </pc:spChg>
      </pc:sldChg>
      <pc:sldChg chg="del mod modShow">
        <pc:chgData name="Comfort ANIPA" userId="c4bd65e3adbd3b1a" providerId="LiveId" clId="{F1A02D38-8ADC-4A75-9B32-68CD144AD12C}" dt="2026-01-27T18:50:29.647" v="429" actId="47"/>
        <pc:sldMkLst>
          <pc:docMk/>
          <pc:sldMk cId="0" sldId="266"/>
        </pc:sldMkLst>
      </pc:sldChg>
      <pc:sldChg chg="modSp mod">
        <pc:chgData name="Comfort ANIPA" userId="c4bd65e3adbd3b1a" providerId="LiveId" clId="{F1A02D38-8ADC-4A75-9B32-68CD144AD12C}" dt="2026-01-27T18:52:51.979" v="436" actId="20577"/>
        <pc:sldMkLst>
          <pc:docMk/>
          <pc:sldMk cId="3455525752" sldId="267"/>
        </pc:sldMkLst>
        <pc:spChg chg="mod">
          <ac:chgData name="Comfort ANIPA" userId="c4bd65e3adbd3b1a" providerId="LiveId" clId="{F1A02D38-8ADC-4A75-9B32-68CD144AD12C}" dt="2026-01-27T18:37:27.615" v="112" actId="14100"/>
          <ac:spMkLst>
            <pc:docMk/>
            <pc:sldMk cId="3455525752" sldId="267"/>
            <ac:spMk id="2" creationId="{00E28A7A-9179-4A0F-A84F-983BC25A0F51}"/>
          </ac:spMkLst>
        </pc:spChg>
        <pc:spChg chg="mod">
          <ac:chgData name="Comfort ANIPA" userId="c4bd65e3adbd3b1a" providerId="LiveId" clId="{F1A02D38-8ADC-4A75-9B32-68CD144AD12C}" dt="2026-01-27T18:52:51.979" v="436" actId="20577"/>
          <ac:spMkLst>
            <pc:docMk/>
            <pc:sldMk cId="3455525752" sldId="267"/>
            <ac:spMk id="3" creationId="{E04A806D-4EC2-438A-BFCC-8F4E5B77462D}"/>
          </ac:spMkLst>
        </pc:spChg>
      </pc:sldChg>
      <pc:sldChg chg="modSp mod">
        <pc:chgData name="Comfort ANIPA" userId="c4bd65e3adbd3b1a" providerId="LiveId" clId="{F1A02D38-8ADC-4A75-9B32-68CD144AD12C}" dt="2026-01-27T18:40:22.519" v="131" actId="6549"/>
        <pc:sldMkLst>
          <pc:docMk/>
          <pc:sldMk cId="45055865" sldId="268"/>
        </pc:sldMkLst>
        <pc:spChg chg="mod">
          <ac:chgData name="Comfort ANIPA" userId="c4bd65e3adbd3b1a" providerId="LiveId" clId="{F1A02D38-8ADC-4A75-9B32-68CD144AD12C}" dt="2026-01-27T18:40:18.019" v="130" actId="14100"/>
          <ac:spMkLst>
            <pc:docMk/>
            <pc:sldMk cId="45055865" sldId="268"/>
            <ac:spMk id="2" creationId="{29FD4D5A-7E3C-46C6-AF97-31B0948703B3}"/>
          </ac:spMkLst>
        </pc:spChg>
        <pc:spChg chg="mod">
          <ac:chgData name="Comfort ANIPA" userId="c4bd65e3adbd3b1a" providerId="LiveId" clId="{F1A02D38-8ADC-4A75-9B32-68CD144AD12C}" dt="2026-01-27T18:40:22.519" v="131" actId="6549"/>
          <ac:spMkLst>
            <pc:docMk/>
            <pc:sldMk cId="45055865" sldId="268"/>
            <ac:spMk id="3" creationId="{D13CF7B0-D9BE-4524-B484-1BBC5F01B4C3}"/>
          </ac:spMkLst>
        </pc:spChg>
      </pc:sldChg>
      <pc:sldChg chg="modSp mod">
        <pc:chgData name="Comfort ANIPA" userId="c4bd65e3adbd3b1a" providerId="LiveId" clId="{F1A02D38-8ADC-4A75-9B32-68CD144AD12C}" dt="2026-01-27T18:35:29.709" v="83" actId="113"/>
        <pc:sldMkLst>
          <pc:docMk/>
          <pc:sldMk cId="2444883795" sldId="269"/>
        </pc:sldMkLst>
        <pc:spChg chg="mod">
          <ac:chgData name="Comfort ANIPA" userId="c4bd65e3adbd3b1a" providerId="LiveId" clId="{F1A02D38-8ADC-4A75-9B32-68CD144AD12C}" dt="2026-01-27T18:35:29.709" v="83" actId="113"/>
          <ac:spMkLst>
            <pc:docMk/>
            <pc:sldMk cId="2444883795" sldId="269"/>
            <ac:spMk id="2" creationId="{47A8F742-CAC1-4B3B-887B-2653D38B6444}"/>
          </ac:spMkLst>
        </pc:spChg>
      </pc:sldChg>
      <pc:sldChg chg="modSp mod">
        <pc:chgData name="Comfort ANIPA" userId="c4bd65e3adbd3b1a" providerId="LiveId" clId="{F1A02D38-8ADC-4A75-9B32-68CD144AD12C}" dt="2026-01-27T18:51:02.918" v="434" actId="14100"/>
        <pc:sldMkLst>
          <pc:docMk/>
          <pc:sldMk cId="2587044309" sldId="270"/>
        </pc:sldMkLst>
        <pc:spChg chg="mod">
          <ac:chgData name="Comfort ANIPA" userId="c4bd65e3adbd3b1a" providerId="LiveId" clId="{F1A02D38-8ADC-4A75-9B32-68CD144AD12C}" dt="2026-01-27T18:50:49.758" v="433" actId="14100"/>
          <ac:spMkLst>
            <pc:docMk/>
            <pc:sldMk cId="2587044309" sldId="270"/>
            <ac:spMk id="2" creationId="{820CBDF5-B951-49E2-AB52-88FEF0B6BEF8}"/>
          </ac:spMkLst>
        </pc:spChg>
        <pc:spChg chg="mod">
          <ac:chgData name="Comfort ANIPA" userId="c4bd65e3adbd3b1a" providerId="LiveId" clId="{F1A02D38-8ADC-4A75-9B32-68CD144AD12C}" dt="2026-01-27T18:51:02.918" v="434" actId="14100"/>
          <ac:spMkLst>
            <pc:docMk/>
            <pc:sldMk cId="2587044309" sldId="270"/>
            <ac:spMk id="3" creationId="{95365410-A590-42F2-9A2B-910117B7B6AF}"/>
          </ac:spMkLst>
        </pc:spChg>
      </pc:sldChg>
      <pc:sldChg chg="modSp new mod">
        <pc:chgData name="Comfort ANIPA" userId="c4bd65e3adbd3b1a" providerId="LiveId" clId="{F1A02D38-8ADC-4A75-9B32-68CD144AD12C}" dt="2026-01-27T19:01:32.991" v="673" actId="20577"/>
        <pc:sldMkLst>
          <pc:docMk/>
          <pc:sldMk cId="1866551452" sldId="271"/>
        </pc:sldMkLst>
        <pc:spChg chg="mod">
          <ac:chgData name="Comfort ANIPA" userId="c4bd65e3adbd3b1a" providerId="LiveId" clId="{F1A02D38-8ADC-4A75-9B32-68CD144AD12C}" dt="2026-01-27T18:55:21.493" v="451" actId="14100"/>
          <ac:spMkLst>
            <pc:docMk/>
            <pc:sldMk cId="1866551452" sldId="271"/>
            <ac:spMk id="2" creationId="{E6FBAA25-90C3-B010-DBDD-FBC165A72843}"/>
          </ac:spMkLst>
        </pc:spChg>
        <pc:spChg chg="mod">
          <ac:chgData name="Comfort ANIPA" userId="c4bd65e3adbd3b1a" providerId="LiveId" clId="{F1A02D38-8ADC-4A75-9B32-68CD144AD12C}" dt="2026-01-27T19:01:32.991" v="673" actId="20577"/>
          <ac:spMkLst>
            <pc:docMk/>
            <pc:sldMk cId="1866551452" sldId="271"/>
            <ac:spMk id="3" creationId="{A998008F-A5FC-BF88-F090-BA9A1A5D7008}"/>
          </ac:spMkLst>
        </pc:spChg>
      </pc:sldChg>
      <pc:sldChg chg="new del">
        <pc:chgData name="Comfort ANIPA" userId="c4bd65e3adbd3b1a" providerId="LiveId" clId="{F1A02D38-8ADC-4A75-9B32-68CD144AD12C}" dt="2026-01-27T18:54:53.630" v="438" actId="680"/>
        <pc:sldMkLst>
          <pc:docMk/>
          <pc:sldMk cId="1921888005" sldId="271"/>
        </pc:sldMkLst>
      </pc:sldChg>
      <pc:sldChg chg="del ord">
        <pc:chgData name="Comfort ANIPA" userId="c4bd65e3adbd3b1a" providerId="LiveId" clId="{F1A02D38-8ADC-4A75-9B32-68CD144AD12C}" dt="2026-01-27T18:51:21.998" v="435" actId="47"/>
        <pc:sldMkLst>
          <pc:docMk/>
          <pc:sldMk cId="2191642784" sldId="27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3T07:06:1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3T07:06:2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225CE-E080-4E01-BE84-B683A2878D22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58116-87C2-4F27-8712-AC38A5C516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69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658116-87C2-4F27-8712-AC38A5C5161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3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60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17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41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76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1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6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4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6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72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9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77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39FA7-8DC4-4236-9F58-3651C401DA0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854C47C-9F7B-4567-B48A-4F586FAF7D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7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7772400" cy="14477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ADVANCED FINANCIAL REPORTING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48000"/>
            <a:ext cx="6400800" cy="2590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IAS 28 – INVESTMENTS IN ASSOCIATES AND JOINT VENTURES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604" y="304800"/>
            <a:ext cx="8229600" cy="868362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839200" cy="4114800"/>
          </a:xfrm>
        </p:spPr>
        <p:txBody>
          <a:bodyPr>
            <a:normAutofit/>
          </a:bodyPr>
          <a:lstStyle/>
          <a:p>
            <a:r>
              <a:rPr lang="en-US" sz="3200" dirty="0"/>
              <a:t>To explain the objectives and scope of the standards</a:t>
            </a:r>
          </a:p>
          <a:p>
            <a:r>
              <a:rPr lang="en-US" sz="3200" dirty="0"/>
              <a:t>To explain key terms in the standard</a:t>
            </a:r>
          </a:p>
          <a:p>
            <a:r>
              <a:rPr lang="en-US" sz="3200" dirty="0"/>
              <a:t>To explain the provisions of the standard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804520"/>
            <a:ext cx="7481434" cy="1049235"/>
          </a:xfrm>
        </p:spPr>
        <p:txBody>
          <a:bodyPr/>
          <a:lstStyle/>
          <a:p>
            <a:r>
              <a:rPr lang="en-US" b="1" dirty="0"/>
              <a:t>Ias 28 - Objective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47405"/>
            <a:ext cx="8610599" cy="5029199"/>
          </a:xfrm>
        </p:spPr>
        <p:txBody>
          <a:bodyPr>
            <a:noAutofit/>
          </a:bodyPr>
          <a:lstStyle/>
          <a:p>
            <a:r>
              <a:rPr lang="en-US" sz="3200" dirty="0"/>
              <a:t>Prescribes accounting for Associates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outlines the application of equity method when accounting for investments in associates and joint ventures</a:t>
            </a: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200" dirty="0"/>
              <a:t>Applies to investors with joint control or significant influence over an investee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/>
              <a:t>Definition of 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458200" cy="4221163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i="1" dirty="0"/>
              <a:t>Associate</a:t>
            </a:r>
            <a:r>
              <a:rPr lang="en-US" sz="3200" dirty="0"/>
              <a:t> - An entity over which the investor has significant influence.</a:t>
            </a:r>
          </a:p>
          <a:p>
            <a:r>
              <a:rPr lang="en-US" sz="3200" b="1" i="1" dirty="0"/>
              <a:t>Significant influence</a:t>
            </a:r>
            <a:r>
              <a:rPr lang="en-US" sz="3200" b="1" dirty="0"/>
              <a:t>-</a:t>
            </a:r>
            <a:r>
              <a:rPr lang="en-US" sz="3200" dirty="0"/>
              <a:t>Power to participate in financial and operating policy decisions of the Investee but not control or joint control over</a:t>
            </a:r>
          </a:p>
          <a:p>
            <a:pPr>
              <a:buNone/>
            </a:pPr>
            <a:r>
              <a:rPr lang="en-US" sz="3200" dirty="0"/>
              <a:t>	those policies.</a:t>
            </a:r>
          </a:p>
          <a:p>
            <a:r>
              <a:rPr lang="en-US" sz="3200" b="1" i="1" dirty="0"/>
              <a:t>Joint arrangement</a:t>
            </a:r>
            <a:r>
              <a:rPr lang="en-US" sz="3200" b="1" dirty="0"/>
              <a:t>-</a:t>
            </a:r>
            <a:r>
              <a:rPr lang="en-US" sz="3200" dirty="0"/>
              <a:t>Arrangement of which two or more parties have joint control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/>
              <a:t>Definition of 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6781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i="1" dirty="0"/>
              <a:t>Joint control-</a:t>
            </a:r>
            <a:r>
              <a:rPr lang="en-US" sz="3200" dirty="0"/>
              <a:t>The contractually agreed sharing of control of an arrangement – decisions require the unanimous consent of the parties sharing control.</a:t>
            </a:r>
          </a:p>
          <a:p>
            <a:r>
              <a:rPr lang="en-US" sz="3200" b="1" i="1" dirty="0"/>
              <a:t>Joint venture-</a:t>
            </a:r>
            <a:r>
              <a:rPr lang="en-US" sz="3200" dirty="0"/>
              <a:t>A joint arrangement whereby the parties that have joint control of the arrangement have rights to the net assets of the arrangement.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8A7A-9179-4A0F-A84F-983BC25A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867036"/>
            <a:ext cx="7710034" cy="1049235"/>
          </a:xfrm>
        </p:spPr>
        <p:txBody>
          <a:bodyPr/>
          <a:lstStyle/>
          <a:p>
            <a:r>
              <a:rPr lang="en-US" b="1" dirty="0"/>
              <a:t>Definition of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A806D-4EC2-438A-BFCC-8F4E5B774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015733"/>
            <a:ext cx="8762999" cy="3450613"/>
          </a:xfrm>
        </p:spPr>
        <p:txBody>
          <a:bodyPr/>
          <a:lstStyle/>
          <a:p>
            <a:r>
              <a:rPr lang="en-US" sz="3200" b="1" i="1" dirty="0"/>
              <a:t>Equity Method</a:t>
            </a:r>
            <a:r>
              <a:rPr lang="en-US" sz="3200" dirty="0"/>
              <a:t>-initially accounts for investment at cost , then adjusted for investor’s share of post-acquisition profit/loss of the investee.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525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1999"/>
            <a:ext cx="8991600" cy="685801"/>
          </a:xfrm>
        </p:spPr>
        <p:txBody>
          <a:bodyPr>
            <a:normAutofit/>
          </a:bodyPr>
          <a:lstStyle/>
          <a:p>
            <a:r>
              <a:rPr lang="en-US" sz="2800" b="1" dirty="0"/>
              <a:t>Ias 28 - Evidence of Significant influence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8800"/>
            <a:ext cx="8839200" cy="4114800"/>
          </a:xfrm>
        </p:spPr>
        <p:txBody>
          <a:bodyPr>
            <a:normAutofit/>
          </a:bodyPr>
          <a:lstStyle/>
          <a:p>
            <a:r>
              <a:rPr lang="en-US" sz="3200" dirty="0"/>
              <a:t>20%-50%-assumed as significant interest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representation on the board of directors or equivalent governing body of the investee;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participation in the policy-making process, including participation in decisions about dividends or other distributions;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4D5A-7E3C-46C6-AF97-31B09487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990600"/>
            <a:ext cx="9067798" cy="8631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Ias 28 - Evidence of Significant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CF7B0-D9BE-4524-B484-1BBC5F01B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15733"/>
            <a:ext cx="8915399" cy="34506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material transactions between the entity and the investee; interchange of managerial personnel; </a:t>
            </a:r>
          </a:p>
          <a:p>
            <a:r>
              <a:rPr lang="en-US" sz="3200" dirty="0"/>
              <a:t>or provision of essential technical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AA25-90C3-B010-DBDD-FBC165A7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804520"/>
            <a:ext cx="7786234" cy="1049235"/>
          </a:xfrm>
        </p:spPr>
        <p:txBody>
          <a:bodyPr/>
          <a:lstStyle/>
          <a:p>
            <a:r>
              <a:rPr lang="en-US" b="1" dirty="0"/>
              <a:t>reflection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008F-A5FC-BF88-F090-BA9A1A5D7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2133600"/>
            <a:ext cx="7786234" cy="3332746"/>
          </a:xfrm>
        </p:spPr>
        <p:txBody>
          <a:bodyPr>
            <a:normAutofit/>
          </a:bodyPr>
          <a:lstStyle/>
          <a:p>
            <a:pPr algn="just"/>
            <a:r>
              <a:rPr lang="en-US" sz="2800" b="1" i="1" dirty="0"/>
              <a:t>Under </a:t>
            </a:r>
            <a:r>
              <a:rPr lang="en-US" sz="2800" b="1" i="1"/>
              <a:t>what conditions </a:t>
            </a:r>
            <a:r>
              <a:rPr lang="en-US" sz="2800" b="1" i="1" dirty="0"/>
              <a:t>will a parent with significant influence or joint control in an investee be exempted from applying equity accounting.</a:t>
            </a:r>
            <a:endParaRPr lang="en-GB" sz="2800" b="1" i="1" dirty="0"/>
          </a:p>
        </p:txBody>
      </p:sp>
    </p:spTree>
    <p:extLst>
      <p:ext uri="{BB962C8B-B14F-4D97-AF65-F5344CB8AC3E}">
        <p14:creationId xmlns:p14="http://schemas.microsoft.com/office/powerpoint/2010/main" val="1866551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</p:spPr>
        <p:txBody>
          <a:bodyPr/>
          <a:lstStyle/>
          <a:p>
            <a:r>
              <a:rPr lang="en-US" b="1" dirty="0"/>
              <a:t>Ias 28 - Equity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8800"/>
            <a:ext cx="8915400" cy="5715000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The investment is initially </a:t>
            </a:r>
            <a:r>
              <a:rPr lang="en-US" sz="3200" dirty="0" err="1"/>
              <a:t>recognised</a:t>
            </a:r>
            <a:r>
              <a:rPr lang="en-US" sz="3200" dirty="0"/>
              <a:t> at cost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Subsequently, the carrying amount is increased or decreased to recognise the investor’s share of the profit or loss of the investee after the date of acquisition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The investor’s share of the profit or loss of the investee is </a:t>
            </a:r>
            <a:r>
              <a:rPr lang="en-US" sz="3200" dirty="0" err="1"/>
              <a:t>recognised</a:t>
            </a:r>
            <a:r>
              <a:rPr lang="en-US" sz="3200" dirty="0"/>
              <a:t> in the investor’s profit or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F742-CAC1-4B3B-887B-2653D38B6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4520"/>
            <a:ext cx="7633834" cy="1049235"/>
          </a:xfrm>
        </p:spPr>
        <p:txBody>
          <a:bodyPr/>
          <a:lstStyle/>
          <a:p>
            <a:r>
              <a:rPr lang="en-US" b="1" dirty="0"/>
              <a:t>Ias 28 - Equity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B802C-DB9C-4AB5-81E8-4A482B40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53755"/>
            <a:ext cx="8915400" cy="393744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/>
              <a:t>distributions received from an investee reduce the carrying amount of the investment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Shown as a non-current asset in the consolidate statement of financial position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Show group share of profit after tax and OCI included in relevant sections of CSPL and OCI</a:t>
            </a:r>
          </a:p>
        </p:txBody>
      </p:sp>
    </p:spTree>
    <p:extLst>
      <p:ext uri="{BB962C8B-B14F-4D97-AF65-F5344CB8AC3E}">
        <p14:creationId xmlns:p14="http://schemas.microsoft.com/office/powerpoint/2010/main" val="2444883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Ias 28 - Presentation in Consolidated statement of comprehensive income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534400" cy="5562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Sales	(P+S)							xx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Cost of Sales(P+S)					     (xx)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Gross Profit					            xxx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Admin Expenses (P+S)				      (xx)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Selling and distribution				      (xx)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Finance Cost				    		      (xx)</a:t>
            </a:r>
          </a:p>
          <a:p>
            <a:pPr>
              <a:lnSpc>
                <a:spcPct val="100000"/>
              </a:lnSpc>
            </a:pPr>
            <a:r>
              <a:rPr lang="en-US" sz="3200" b="1" i="1" dirty="0">
                <a:highlight>
                  <a:srgbClr val="00FF00"/>
                </a:highlight>
              </a:rPr>
              <a:t>Share of after tax profit of associate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Tax Expenses						       (xx)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Profit for the year					xxx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EA88F43-93B1-EF4C-8CF2-67738374BDCE}"/>
                  </a:ext>
                </a:extLst>
              </p14:cNvPr>
              <p14:cNvContentPartPr/>
              <p14:nvPr/>
            </p14:nvContentPartPr>
            <p14:xfrm>
              <a:off x="6571115" y="861461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EA88F43-93B1-EF4C-8CF2-67738374BD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62115" y="85282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B5E38ED-1A6D-BD68-968E-6C28976B9AB0}"/>
                  </a:ext>
                </a:extLst>
              </p14:cNvPr>
              <p14:cNvContentPartPr/>
              <p14:nvPr/>
            </p14:nvContentPartPr>
            <p14:xfrm>
              <a:off x="5588315" y="5399981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B5E38ED-1A6D-BD68-968E-6C28976B9A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9315" y="539098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763000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Ias 28 - Investment in associate in </a:t>
            </a:r>
            <a:r>
              <a:rPr lang="en-US" b="1" dirty="0" err="1"/>
              <a:t>csfp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Associate is included as non-current asset </a:t>
            </a:r>
          </a:p>
          <a:p>
            <a:pPr>
              <a:lnSpc>
                <a:spcPct val="100000"/>
              </a:lnSpc>
              <a:buNone/>
            </a:pPr>
            <a:r>
              <a:rPr lang="en-US" sz="3200" dirty="0"/>
              <a:t>	computed as follows:</a:t>
            </a:r>
          </a:p>
          <a:p>
            <a:pPr>
              <a:lnSpc>
                <a:spcPct val="100000"/>
              </a:lnSpc>
              <a:buNone/>
            </a:pPr>
            <a:r>
              <a:rPr lang="en-US" dirty="0"/>
              <a:t>		</a:t>
            </a:r>
            <a:r>
              <a:rPr lang="en-US" sz="3200" dirty="0"/>
              <a:t>Cost of investment						xx</a:t>
            </a:r>
          </a:p>
          <a:p>
            <a:pPr>
              <a:lnSpc>
                <a:spcPct val="100000"/>
              </a:lnSpc>
              <a:buNone/>
            </a:pPr>
            <a:r>
              <a:rPr lang="en-US" sz="3200" dirty="0"/>
              <a:t>		Share of post-acquisition profit	          	xx</a:t>
            </a:r>
          </a:p>
          <a:p>
            <a:pPr>
              <a:lnSpc>
                <a:spcPct val="100000"/>
              </a:lnSpc>
              <a:buNone/>
            </a:pPr>
            <a:r>
              <a:rPr lang="en-US" sz="3200" dirty="0"/>
              <a:t>		Less impairment               		          (xx)</a:t>
            </a:r>
          </a:p>
          <a:p>
            <a:pPr>
              <a:lnSpc>
                <a:spcPct val="100000"/>
              </a:lnSpc>
              <a:buNone/>
            </a:pPr>
            <a:r>
              <a:rPr lang="en-US" sz="3200" dirty="0"/>
              <a:t>		Less % PURP(if Parent is seller)         	    (xx)</a:t>
            </a:r>
          </a:p>
          <a:p>
            <a:pPr>
              <a:lnSpc>
                <a:spcPct val="100000"/>
              </a:lnSpc>
              <a:buNone/>
            </a:pPr>
            <a:r>
              <a:rPr lang="en-US" sz="3200" dirty="0"/>
              <a:t>		Less % Additional </a:t>
            </a:r>
            <a:r>
              <a:rPr lang="en-US" sz="3200" dirty="0" err="1"/>
              <a:t>Depn</a:t>
            </a:r>
            <a:r>
              <a:rPr lang="en-US" sz="3200" dirty="0"/>
              <a:t>-FVA		          (xx)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r>
              <a:rPr lang="en-US" b="1" dirty="0"/>
              <a:t>Ias 28 - Points to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62484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Transactions and balances between parent and associate are not eliminated</a:t>
            </a:r>
          </a:p>
          <a:p>
            <a:r>
              <a:rPr lang="en-US" sz="3200" dirty="0"/>
              <a:t>Dividends from associate must be removed from the consolidated statement of profit or loss</a:t>
            </a:r>
          </a:p>
          <a:p>
            <a:r>
              <a:rPr lang="en-US" sz="3200" dirty="0"/>
              <a:t>Group share of </a:t>
            </a:r>
            <a:r>
              <a:rPr lang="en-US" sz="3200" dirty="0" err="1"/>
              <a:t>unrealised</a:t>
            </a:r>
            <a:r>
              <a:rPr lang="en-US" sz="3200" dirty="0"/>
              <a:t> profit must be eliminated(between group and associate)</a:t>
            </a:r>
          </a:p>
          <a:p>
            <a:pPr>
              <a:buNone/>
            </a:pPr>
            <a:r>
              <a:rPr lang="en-US" sz="3200" dirty="0"/>
              <a:t>	---if A sold, Dr. share of associate profit: Cr. Group Inventory</a:t>
            </a:r>
          </a:p>
          <a:p>
            <a:pPr>
              <a:buNone/>
            </a:pPr>
            <a:r>
              <a:rPr lang="en-US" sz="3200" dirty="0"/>
              <a:t>	---If P sold, Dr. COS/G. Retained earnings;  Cr </a:t>
            </a:r>
            <a:r>
              <a:rPr lang="en-US" sz="3200" dirty="0" err="1"/>
              <a:t>Invt</a:t>
            </a:r>
            <a:r>
              <a:rPr lang="en-US" sz="3200" dirty="0"/>
              <a:t> in associate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BDF5-B951-49E2-AB52-88FEF0B6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804520"/>
            <a:ext cx="8077200" cy="587133"/>
          </a:xfrm>
        </p:spPr>
        <p:txBody>
          <a:bodyPr/>
          <a:lstStyle/>
          <a:p>
            <a:r>
              <a:rPr lang="en-US" b="1" dirty="0"/>
              <a:t>DISCLOSURES – Refer to IFRS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5410-A590-42F2-9A2B-910117B7B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904999"/>
            <a:ext cx="7405234" cy="35613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0" i="0" u="none" strike="noStrike" baseline="0" dirty="0">
                <a:latin typeface="Trebuchet MS" panose="020B0603020202020204" pitchFamily="34" charset="0"/>
              </a:rPr>
              <a:t>The disclosure requirements for Investments in Associates and Joint Ventures are provided in IFRS 12 </a:t>
            </a:r>
            <a:r>
              <a:rPr lang="en-US" sz="2800" b="0" i="1" u="none" strike="noStrike" baseline="0" dirty="0">
                <a:latin typeface="Trebuchet MS" panose="020B0603020202020204" pitchFamily="34" charset="0"/>
              </a:rPr>
              <a:t>Disclosure of Interests in Other Entities.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8704430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7118</TotalTime>
  <Words>707</Words>
  <Application>Microsoft Office PowerPoint</Application>
  <PresentationFormat>On-screen Show (4:3)</PresentationFormat>
  <Paragraphs>65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Gill Sans MT</vt:lpstr>
      <vt:lpstr>Trebuchet MS</vt:lpstr>
      <vt:lpstr>Gallery</vt:lpstr>
      <vt:lpstr>ADVANCED FINANCIAL REPORTING </vt:lpstr>
      <vt:lpstr>Learning objectives</vt:lpstr>
      <vt:lpstr>Ias 28 - Objective and Scope</vt:lpstr>
      <vt:lpstr>Definition of Key Terms</vt:lpstr>
      <vt:lpstr>Definition of Key Terms</vt:lpstr>
      <vt:lpstr>Definition of Key Terms</vt:lpstr>
      <vt:lpstr>Ias 28 - Evidence of Significant influence</vt:lpstr>
      <vt:lpstr>Ias 28 - Evidence of Significant Interest</vt:lpstr>
      <vt:lpstr>reflection</vt:lpstr>
      <vt:lpstr>Ias 28 - Equity Method</vt:lpstr>
      <vt:lpstr>Ias 28 - Equity Method</vt:lpstr>
      <vt:lpstr>Ias 28 - Presentation in Consolidated statement of comprehensive income </vt:lpstr>
      <vt:lpstr>Ias 28 - Investment in associate in csfp</vt:lpstr>
      <vt:lpstr>Ias 28 - Points to note</vt:lpstr>
      <vt:lpstr>DISCLOSURES – Refer to IFRS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ACCOUNTING TWO</dc:title>
  <dc:creator>Toshiba</dc:creator>
  <cp:lastModifiedBy>Comfort ANIPA</cp:lastModifiedBy>
  <cp:revision>61</cp:revision>
  <dcterms:created xsi:type="dcterms:W3CDTF">2015-01-27T23:34:51Z</dcterms:created>
  <dcterms:modified xsi:type="dcterms:W3CDTF">2026-01-27T19:01:37Z</dcterms:modified>
</cp:coreProperties>
</file>