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4" d="100"/>
          <a:sy n="64" d="100"/>
        </p:scale>
        <p:origin x="97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7" Type="http://schemas.openxmlformats.org/officeDocument/2006/relationships/tableStyles" Target="tableStyles.xml"/><Relationship Id="rId66" Type="http://schemas.openxmlformats.org/officeDocument/2006/relationships/viewProps" Target="viewProps.xml"/><Relationship Id="rId65" Type="http://schemas.openxmlformats.org/officeDocument/2006/relationships/presProps" Target="presProps.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A069CB8-F204-4D06-B913-C5A26A89888A}"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D30BB376-B19C-488D-ABEB-03C7E6E9E3E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29637A9-119A-49DA-BD12-AAC58B377D80}" type="slidenum">
              <a:rPr lang="en-US" dirty="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486F077B-A50F-4D64-8574-E2D6A98A5553}"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7D9E2A62-1983-43A1-A163-D8AA46534C80}"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898F3E3B-34E3-4345-B2A1-994B83598A9C}" type="datetimeFigureOut">
              <a:rPr lang="en-US" dirty="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D816C96-82A1-4D77-8ADA-627AC6FE3D65}"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D102C1E-28F2-47E9-802D-339E64E2F920}" type="datetimeFigureOut">
              <a:rPr lang="en-US" dirty="0"/>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4271A48-F18A-45B3-BC05-1E27DA3F88AF}" type="datetimeFigureOut">
              <a:rPr lang="en-US" dirty="0"/>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5B747F8-9654-4282-85D2-65F41AAE7A75}"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50B6E300-0A13-4A81-945A-7333C271A069}"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34671962-1EA4-46E7-BCB0-F36CE46D1A59}"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DC5B261-8843-42D1-AAFC-05E20E2D9B97}" type="datetimeFigureOut">
              <a:rPr lang="en-US" dirty="0"/>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dirty="0"/>
              <a:t>AUDIT PLANNING AND DOCUMENTATION</a:t>
            </a:r>
            <a:endParaRPr lang="en-US" dirty="0"/>
          </a:p>
        </p:txBody>
      </p:sp>
      <p:sp>
        <p:nvSpPr>
          <p:cNvPr id="3" name="Subtitle 2"/>
          <p:cNvSpPr>
            <a:spLocks noGrp="1"/>
          </p:cNvSpPr>
          <p:nvPr>
            <p:ph type="subTitle" idx="1"/>
          </p:nvPr>
        </p:nvSpPr>
        <p:spPr/>
        <p:txBody>
          <a:bodyPr/>
          <a:lstStyle/>
          <a:p>
            <a:r>
              <a:rPr lang="en-US" sz="2800" b="1"/>
              <a:t>DR EVANS FRIMPONG-MANSO</a:t>
            </a:r>
            <a:endParaRPr lang="en-US" sz="2800" b="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AUDIT PLANNING</a:t>
            </a:r>
            <a:endParaRPr lang="en-US" dirty="0"/>
          </a:p>
        </p:txBody>
      </p:sp>
      <p:sp>
        <p:nvSpPr>
          <p:cNvPr id="3" name="Content Placeholder 2"/>
          <p:cNvSpPr>
            <a:spLocks noGrp="1"/>
          </p:cNvSpPr>
          <p:nvPr>
            <p:ph idx="1"/>
          </p:nvPr>
        </p:nvSpPr>
        <p:spPr/>
        <p:txBody>
          <a:bodyPr>
            <a:normAutofit fontScale="92500" lnSpcReduction="10000"/>
          </a:bodyPr>
          <a:lstStyle/>
          <a:p>
            <a:r>
              <a:rPr lang="en-US" sz="2800" dirty="0">
                <a:effectLst/>
                <a:latin typeface="Times New Roman" panose="02020603050405020304" pitchFamily="18" charset="0"/>
                <a:ea typeface="Times New Roman" panose="02020603050405020304" pitchFamily="18" charset="0"/>
              </a:rPr>
              <a:t>Audit planning is the process of setting specific guidelines that will help the auditor when conducting an audit. </a:t>
            </a:r>
            <a:endParaRPr lang="en-US" sz="2800" dirty="0">
              <a:effectLst/>
              <a:latin typeface="Times New Roman" panose="02020603050405020304" pitchFamily="18" charset="0"/>
              <a:ea typeface="Times New Roman" panose="02020603050405020304" pitchFamily="18" charset="0"/>
            </a:endParaRPr>
          </a:p>
          <a:p>
            <a:endParaRPr lang="en-US" sz="2800" dirty="0">
              <a:latin typeface="Times New Roman" panose="02020603050405020304" pitchFamily="18" charset="0"/>
              <a:ea typeface="Times New Roman" panose="02020603050405020304" pitchFamily="18" charset="0"/>
            </a:endParaRPr>
          </a:p>
          <a:p>
            <a:r>
              <a:rPr lang="en-US" sz="2800" dirty="0">
                <a:effectLst/>
                <a:latin typeface="Times New Roman" panose="02020603050405020304" pitchFamily="18" charset="0"/>
                <a:ea typeface="Times New Roman" panose="02020603050405020304" pitchFamily="18" charset="0"/>
              </a:rPr>
              <a:t>Audit planning is the formulation of the general strategy for audit which sets the direction for the audit, </a:t>
            </a:r>
            <a:r>
              <a:rPr lang="en-US" sz="2800" dirty="0">
                <a:solidFill>
                  <a:srgbClr val="FF0000"/>
                </a:solidFill>
                <a:effectLst/>
                <a:latin typeface="Times New Roman" panose="02020603050405020304" pitchFamily="18" charset="0"/>
                <a:ea typeface="Times New Roman" panose="02020603050405020304" pitchFamily="18" charset="0"/>
              </a:rPr>
              <a:t>describes the expected scope </a:t>
            </a:r>
            <a:r>
              <a:rPr lang="en-US" sz="2800" dirty="0">
                <a:effectLst/>
                <a:latin typeface="Times New Roman" panose="02020603050405020304" pitchFamily="18" charset="0"/>
                <a:ea typeface="Times New Roman" panose="02020603050405020304" pitchFamily="18" charset="0"/>
              </a:rPr>
              <a:t>and </a:t>
            </a:r>
            <a:r>
              <a:rPr lang="en-US" sz="2800" dirty="0">
                <a:solidFill>
                  <a:srgbClr val="FF0000"/>
                </a:solidFill>
                <a:effectLst/>
                <a:latin typeface="Times New Roman" panose="02020603050405020304" pitchFamily="18" charset="0"/>
                <a:ea typeface="Times New Roman" panose="02020603050405020304" pitchFamily="18" charset="0"/>
              </a:rPr>
              <a:t>conduct of the audit </a:t>
            </a:r>
            <a:r>
              <a:rPr lang="en-US" sz="2800" dirty="0">
                <a:effectLst/>
                <a:latin typeface="Times New Roman" panose="02020603050405020304" pitchFamily="18" charset="0"/>
                <a:ea typeface="Times New Roman" panose="02020603050405020304" pitchFamily="18" charset="0"/>
              </a:rPr>
              <a:t>and provides </a:t>
            </a:r>
            <a:r>
              <a:rPr lang="en-US" sz="2800" dirty="0">
                <a:solidFill>
                  <a:srgbClr val="FF0000"/>
                </a:solidFill>
                <a:effectLst/>
                <a:latin typeface="Times New Roman" panose="02020603050405020304" pitchFamily="18" charset="0"/>
                <a:ea typeface="Times New Roman" panose="02020603050405020304" pitchFamily="18" charset="0"/>
              </a:rPr>
              <a:t>guidance for the development of the audit </a:t>
            </a:r>
            <a:r>
              <a:rPr lang="en-US" sz="2800" dirty="0" err="1">
                <a:solidFill>
                  <a:srgbClr val="FF0000"/>
                </a:solidFill>
                <a:effectLst/>
                <a:latin typeface="Times New Roman" panose="02020603050405020304" pitchFamily="18" charset="0"/>
                <a:ea typeface="Times New Roman" panose="02020603050405020304" pitchFamily="18" charset="0"/>
              </a:rPr>
              <a:t>programme</a:t>
            </a:r>
            <a:r>
              <a:rPr lang="en-US" sz="2800" dirty="0">
                <a:effectLst/>
                <a:latin typeface="Times New Roman" panose="02020603050405020304" pitchFamily="18" charset="0"/>
                <a:ea typeface="Times New Roman" panose="02020603050405020304" pitchFamily="18" charset="0"/>
              </a:rPr>
              <a:t>.</a:t>
            </a:r>
            <a:endParaRPr lang="en-US" sz="2800" dirty="0">
              <a:effectLst/>
              <a:latin typeface="Times New Roman" panose="02020603050405020304" pitchFamily="18" charset="0"/>
              <a:ea typeface="Times New Roman" panose="02020603050405020304" pitchFamily="18" charset="0"/>
            </a:endParaRPr>
          </a:p>
          <a:p>
            <a:endParaRPr lang="en-US" sz="2800" dirty="0">
              <a:effectLst/>
              <a:latin typeface="Times New Roman" panose="02020603050405020304" pitchFamily="18" charset="0"/>
              <a:ea typeface="Times New Roman" panose="02020603050405020304" pitchFamily="18" charset="0"/>
            </a:endParaRPr>
          </a:p>
          <a:p>
            <a:r>
              <a:rPr lang="en-US" sz="2800" dirty="0">
                <a:effectLst/>
                <a:latin typeface="Times New Roman" panose="02020603050405020304" pitchFamily="18" charset="0"/>
                <a:ea typeface="Times New Roman" panose="02020603050405020304" pitchFamily="18" charset="0"/>
              </a:rPr>
              <a:t>The purpose of planning is to ensure that the risk of performing a poor audit is reduced to an acceptable level. </a:t>
            </a:r>
            <a:endParaRPr lang="en-US" sz="2800" dirty="0">
              <a:effectLst/>
              <a:latin typeface="Times New Roman" panose="02020603050405020304" pitchFamily="18" charset="0"/>
              <a:ea typeface="Times New Roman" panose="02020603050405020304" pitchFamily="18" charset="0"/>
            </a:endParaRPr>
          </a:p>
          <a:p>
            <a:endParaRPr lang="en-US" sz="2800" dirty="0">
              <a:latin typeface="Times New Roman" panose="02020603050405020304" pitchFamily="18" charset="0"/>
            </a:endParaRPr>
          </a:p>
          <a:p>
            <a:pPr marL="0" indent="0">
              <a:buNone/>
            </a:pPr>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AUDIT PLANNING CONT’D</a:t>
            </a:r>
            <a:endParaRPr lang="en-US" dirty="0"/>
          </a:p>
        </p:txBody>
      </p:sp>
      <p:sp>
        <p:nvSpPr>
          <p:cNvPr id="3" name="Content Placeholder 2"/>
          <p:cNvSpPr>
            <a:spLocks noGrp="1"/>
          </p:cNvSpPr>
          <p:nvPr>
            <p:ph idx="1"/>
          </p:nvPr>
        </p:nvSpPr>
        <p:spPr/>
        <p:txBody>
          <a:bodyPr/>
          <a:lstStyle/>
          <a:p>
            <a:pPr marL="527685" marR="1209675" algn="just">
              <a:spcBef>
                <a:spcPts val="5"/>
              </a:spcBef>
              <a:spcAft>
                <a:spcPts val="0"/>
              </a:spcAft>
            </a:pPr>
            <a:r>
              <a:rPr lang="en-US" sz="2800" dirty="0">
                <a:effectLst/>
                <a:latin typeface="Times New Roman" panose="02020603050405020304" pitchFamily="18" charset="0"/>
                <a:ea typeface="Times New Roman" panose="02020603050405020304" pitchFamily="18" charset="0"/>
              </a:rPr>
              <a:t>When audit engagements are properly planned, it ensures that the auditor:</a:t>
            </a:r>
            <a:endParaRPr lang="en-US" sz="2800" dirty="0">
              <a:effectLst/>
              <a:latin typeface="Times New Roman" panose="02020603050405020304" pitchFamily="18" charset="0"/>
              <a:ea typeface="Times New Roman" panose="02020603050405020304" pitchFamily="18" charset="0"/>
            </a:endParaRPr>
          </a:p>
          <a:p>
            <a:pPr marL="527685" marR="1209675" algn="just">
              <a:spcBef>
                <a:spcPts val="5"/>
              </a:spcBef>
              <a:spcAft>
                <a:spcPts val="0"/>
              </a:spcAft>
            </a:pPr>
            <a:endParaRPr lang="en-US" sz="2800" dirty="0">
              <a:effectLst/>
              <a:latin typeface="Times New Roman" panose="02020603050405020304" pitchFamily="18" charset="0"/>
              <a:ea typeface="Times New Roman" panose="02020603050405020304" pitchFamily="18" charset="0"/>
            </a:endParaRPr>
          </a:p>
          <a:p>
            <a:pPr marL="1143000" lvl="2" indent="-228600">
              <a:lnSpc>
                <a:spcPts val="1375"/>
              </a:lnSpc>
              <a:buSzPts val="1200"/>
              <a:buFont typeface="Times New Roman" panose="02020603050405020304" pitchFamily="18" charset="0"/>
              <a:buAutoNum type="arabicPeriod"/>
              <a:tabLst>
                <a:tab pos="985520" algn="l"/>
              </a:tabLst>
            </a:pPr>
            <a:r>
              <a:rPr lang="en-US" sz="2800" spc="-10" dirty="0">
                <a:effectLst/>
                <a:latin typeface="Times New Roman" panose="02020603050405020304" pitchFamily="18" charset="0"/>
                <a:ea typeface="Times New Roman" panose="02020603050405020304" pitchFamily="18" charset="0"/>
              </a:rPr>
              <a:t>Devotes special attention to specific areas of the</a:t>
            </a:r>
            <a:r>
              <a:rPr lang="en-US" sz="2800" spc="-25" dirty="0">
                <a:effectLst/>
                <a:latin typeface="Times New Roman" panose="02020603050405020304" pitchFamily="18" charset="0"/>
                <a:ea typeface="Times New Roman" panose="02020603050405020304" pitchFamily="18" charset="0"/>
              </a:rPr>
              <a:t> </a:t>
            </a:r>
            <a:r>
              <a:rPr lang="en-US" sz="2800" spc="-10" dirty="0">
                <a:effectLst/>
                <a:latin typeface="Times New Roman" panose="02020603050405020304" pitchFamily="18" charset="0"/>
                <a:ea typeface="Times New Roman" panose="02020603050405020304" pitchFamily="18" charset="0"/>
              </a:rPr>
              <a:t>audit.</a:t>
            </a:r>
            <a:endParaRPr lang="en-US" sz="2800" spc="-10" dirty="0">
              <a:effectLst/>
              <a:latin typeface="Times New Roman" panose="02020603050405020304" pitchFamily="18" charset="0"/>
              <a:ea typeface="Times New Roman" panose="02020603050405020304" pitchFamily="18" charset="0"/>
            </a:endParaRPr>
          </a:p>
          <a:p>
            <a:pPr marL="1143000" lvl="2" indent="-228600">
              <a:buSzPts val="1200"/>
              <a:buFont typeface="Times New Roman" panose="02020603050405020304" pitchFamily="18" charset="0"/>
              <a:buAutoNum type="arabicPeriod"/>
              <a:tabLst>
                <a:tab pos="985520" algn="l"/>
              </a:tabLst>
            </a:pPr>
            <a:r>
              <a:rPr lang="en-US" sz="2800" spc="-10" dirty="0">
                <a:effectLst/>
                <a:latin typeface="Times New Roman" panose="02020603050405020304" pitchFamily="18" charset="0"/>
                <a:ea typeface="Times New Roman" panose="02020603050405020304" pitchFamily="18" charset="0"/>
              </a:rPr>
              <a:t>Identifies and resolve potential</a:t>
            </a:r>
            <a:r>
              <a:rPr lang="en-US" sz="2800" spc="-5" dirty="0">
                <a:effectLst/>
                <a:latin typeface="Times New Roman" panose="02020603050405020304" pitchFamily="18" charset="0"/>
                <a:ea typeface="Times New Roman" panose="02020603050405020304" pitchFamily="18" charset="0"/>
              </a:rPr>
              <a:t> </a:t>
            </a:r>
            <a:r>
              <a:rPr lang="en-US" sz="2800" spc="-10" dirty="0">
                <a:effectLst/>
                <a:latin typeface="Times New Roman" panose="02020603050405020304" pitchFamily="18" charset="0"/>
                <a:ea typeface="Times New Roman" panose="02020603050405020304" pitchFamily="18" charset="0"/>
              </a:rPr>
              <a:t>problems.</a:t>
            </a:r>
            <a:endParaRPr lang="en-US" sz="2800" spc="-10" dirty="0">
              <a:effectLst/>
              <a:latin typeface="Times New Roman" panose="02020603050405020304" pitchFamily="18" charset="0"/>
              <a:ea typeface="Times New Roman" panose="02020603050405020304" pitchFamily="18" charset="0"/>
            </a:endParaRPr>
          </a:p>
          <a:p>
            <a:pPr marL="1143000" lvl="2" indent="-228600">
              <a:buSzPts val="1200"/>
              <a:buFont typeface="Times New Roman" panose="02020603050405020304" pitchFamily="18" charset="0"/>
              <a:buAutoNum type="arabicPeriod"/>
              <a:tabLst>
                <a:tab pos="985520" algn="l"/>
              </a:tabLst>
            </a:pPr>
            <a:r>
              <a:rPr lang="en-US" sz="2800" spc="-10" dirty="0">
                <a:effectLst/>
                <a:latin typeface="Times New Roman" panose="02020603050405020304" pitchFamily="18" charset="0"/>
                <a:ea typeface="Times New Roman" panose="02020603050405020304" pitchFamily="18" charset="0"/>
              </a:rPr>
              <a:t>Select team members with appropriate</a:t>
            </a:r>
            <a:r>
              <a:rPr lang="en-US" sz="2800" spc="-15" dirty="0">
                <a:effectLst/>
                <a:latin typeface="Times New Roman" panose="02020603050405020304" pitchFamily="18" charset="0"/>
                <a:ea typeface="Times New Roman" panose="02020603050405020304" pitchFamily="18" charset="0"/>
              </a:rPr>
              <a:t> </a:t>
            </a:r>
            <a:r>
              <a:rPr lang="en-US" sz="2800" spc="-10" dirty="0">
                <a:effectLst/>
                <a:latin typeface="Times New Roman" panose="02020603050405020304" pitchFamily="18" charset="0"/>
                <a:ea typeface="Times New Roman" panose="02020603050405020304" pitchFamily="18" charset="0"/>
              </a:rPr>
              <a:t>capabilities.</a:t>
            </a:r>
            <a:endParaRPr lang="en-US" sz="2800" spc="-10" dirty="0">
              <a:effectLst/>
              <a:latin typeface="Times New Roman" panose="02020603050405020304" pitchFamily="18" charset="0"/>
              <a:ea typeface="Times New Roman" panose="02020603050405020304" pitchFamily="18" charset="0"/>
            </a:endParaRPr>
          </a:p>
          <a:p>
            <a:pPr marL="1143000" lvl="2" indent="-228600">
              <a:spcBef>
                <a:spcPts val="5"/>
              </a:spcBef>
              <a:buSzPts val="1200"/>
              <a:buFont typeface="Times New Roman" panose="02020603050405020304" pitchFamily="18" charset="0"/>
              <a:buAutoNum type="arabicPeriod"/>
              <a:tabLst>
                <a:tab pos="985520" algn="l"/>
              </a:tabLst>
            </a:pPr>
            <a:r>
              <a:rPr lang="en-US" sz="2800" spc="-10" dirty="0">
                <a:effectLst/>
                <a:latin typeface="Times New Roman" panose="02020603050405020304" pitchFamily="18" charset="0"/>
                <a:ea typeface="Times New Roman" panose="02020603050405020304" pitchFamily="18" charset="0"/>
              </a:rPr>
              <a:t>Ensures that the audit is done in an effective and efficient</a:t>
            </a:r>
            <a:r>
              <a:rPr lang="en-US" sz="2800" spc="-35" dirty="0">
                <a:effectLst/>
                <a:latin typeface="Times New Roman" panose="02020603050405020304" pitchFamily="18" charset="0"/>
                <a:ea typeface="Times New Roman" panose="02020603050405020304" pitchFamily="18" charset="0"/>
              </a:rPr>
              <a:t> </a:t>
            </a:r>
            <a:r>
              <a:rPr lang="en-US" sz="2800" spc="-10" dirty="0">
                <a:effectLst/>
                <a:latin typeface="Times New Roman" panose="02020603050405020304" pitchFamily="18" charset="0"/>
                <a:ea typeface="Times New Roman" panose="02020603050405020304" pitchFamily="18" charset="0"/>
              </a:rPr>
              <a:t>manner.</a:t>
            </a:r>
            <a:endParaRPr lang="en-US" sz="2800" spc="-10" dirty="0">
              <a:effectLst/>
              <a:latin typeface="Times New Roman" panose="02020603050405020304" pitchFamily="18" charset="0"/>
              <a:ea typeface="Times New Roman" panose="02020603050405020304" pitchFamily="18" charset="0"/>
            </a:endParaRP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dirty="0">
                <a:effectLst/>
                <a:latin typeface="Times New Roman" panose="02020603050405020304" pitchFamily="18" charset="0"/>
                <a:ea typeface="Times New Roman" panose="02020603050405020304" pitchFamily="18" charset="0"/>
              </a:rPr>
              <a:t>The planning process</a:t>
            </a:r>
            <a:endParaRPr lang="en-US" sz="4000" dirty="0"/>
          </a:p>
        </p:txBody>
      </p:sp>
      <p:sp>
        <p:nvSpPr>
          <p:cNvPr id="3" name="Content Placeholder 2"/>
          <p:cNvSpPr>
            <a:spLocks noGrp="1"/>
          </p:cNvSpPr>
          <p:nvPr>
            <p:ph idx="1"/>
          </p:nvPr>
        </p:nvSpPr>
        <p:spPr/>
        <p:txBody>
          <a:bodyPr/>
          <a:lstStyle/>
          <a:p>
            <a:pPr marL="528320">
              <a:lnSpc>
                <a:spcPts val="1380"/>
              </a:lnSpc>
            </a:pPr>
            <a:r>
              <a:rPr lang="en-US" sz="1800" dirty="0">
                <a:effectLst/>
                <a:latin typeface="Times New Roman" panose="02020603050405020304" pitchFamily="18"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342900" lvl="0" indent="-342900">
              <a:lnSpc>
                <a:spcPts val="1470"/>
              </a:lnSpc>
              <a:buSzPts val="1200"/>
              <a:buFont typeface="Symbol" panose="05050102010706020507" pitchFamily="18" charset="2"/>
              <a:buChar char=""/>
              <a:tabLst>
                <a:tab pos="984885" algn="l"/>
                <a:tab pos="98552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Evaluating compliance with ethical</a:t>
            </a:r>
            <a:r>
              <a:rPr lang="en-US" sz="2800" spc="-15" dirty="0">
                <a:effectLst/>
                <a:latin typeface="Times New Roman" panose="02020603050405020304" pitchFamily="18" charset="0"/>
                <a:ea typeface="Symbol" panose="05050102010706020507" pitchFamily="18" charset="2"/>
                <a:cs typeface="Symbol" panose="05050102010706020507" pitchFamily="18" charset="2"/>
              </a:rPr>
              <a:t> </a:t>
            </a:r>
            <a:r>
              <a:rPr lang="en-US" sz="2800" dirty="0">
                <a:effectLst/>
                <a:latin typeface="Times New Roman" panose="02020603050405020304" pitchFamily="18" charset="0"/>
                <a:ea typeface="Symbol" panose="05050102010706020507" pitchFamily="18" charset="2"/>
                <a:cs typeface="Symbol" panose="05050102010706020507" pitchFamily="18" charset="2"/>
              </a:rPr>
              <a:t>requirements.</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lnSpc>
                <a:spcPts val="1465"/>
              </a:lnSpc>
              <a:buSzPts val="1200"/>
              <a:buFont typeface="Symbol" panose="05050102010706020507" pitchFamily="18" charset="2"/>
              <a:buChar char=""/>
              <a:tabLst>
                <a:tab pos="984885" algn="l"/>
                <a:tab pos="98552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Establishing the terms of the</a:t>
            </a:r>
            <a:r>
              <a:rPr lang="en-US" sz="2800" spc="-20" dirty="0">
                <a:effectLst/>
                <a:latin typeface="Times New Roman" panose="02020603050405020304" pitchFamily="18" charset="0"/>
                <a:ea typeface="Symbol" panose="05050102010706020507" pitchFamily="18" charset="2"/>
                <a:cs typeface="Symbol" panose="05050102010706020507" pitchFamily="18" charset="2"/>
              </a:rPr>
              <a:t> </a:t>
            </a:r>
            <a:r>
              <a:rPr lang="en-US" sz="2800" dirty="0">
                <a:effectLst/>
                <a:latin typeface="Times New Roman" panose="02020603050405020304" pitchFamily="18" charset="0"/>
                <a:ea typeface="Symbol" panose="05050102010706020507" pitchFamily="18" charset="2"/>
                <a:cs typeface="Symbol" panose="05050102010706020507" pitchFamily="18" charset="2"/>
              </a:rPr>
              <a:t>engagement.</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lnSpc>
                <a:spcPts val="1465"/>
              </a:lnSpc>
              <a:buSzPts val="1200"/>
              <a:buFont typeface="Symbol" panose="05050102010706020507" pitchFamily="18" charset="2"/>
              <a:buChar char=""/>
              <a:tabLst>
                <a:tab pos="984885" algn="l"/>
                <a:tab pos="98552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Developing audit</a:t>
            </a:r>
            <a:r>
              <a:rPr lang="en-US" sz="2800" spc="-15" dirty="0">
                <a:effectLst/>
                <a:latin typeface="Times New Roman" panose="02020603050405020304" pitchFamily="18" charset="0"/>
                <a:ea typeface="Symbol" panose="05050102010706020507" pitchFamily="18" charset="2"/>
                <a:cs typeface="Symbol" panose="05050102010706020507" pitchFamily="18" charset="2"/>
              </a:rPr>
              <a:t> </a:t>
            </a:r>
            <a:r>
              <a:rPr lang="en-US" sz="2800" dirty="0">
                <a:effectLst/>
                <a:latin typeface="Times New Roman" panose="02020603050405020304" pitchFamily="18" charset="0"/>
                <a:ea typeface="Symbol" panose="05050102010706020507" pitchFamily="18" charset="2"/>
                <a:cs typeface="Symbol" panose="05050102010706020507" pitchFamily="18" charset="2"/>
              </a:rPr>
              <a:t>strategy</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a:spcBef>
                <a:spcPts val="55"/>
              </a:spcBef>
            </a:pPr>
            <a:r>
              <a:rPr lang="en-US" sz="2800" dirty="0">
                <a:effectLst/>
                <a:latin typeface="Times New Roman" panose="02020603050405020304" pitchFamily="18" charset="0"/>
                <a:ea typeface="Times New Roman" panose="02020603050405020304" pitchFamily="18" charset="0"/>
              </a:rPr>
              <a:t> </a:t>
            </a:r>
            <a:endParaRPr lang="en-US" sz="2800" dirty="0">
              <a:effectLst/>
              <a:latin typeface="Times New Roman" panose="02020603050405020304" pitchFamily="18" charset="0"/>
              <a:ea typeface="Times New Roman" panose="02020603050405020304" pitchFamily="18" charset="0"/>
            </a:endParaRPr>
          </a:p>
          <a:p>
            <a:pPr marL="527685" marR="1209675" algn="just">
              <a:spcAft>
                <a:spcPts val="0"/>
              </a:spcAft>
            </a:pPr>
            <a:r>
              <a:rPr lang="en-US" sz="2800" dirty="0">
                <a:effectLst/>
                <a:latin typeface="Times New Roman" panose="02020603050405020304" pitchFamily="18" charset="0"/>
                <a:ea typeface="Times New Roman" panose="02020603050405020304" pitchFamily="18" charset="0"/>
              </a:rPr>
              <a:t>Developing an audit plan: it includes the nature, extent and timing of the audit as well as further audit procedures that needs to be carried out over the course of the</a:t>
            </a:r>
            <a:r>
              <a:rPr lang="en-US" sz="2800" spc="-65"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audit</a:t>
            </a:r>
            <a:endParaRPr lang="en-US" sz="2800" dirty="0">
              <a:effectLst/>
              <a:latin typeface="Times New Roman" panose="02020603050405020304" pitchFamily="18" charset="0"/>
              <a:ea typeface="Times New Roman" panose="02020603050405020304" pitchFamily="18" charset="0"/>
            </a:endParaRPr>
          </a:p>
          <a:p>
            <a:r>
              <a:rPr lang="en-US" sz="2800" dirty="0">
                <a:effectLst/>
                <a:latin typeface="Times New Roman" panose="02020603050405020304" pitchFamily="18" charset="0"/>
                <a:ea typeface="Times New Roman" panose="02020603050405020304" pitchFamily="18" charset="0"/>
              </a:rPr>
              <a:t> </a:t>
            </a:r>
            <a:endParaRPr lang="en-US" sz="2800" dirty="0">
              <a:effectLst/>
              <a:latin typeface="Times New Roman" panose="02020603050405020304" pitchFamily="18" charset="0"/>
              <a:ea typeface="Times New Roman" panose="02020603050405020304" pitchFamily="18" charset="0"/>
            </a:endParaRP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b="1" spc="-5" dirty="0">
                <a:effectLst/>
                <a:latin typeface="Times New Roman" panose="02020603050405020304" pitchFamily="18" charset="0"/>
                <a:ea typeface="Times New Roman" panose="02020603050405020304" pitchFamily="18" charset="0"/>
              </a:rPr>
              <a:t>Merits of adequate planning of audit</a:t>
            </a:r>
            <a:r>
              <a:rPr lang="en-US" sz="4000" b="1" spc="-15" dirty="0">
                <a:effectLst/>
                <a:latin typeface="Times New Roman" panose="02020603050405020304" pitchFamily="18" charset="0"/>
                <a:ea typeface="Times New Roman" panose="02020603050405020304" pitchFamily="18" charset="0"/>
              </a:rPr>
              <a:t> </a:t>
            </a:r>
            <a:r>
              <a:rPr lang="en-US" sz="4000" b="1" spc="-5" dirty="0">
                <a:effectLst/>
                <a:latin typeface="Times New Roman" panose="02020603050405020304" pitchFamily="18" charset="0"/>
                <a:ea typeface="Times New Roman" panose="02020603050405020304" pitchFamily="18" charset="0"/>
              </a:rPr>
              <a:t>work</a:t>
            </a:r>
            <a:br>
              <a:rPr lang="en-US" sz="4000" b="1" spc="-5" dirty="0">
                <a:effectLst/>
                <a:latin typeface="Times New Roman" panose="02020603050405020304" pitchFamily="18" charset="0"/>
                <a:ea typeface="Times New Roman" panose="02020603050405020304" pitchFamily="18" charset="0"/>
              </a:rPr>
            </a:br>
            <a:endParaRPr lang="en-US" sz="4000" dirty="0"/>
          </a:p>
        </p:txBody>
      </p:sp>
      <p:sp>
        <p:nvSpPr>
          <p:cNvPr id="3" name="Content Placeholder 2"/>
          <p:cNvSpPr>
            <a:spLocks noGrp="1"/>
          </p:cNvSpPr>
          <p:nvPr>
            <p:ph idx="1"/>
          </p:nvPr>
        </p:nvSpPr>
        <p:spPr>
          <a:xfrm>
            <a:off x="238539" y="1845733"/>
            <a:ext cx="11728173" cy="4329779"/>
          </a:xfrm>
        </p:spPr>
        <p:txBody>
          <a:bodyPr>
            <a:normAutofit fontScale="92500" lnSpcReduction="10000"/>
          </a:bodyPr>
          <a:lstStyle/>
          <a:p>
            <a:pPr marL="436245" indent="0">
              <a:buNone/>
            </a:pPr>
            <a:r>
              <a:rPr lang="en-US" sz="2800" dirty="0">
                <a:effectLst/>
                <a:latin typeface="Times New Roman" panose="02020603050405020304" pitchFamily="18" charset="0"/>
                <a:ea typeface="Times New Roman" panose="02020603050405020304" pitchFamily="18" charset="0"/>
              </a:rPr>
              <a:t>Adequate planning of audit work aims at:</a:t>
            </a:r>
            <a:endParaRPr lang="en-US" sz="2800" dirty="0">
              <a:effectLst/>
              <a:latin typeface="Times New Roman" panose="02020603050405020304" pitchFamily="18" charset="0"/>
              <a:ea typeface="Times New Roman" panose="02020603050405020304" pitchFamily="18" charset="0"/>
            </a:endParaRPr>
          </a:p>
          <a:p>
            <a:pPr marL="1600200" lvl="3" indent="-228600">
              <a:buSzPts val="1200"/>
              <a:buFont typeface="Times New Roman" panose="02020603050405020304" pitchFamily="18" charset="0"/>
              <a:buAutoNum type="alphaLcPeriod"/>
              <a:tabLst>
                <a:tab pos="1442085" algn="l"/>
                <a:tab pos="1442720" algn="l"/>
              </a:tabLst>
            </a:pPr>
            <a:r>
              <a:rPr lang="en-US" sz="2800" spc="-10" dirty="0">
                <a:effectLst/>
                <a:latin typeface="Times New Roman" panose="02020603050405020304" pitchFamily="18" charset="0"/>
                <a:ea typeface="Times New Roman" panose="02020603050405020304" pitchFamily="18" charset="0"/>
              </a:rPr>
              <a:t>establishing the intended means of achieving the objectives of the</a:t>
            </a:r>
            <a:r>
              <a:rPr lang="en-US" sz="2800" spc="-55" dirty="0">
                <a:effectLst/>
                <a:latin typeface="Times New Roman" panose="02020603050405020304" pitchFamily="18" charset="0"/>
                <a:ea typeface="Times New Roman" panose="02020603050405020304" pitchFamily="18" charset="0"/>
              </a:rPr>
              <a:t> </a:t>
            </a:r>
            <a:r>
              <a:rPr lang="en-US" sz="2800" spc="-10" dirty="0">
                <a:effectLst/>
                <a:latin typeface="Times New Roman" panose="02020603050405020304" pitchFamily="18" charset="0"/>
                <a:ea typeface="Times New Roman" panose="02020603050405020304" pitchFamily="18" charset="0"/>
              </a:rPr>
              <a:t>audit</a:t>
            </a:r>
            <a:endParaRPr lang="en-US" sz="2800" spc="-10" dirty="0">
              <a:effectLst/>
              <a:latin typeface="Times New Roman" panose="02020603050405020304" pitchFamily="18" charset="0"/>
              <a:ea typeface="Times New Roman" panose="02020603050405020304" pitchFamily="18" charset="0"/>
            </a:endParaRPr>
          </a:p>
          <a:p>
            <a:r>
              <a:rPr lang="en-US" sz="2800" dirty="0">
                <a:effectLst/>
                <a:latin typeface="Times New Roman" panose="02020603050405020304" pitchFamily="18" charset="0"/>
                <a:ea typeface="Times New Roman" panose="02020603050405020304" pitchFamily="18" charset="0"/>
              </a:rPr>
              <a:t> </a:t>
            </a:r>
            <a:endParaRPr lang="en-US" sz="2800" dirty="0">
              <a:effectLst/>
              <a:latin typeface="Times New Roman" panose="02020603050405020304" pitchFamily="18" charset="0"/>
              <a:ea typeface="Times New Roman" panose="02020603050405020304" pitchFamily="18" charset="0"/>
            </a:endParaRPr>
          </a:p>
          <a:p>
            <a:pPr marL="1600200" lvl="3" indent="-228600">
              <a:buSzPts val="1200"/>
              <a:buFont typeface="Times New Roman" panose="02020603050405020304" pitchFamily="18" charset="0"/>
              <a:buAutoNum type="alphaLcPeriod"/>
              <a:tabLst>
                <a:tab pos="1442085" algn="l"/>
                <a:tab pos="1442720" algn="l"/>
              </a:tabLst>
            </a:pPr>
            <a:r>
              <a:rPr lang="en-US" sz="2800" spc="-10" dirty="0">
                <a:effectLst/>
                <a:latin typeface="Times New Roman" panose="02020603050405020304" pitchFamily="18" charset="0"/>
                <a:ea typeface="Times New Roman" panose="02020603050405020304" pitchFamily="18" charset="0"/>
              </a:rPr>
              <a:t>assisting in the direction and control of the</a:t>
            </a:r>
            <a:r>
              <a:rPr lang="en-US" sz="2800" spc="-20" dirty="0">
                <a:effectLst/>
                <a:latin typeface="Times New Roman" panose="02020603050405020304" pitchFamily="18" charset="0"/>
                <a:ea typeface="Times New Roman" panose="02020603050405020304" pitchFamily="18" charset="0"/>
              </a:rPr>
              <a:t> </a:t>
            </a:r>
            <a:r>
              <a:rPr lang="en-US" sz="2800" spc="-10" dirty="0">
                <a:effectLst/>
                <a:latin typeface="Times New Roman" panose="02020603050405020304" pitchFamily="18" charset="0"/>
                <a:ea typeface="Times New Roman" panose="02020603050405020304" pitchFamily="18" charset="0"/>
              </a:rPr>
              <a:t>work</a:t>
            </a:r>
            <a:endParaRPr lang="en-US" sz="2800" spc="-10" dirty="0">
              <a:effectLst/>
              <a:latin typeface="Times New Roman" panose="02020603050405020304" pitchFamily="18" charset="0"/>
              <a:ea typeface="Times New Roman" panose="02020603050405020304" pitchFamily="18" charset="0"/>
            </a:endParaRPr>
          </a:p>
          <a:p>
            <a:r>
              <a:rPr lang="en-US" sz="2800" dirty="0">
                <a:effectLst/>
                <a:latin typeface="Times New Roman" panose="02020603050405020304" pitchFamily="18" charset="0"/>
                <a:ea typeface="Times New Roman" panose="02020603050405020304" pitchFamily="18" charset="0"/>
              </a:rPr>
              <a:t> </a:t>
            </a:r>
            <a:endParaRPr lang="en-US" sz="2800" dirty="0">
              <a:effectLst/>
              <a:latin typeface="Times New Roman" panose="02020603050405020304" pitchFamily="18" charset="0"/>
              <a:ea typeface="Times New Roman" panose="02020603050405020304" pitchFamily="18" charset="0"/>
            </a:endParaRPr>
          </a:p>
          <a:p>
            <a:pPr marL="1600200" marR="1209675" lvl="3" indent="-228600" algn="just">
              <a:spcAft>
                <a:spcPts val="0"/>
              </a:spcAft>
              <a:buSzPts val="1200"/>
              <a:buFont typeface="Times New Roman" panose="02020603050405020304" pitchFamily="18" charset="0"/>
              <a:buAutoNum type="alphaLcPeriod"/>
              <a:tabLst>
                <a:tab pos="1442720" algn="l"/>
              </a:tabLst>
            </a:pPr>
            <a:r>
              <a:rPr lang="en-US" sz="2800" spc="-10" dirty="0">
                <a:effectLst/>
                <a:latin typeface="Times New Roman" panose="02020603050405020304" pitchFamily="18" charset="0"/>
                <a:ea typeface="Times New Roman" panose="02020603050405020304" pitchFamily="18" charset="0"/>
              </a:rPr>
              <a:t>helping to ensure that appropriate attention is devoted to important areas of the audit, that potential problems are identified and resolved on a timely basis and that the audit engagement is properly organized and managed in order to be performed in an effective and efficient</a:t>
            </a:r>
            <a:r>
              <a:rPr lang="en-US" sz="2800" spc="-85" dirty="0">
                <a:effectLst/>
                <a:latin typeface="Times New Roman" panose="02020603050405020304" pitchFamily="18" charset="0"/>
                <a:ea typeface="Times New Roman" panose="02020603050405020304" pitchFamily="18" charset="0"/>
              </a:rPr>
              <a:t> </a:t>
            </a:r>
            <a:r>
              <a:rPr lang="en-US" sz="2800" spc="-10" dirty="0">
                <a:effectLst/>
                <a:latin typeface="Times New Roman" panose="02020603050405020304" pitchFamily="18" charset="0"/>
                <a:ea typeface="Times New Roman" panose="02020603050405020304" pitchFamily="18" charset="0"/>
              </a:rPr>
              <a:t>manner.</a:t>
            </a:r>
            <a:endParaRPr lang="en-US" sz="2800" spc="-10" dirty="0">
              <a:effectLst/>
              <a:latin typeface="Times New Roman" panose="02020603050405020304" pitchFamily="18" charset="0"/>
              <a:ea typeface="Times New Roman" panose="02020603050405020304" pitchFamily="18" charset="0"/>
            </a:endParaRPr>
          </a:p>
          <a:p>
            <a:r>
              <a:rPr lang="en-US" sz="2800" dirty="0">
                <a:effectLst/>
                <a:latin typeface="Times New Roman" panose="02020603050405020304" pitchFamily="18" charset="0"/>
                <a:ea typeface="Times New Roman" panose="02020603050405020304" pitchFamily="18" charset="0"/>
              </a:rPr>
              <a:t> </a:t>
            </a:r>
            <a:endParaRPr lang="en-US" sz="2800" dirty="0">
              <a:effectLst/>
              <a:latin typeface="Times New Roman" panose="02020603050405020304" pitchFamily="18" charset="0"/>
              <a:ea typeface="Times New Roman" panose="02020603050405020304" pitchFamily="18" charset="0"/>
            </a:endParaRPr>
          </a:p>
          <a:p>
            <a:endParaRPr lang="en-US"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800" b="1" spc="-5" dirty="0">
                <a:effectLst/>
                <a:latin typeface="Times New Roman" panose="02020603050405020304" pitchFamily="18" charset="0"/>
                <a:ea typeface="Times New Roman" panose="02020603050405020304" pitchFamily="18" charset="0"/>
              </a:rPr>
              <a:t>Merits of adequate planning of audit</a:t>
            </a:r>
            <a:r>
              <a:rPr lang="en-US" sz="4800" b="1" spc="-15" dirty="0">
                <a:effectLst/>
                <a:latin typeface="Times New Roman" panose="02020603050405020304" pitchFamily="18" charset="0"/>
                <a:ea typeface="Times New Roman" panose="02020603050405020304" pitchFamily="18" charset="0"/>
              </a:rPr>
              <a:t> </a:t>
            </a:r>
            <a:r>
              <a:rPr lang="en-US" sz="4800" b="1" spc="-5" dirty="0">
                <a:effectLst/>
                <a:latin typeface="Times New Roman" panose="02020603050405020304" pitchFamily="18" charset="0"/>
                <a:ea typeface="Times New Roman" panose="02020603050405020304" pitchFamily="18" charset="0"/>
              </a:rPr>
              <a:t>work</a:t>
            </a:r>
            <a:br>
              <a:rPr lang="en-US" sz="4800" b="1" spc="-5" dirty="0">
                <a:effectLst/>
                <a:latin typeface="Times New Roman" panose="02020603050405020304" pitchFamily="18" charset="0"/>
                <a:ea typeface="Times New Roman" panose="02020603050405020304" pitchFamily="18" charset="0"/>
              </a:rPr>
            </a:br>
            <a:r>
              <a:rPr lang="en-US" sz="4800" b="1" spc="-5" dirty="0">
                <a:effectLst/>
                <a:latin typeface="Times New Roman" panose="02020603050405020304" pitchFamily="18" charset="0"/>
                <a:ea typeface="Times New Roman" panose="02020603050405020304" pitchFamily="18" charset="0"/>
              </a:rPr>
              <a:t>cont’d</a:t>
            </a:r>
            <a:endParaRPr lang="en-US" dirty="0"/>
          </a:p>
        </p:txBody>
      </p:sp>
      <p:sp>
        <p:nvSpPr>
          <p:cNvPr id="3" name="Content Placeholder 2"/>
          <p:cNvSpPr>
            <a:spLocks noGrp="1"/>
          </p:cNvSpPr>
          <p:nvPr>
            <p:ph idx="1"/>
          </p:nvPr>
        </p:nvSpPr>
        <p:spPr>
          <a:xfrm>
            <a:off x="172278" y="1845734"/>
            <a:ext cx="12019722" cy="4023360"/>
          </a:xfrm>
        </p:spPr>
        <p:txBody>
          <a:bodyPr>
            <a:normAutofit/>
          </a:bodyPr>
          <a:lstStyle/>
          <a:p>
            <a:pPr>
              <a:buFont typeface="Arial" panose="020B0604020202020204" pitchFamily="34" charset="0"/>
              <a:buChar char="•"/>
            </a:pPr>
            <a:r>
              <a:rPr lang="en-US" sz="2800" spc="-10" dirty="0">
                <a:effectLst/>
                <a:latin typeface="Times New Roman" panose="02020603050405020304" pitchFamily="18" charset="0"/>
                <a:ea typeface="Times New Roman" panose="02020603050405020304" pitchFamily="18" charset="0"/>
              </a:rPr>
              <a:t>ensuring that the work is completed</a:t>
            </a:r>
            <a:r>
              <a:rPr lang="en-US" sz="2800" spc="-30" dirty="0">
                <a:effectLst/>
                <a:latin typeface="Times New Roman" panose="02020603050405020304" pitchFamily="18" charset="0"/>
                <a:ea typeface="Times New Roman" panose="02020603050405020304" pitchFamily="18" charset="0"/>
              </a:rPr>
              <a:t> </a:t>
            </a:r>
            <a:r>
              <a:rPr lang="en-US" sz="2800" spc="-10" dirty="0">
                <a:effectLst/>
                <a:latin typeface="Times New Roman" panose="02020603050405020304" pitchFamily="18" charset="0"/>
                <a:ea typeface="Times New Roman" panose="02020603050405020304" pitchFamily="18" charset="0"/>
              </a:rPr>
              <a:t>expeditiously</a:t>
            </a:r>
            <a:endParaRPr lang="en-US" sz="2800" spc="-10" dirty="0">
              <a:effectLst/>
              <a:latin typeface="Times New Roman" panose="02020603050405020304" pitchFamily="18" charset="0"/>
              <a:ea typeface="Times New Roman" panose="02020603050405020304" pitchFamily="18" charset="0"/>
            </a:endParaRPr>
          </a:p>
          <a:p>
            <a:pPr>
              <a:buFont typeface="Arial" panose="020B0604020202020204" pitchFamily="34" charset="0"/>
              <a:buChar char="•"/>
            </a:pPr>
            <a:r>
              <a:rPr lang="en-US" sz="2800" dirty="0">
                <a:effectLst/>
                <a:latin typeface="Times New Roman" panose="02020603050405020304" pitchFamily="18" charset="0"/>
                <a:ea typeface="Times New Roman" panose="02020603050405020304" pitchFamily="18" charset="0"/>
              </a:rPr>
              <a:t> </a:t>
            </a:r>
            <a:r>
              <a:rPr lang="en-US" sz="2800" spc="-10" dirty="0">
                <a:effectLst/>
                <a:latin typeface="Times New Roman" panose="02020603050405020304" pitchFamily="18" charset="0"/>
                <a:ea typeface="Times New Roman" panose="02020603050405020304" pitchFamily="18" charset="0"/>
              </a:rPr>
              <a:t>facilitating review of the audit</a:t>
            </a:r>
            <a:r>
              <a:rPr lang="en-US" sz="2800" spc="-15" dirty="0">
                <a:effectLst/>
                <a:latin typeface="Times New Roman" panose="02020603050405020304" pitchFamily="18" charset="0"/>
                <a:ea typeface="Times New Roman" panose="02020603050405020304" pitchFamily="18" charset="0"/>
              </a:rPr>
              <a:t> </a:t>
            </a:r>
            <a:r>
              <a:rPr lang="en-US" sz="2800" spc="-10" dirty="0">
                <a:effectLst/>
                <a:latin typeface="Times New Roman" panose="02020603050405020304" pitchFamily="18" charset="0"/>
                <a:ea typeface="Times New Roman" panose="02020603050405020304" pitchFamily="18" charset="0"/>
              </a:rPr>
              <a:t>work</a:t>
            </a:r>
            <a:endParaRPr lang="en-US" sz="2800" spc="-10" dirty="0">
              <a:effectLst/>
              <a:latin typeface="Times New Roman" panose="02020603050405020304" pitchFamily="18" charset="0"/>
              <a:ea typeface="Times New Roman" panose="02020603050405020304" pitchFamily="18" charset="0"/>
            </a:endParaRPr>
          </a:p>
          <a:p>
            <a:pPr>
              <a:buFont typeface="Arial" panose="020B0604020202020204" pitchFamily="34" charset="0"/>
              <a:buChar char="•"/>
            </a:pPr>
            <a:r>
              <a:rPr lang="en-US" sz="2800" dirty="0">
                <a:effectLst/>
                <a:latin typeface="Times New Roman" panose="02020603050405020304" pitchFamily="18" charset="0"/>
                <a:ea typeface="Times New Roman" panose="02020603050405020304" pitchFamily="18" charset="0"/>
              </a:rPr>
              <a:t>  assisting in the proper assignment  of  work  to  engagement  team  members, facilitates the direction and supervision of engagement team members and the review of their work, and assists, where applicable, in coordination of work done by auditors of components and</a:t>
            </a:r>
            <a:r>
              <a:rPr lang="en-US" sz="2800" spc="-35"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experts.</a:t>
            </a:r>
            <a:endParaRPr lang="en-US" sz="2800" dirty="0">
              <a:effectLst/>
              <a:latin typeface="Times New Roman" panose="02020603050405020304" pitchFamily="18" charset="0"/>
              <a:ea typeface="Times New Roman" panose="02020603050405020304" pitchFamily="18" charset="0"/>
            </a:endParaRPr>
          </a:p>
          <a:p>
            <a:endParaRPr lang="en-US"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000" b="1" kern="0" spc="-5" dirty="0">
                <a:effectLst/>
                <a:latin typeface="Times New Roman" panose="02020603050405020304" pitchFamily="18" charset="0"/>
                <a:ea typeface="Times New Roman" panose="02020603050405020304" pitchFamily="18" charset="0"/>
              </a:rPr>
              <a:t>Planning an Audit of Financial</a:t>
            </a:r>
            <a:r>
              <a:rPr lang="en-US" sz="4000" b="1" kern="0" spc="-20" dirty="0">
                <a:effectLst/>
                <a:latin typeface="Times New Roman" panose="02020603050405020304" pitchFamily="18" charset="0"/>
                <a:ea typeface="Times New Roman" panose="02020603050405020304" pitchFamily="18" charset="0"/>
              </a:rPr>
              <a:t> </a:t>
            </a:r>
            <a:r>
              <a:rPr lang="en-US" sz="4000" b="1" kern="0" spc="-5" dirty="0">
                <a:effectLst/>
                <a:latin typeface="Times New Roman" panose="02020603050405020304" pitchFamily="18" charset="0"/>
                <a:ea typeface="Times New Roman" panose="02020603050405020304" pitchFamily="18" charset="0"/>
              </a:rPr>
              <a:t>Statements</a:t>
            </a:r>
            <a:br>
              <a:rPr lang="en-US" sz="1800" b="1" kern="0" spc="-5" dirty="0">
                <a:effectLst/>
                <a:latin typeface="Times New Roman" panose="02020603050405020304" pitchFamily="18" charset="0"/>
                <a:ea typeface="Times New Roman" panose="02020603050405020304" pitchFamily="18" charset="0"/>
              </a:rPr>
            </a:br>
            <a:endParaRPr lang="en-US" dirty="0"/>
          </a:p>
        </p:txBody>
      </p:sp>
      <p:sp>
        <p:nvSpPr>
          <p:cNvPr id="3" name="Content Placeholder 2"/>
          <p:cNvSpPr>
            <a:spLocks noGrp="1"/>
          </p:cNvSpPr>
          <p:nvPr>
            <p:ph idx="1"/>
          </p:nvPr>
        </p:nvSpPr>
        <p:spPr>
          <a:xfrm>
            <a:off x="198783" y="1737359"/>
            <a:ext cx="11834191" cy="4424901"/>
          </a:xfrm>
        </p:spPr>
        <p:txBody>
          <a:bodyPr>
            <a:normAutofit lnSpcReduction="10000"/>
          </a:bodyPr>
          <a:lstStyle/>
          <a:p>
            <a:pPr marL="342900" marR="1186815" lvl="0" indent="-342900" algn="just">
              <a:buSzPts val="1200"/>
              <a:buFont typeface="Times New Roman" panose="02020603050405020304" pitchFamily="18" charset="0"/>
              <a:buAutoNum type="alphaLcParenR"/>
              <a:tabLst>
                <a:tab pos="985520" algn="l"/>
              </a:tabLst>
            </a:pPr>
            <a:r>
              <a:rPr lang="en-US" sz="2800" spc="-35" dirty="0">
                <a:effectLst/>
                <a:latin typeface="Times New Roman" panose="02020603050405020304" pitchFamily="18" charset="0"/>
                <a:ea typeface="Times New Roman" panose="02020603050405020304" pitchFamily="18" charset="0"/>
              </a:rPr>
              <a:t>The auditor should plan the audit so that the engagement will be performed in an effective</a:t>
            </a:r>
            <a:r>
              <a:rPr lang="en-US" sz="2800" spc="-5" dirty="0">
                <a:effectLst/>
                <a:latin typeface="Times New Roman" panose="02020603050405020304" pitchFamily="18" charset="0"/>
                <a:ea typeface="Times New Roman" panose="02020603050405020304" pitchFamily="18" charset="0"/>
              </a:rPr>
              <a:t> </a:t>
            </a:r>
            <a:r>
              <a:rPr lang="en-US" sz="2800" spc="-35" dirty="0">
                <a:effectLst/>
                <a:latin typeface="Times New Roman" panose="02020603050405020304" pitchFamily="18" charset="0"/>
                <a:ea typeface="Times New Roman" panose="02020603050405020304" pitchFamily="18" charset="0"/>
              </a:rPr>
              <a:t>manner.</a:t>
            </a:r>
            <a:endParaRPr lang="en-US" sz="2800" spc="-35" dirty="0">
              <a:effectLst/>
              <a:latin typeface="Times New Roman" panose="02020603050405020304" pitchFamily="18" charset="0"/>
              <a:ea typeface="Times New Roman" panose="02020603050405020304" pitchFamily="18" charset="0"/>
            </a:endParaRPr>
          </a:p>
          <a:p>
            <a:r>
              <a:rPr lang="en-US" sz="2800" dirty="0">
                <a:effectLst/>
                <a:latin typeface="Times New Roman" panose="02020603050405020304" pitchFamily="18" charset="0"/>
                <a:ea typeface="Times New Roman" panose="02020603050405020304" pitchFamily="18" charset="0"/>
              </a:rPr>
              <a:t> </a:t>
            </a:r>
            <a:endParaRPr lang="en-US" sz="2800" dirty="0">
              <a:effectLst/>
              <a:latin typeface="Times New Roman" panose="02020603050405020304" pitchFamily="18" charset="0"/>
              <a:ea typeface="Times New Roman" panose="02020603050405020304" pitchFamily="18" charset="0"/>
            </a:endParaRPr>
          </a:p>
          <a:p>
            <a:pPr marL="342900" marR="1186815" lvl="0" indent="-342900" algn="just">
              <a:buSzPts val="1200"/>
              <a:buFont typeface="Times New Roman" panose="02020603050405020304" pitchFamily="18" charset="0"/>
              <a:buAutoNum type="alphaLcParenR"/>
              <a:tabLst>
                <a:tab pos="985520" algn="l"/>
              </a:tabLst>
            </a:pPr>
            <a:r>
              <a:rPr lang="en-US" sz="2800" spc="-35" dirty="0">
                <a:effectLst/>
                <a:latin typeface="Times New Roman" panose="02020603050405020304" pitchFamily="18" charset="0"/>
                <a:ea typeface="Times New Roman" panose="02020603050405020304" pitchFamily="18" charset="0"/>
              </a:rPr>
              <a:t>Planning an audit involves establishing the overall audit strategy for the engagement and developing an audit plan, in order to reduce audit risk to an acceptably low</a:t>
            </a:r>
            <a:r>
              <a:rPr lang="en-US" sz="2800" spc="-10" dirty="0">
                <a:effectLst/>
                <a:latin typeface="Times New Roman" panose="02020603050405020304" pitchFamily="18" charset="0"/>
                <a:ea typeface="Times New Roman" panose="02020603050405020304" pitchFamily="18" charset="0"/>
              </a:rPr>
              <a:t> </a:t>
            </a:r>
            <a:r>
              <a:rPr lang="en-US" sz="2800" spc="-35" dirty="0">
                <a:effectLst/>
                <a:latin typeface="Times New Roman" panose="02020603050405020304" pitchFamily="18" charset="0"/>
                <a:ea typeface="Times New Roman" panose="02020603050405020304" pitchFamily="18" charset="0"/>
              </a:rPr>
              <a:t>level.</a:t>
            </a:r>
            <a:endParaRPr lang="en-US" sz="2800" spc="-35" dirty="0">
              <a:effectLst/>
              <a:latin typeface="Times New Roman" panose="02020603050405020304" pitchFamily="18" charset="0"/>
              <a:ea typeface="Times New Roman" panose="02020603050405020304" pitchFamily="18" charset="0"/>
            </a:endParaRPr>
          </a:p>
          <a:p>
            <a:r>
              <a:rPr lang="en-US" sz="2800" dirty="0">
                <a:effectLst/>
                <a:latin typeface="Times New Roman" panose="02020603050405020304" pitchFamily="18" charset="0"/>
                <a:ea typeface="Times New Roman" panose="02020603050405020304" pitchFamily="18" charset="0"/>
              </a:rPr>
              <a:t> </a:t>
            </a:r>
            <a:endParaRPr lang="en-US" sz="2800" dirty="0">
              <a:effectLst/>
              <a:latin typeface="Times New Roman" panose="02020603050405020304" pitchFamily="18" charset="0"/>
              <a:ea typeface="Times New Roman" panose="02020603050405020304" pitchFamily="18" charset="0"/>
            </a:endParaRPr>
          </a:p>
          <a:p>
            <a:pPr marL="342900" marR="1186815" lvl="0" indent="-342900" algn="just">
              <a:buSzPts val="1200"/>
              <a:buFont typeface="Times New Roman" panose="02020603050405020304" pitchFamily="18" charset="0"/>
              <a:buAutoNum type="alphaLcParenR"/>
              <a:tabLst>
                <a:tab pos="1023620" algn="l"/>
              </a:tabLst>
            </a:pPr>
            <a:r>
              <a:rPr lang="en-US" sz="2800" spc="-35" dirty="0">
                <a:effectLst/>
                <a:latin typeface="Times New Roman" panose="02020603050405020304" pitchFamily="18" charset="0"/>
                <a:ea typeface="Times New Roman" panose="02020603050405020304" pitchFamily="18" charset="0"/>
              </a:rPr>
              <a:t>	Planning involves the engagement partner and other key members of the engagement team to benefit from their experience and insight and to enhance the effectiveness and efficiency of the planning</a:t>
            </a:r>
            <a:r>
              <a:rPr lang="en-US" sz="2800" spc="-10" dirty="0">
                <a:effectLst/>
                <a:latin typeface="Times New Roman" panose="02020603050405020304" pitchFamily="18" charset="0"/>
                <a:ea typeface="Times New Roman" panose="02020603050405020304" pitchFamily="18" charset="0"/>
              </a:rPr>
              <a:t> </a:t>
            </a:r>
            <a:r>
              <a:rPr lang="en-US" sz="2800" spc="-35" dirty="0">
                <a:effectLst/>
                <a:latin typeface="Times New Roman" panose="02020603050405020304" pitchFamily="18" charset="0"/>
                <a:ea typeface="Times New Roman" panose="02020603050405020304" pitchFamily="18" charset="0"/>
              </a:rPr>
              <a:t>process.</a:t>
            </a:r>
            <a:endParaRPr lang="en-US" sz="2800" spc="-35" dirty="0">
              <a:effectLst/>
              <a:latin typeface="Times New Roman" panose="02020603050405020304" pitchFamily="18" charset="0"/>
              <a:ea typeface="Times New Roman" panose="02020603050405020304" pitchFamily="18" charset="0"/>
            </a:endParaRPr>
          </a:p>
          <a:p>
            <a:endParaRPr lang="en-US"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000" b="1" kern="0" spc="-5" dirty="0">
                <a:effectLst/>
                <a:latin typeface="Times New Roman" panose="02020603050405020304" pitchFamily="18" charset="0"/>
                <a:ea typeface="Times New Roman" panose="02020603050405020304" pitchFamily="18" charset="0"/>
              </a:rPr>
              <a:t>Preliminary Engagement</a:t>
            </a:r>
            <a:r>
              <a:rPr lang="en-US" sz="4000" b="1" kern="0" spc="-80" dirty="0">
                <a:effectLst/>
                <a:latin typeface="Times New Roman" panose="02020603050405020304" pitchFamily="18" charset="0"/>
                <a:ea typeface="Times New Roman" panose="02020603050405020304" pitchFamily="18" charset="0"/>
              </a:rPr>
              <a:t> </a:t>
            </a:r>
            <a:r>
              <a:rPr lang="en-US" sz="4000" b="1" kern="0" spc="-5" dirty="0">
                <a:effectLst/>
                <a:latin typeface="Times New Roman" panose="02020603050405020304" pitchFamily="18" charset="0"/>
                <a:ea typeface="Times New Roman" panose="02020603050405020304" pitchFamily="18" charset="0"/>
              </a:rPr>
              <a:t>Activities</a:t>
            </a:r>
            <a:br>
              <a:rPr lang="en-US" sz="1800" b="1" kern="0" spc="-5" dirty="0">
                <a:effectLst/>
                <a:latin typeface="Times New Roman" panose="02020603050405020304" pitchFamily="18" charset="0"/>
                <a:ea typeface="Times New Roman" panose="02020603050405020304" pitchFamily="18" charset="0"/>
              </a:rPr>
            </a:br>
            <a:endParaRPr lang="en-US" dirty="0"/>
          </a:p>
        </p:txBody>
      </p:sp>
      <p:sp>
        <p:nvSpPr>
          <p:cNvPr id="3" name="Content Placeholder 2"/>
          <p:cNvSpPr>
            <a:spLocks noGrp="1"/>
          </p:cNvSpPr>
          <p:nvPr>
            <p:ph idx="1"/>
          </p:nvPr>
        </p:nvSpPr>
        <p:spPr>
          <a:xfrm>
            <a:off x="119269" y="1845734"/>
            <a:ext cx="11807687" cy="4396040"/>
          </a:xfrm>
        </p:spPr>
        <p:txBody>
          <a:bodyPr>
            <a:normAutofit/>
          </a:bodyPr>
          <a:lstStyle/>
          <a:p>
            <a:pPr marL="436245" marR="1176020" indent="0">
              <a:spcAft>
                <a:spcPts val="0"/>
              </a:spcAft>
              <a:buNone/>
            </a:pPr>
            <a:r>
              <a:rPr lang="en-US" sz="2800" dirty="0">
                <a:effectLst/>
                <a:latin typeface="Times New Roman" panose="02020603050405020304" pitchFamily="18" charset="0"/>
                <a:ea typeface="Times New Roman" panose="02020603050405020304" pitchFamily="18" charset="0"/>
              </a:rPr>
              <a:t>The auditor should perform the following activities at the beginning of the current audit engagement:</a:t>
            </a:r>
            <a:endParaRPr lang="en-US" sz="2800" dirty="0">
              <a:effectLst/>
              <a:latin typeface="Times New Roman" panose="02020603050405020304" pitchFamily="18" charset="0"/>
              <a:ea typeface="Times New Roman" panose="02020603050405020304" pitchFamily="18" charset="0"/>
            </a:endParaRPr>
          </a:p>
          <a:p>
            <a:pPr marL="436245" marR="1176020" indent="0">
              <a:spcAft>
                <a:spcPts val="0"/>
              </a:spcAft>
              <a:buNone/>
            </a:pPr>
            <a:endParaRPr lang="en-US" sz="2800" dirty="0">
              <a:effectLst/>
              <a:latin typeface="Times New Roman" panose="02020603050405020304" pitchFamily="18" charset="0"/>
              <a:ea typeface="Times New Roman" panose="02020603050405020304" pitchFamily="18" charset="0"/>
            </a:endParaRPr>
          </a:p>
          <a:p>
            <a:pPr marL="342900" marR="1209675" lvl="0" indent="-342900">
              <a:buSzPts val="1200"/>
              <a:buFont typeface="Symbol" panose="05050102010706020507" pitchFamily="18" charset="2"/>
              <a:buChar char=""/>
              <a:tabLst>
                <a:tab pos="984885" algn="l"/>
                <a:tab pos="98552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Perform procedures regarding the continuance of the client relationship and the specific audit</a:t>
            </a:r>
            <a:r>
              <a:rPr lang="en-US" sz="2800" spc="-5" dirty="0">
                <a:effectLst/>
                <a:latin typeface="Times New Roman" panose="02020603050405020304" pitchFamily="18" charset="0"/>
                <a:ea typeface="Symbol" panose="05050102010706020507" pitchFamily="18" charset="2"/>
                <a:cs typeface="Symbol" panose="05050102010706020507" pitchFamily="18" charset="2"/>
              </a:rPr>
              <a:t> </a:t>
            </a:r>
            <a:r>
              <a:rPr lang="en-US" sz="2800" dirty="0">
                <a:effectLst/>
                <a:latin typeface="Times New Roman" panose="02020603050405020304" pitchFamily="18" charset="0"/>
                <a:ea typeface="Symbol" panose="05050102010706020507" pitchFamily="18" charset="2"/>
                <a:cs typeface="Symbol" panose="05050102010706020507" pitchFamily="18" charset="2"/>
              </a:rPr>
              <a:t>engagement;</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marR="1209675" lvl="0" indent="-342900">
              <a:buSzPts val="1200"/>
              <a:buFont typeface="Symbol" panose="05050102010706020507" pitchFamily="18" charset="2"/>
              <a:buChar char=""/>
              <a:tabLst>
                <a:tab pos="984885" algn="l"/>
                <a:tab pos="985520" algn="l"/>
              </a:tabLst>
            </a:pP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lnSpc>
                <a:spcPts val="1465"/>
              </a:lnSpc>
              <a:buSzPts val="1200"/>
              <a:buFont typeface="Symbol" panose="05050102010706020507" pitchFamily="18" charset="2"/>
              <a:buChar char=""/>
              <a:tabLst>
                <a:tab pos="984885" algn="l"/>
                <a:tab pos="98552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Evaluate compliance with ethical requirements, including</a:t>
            </a:r>
            <a:r>
              <a:rPr lang="en-US" sz="2800" spc="-30" dirty="0">
                <a:effectLst/>
                <a:latin typeface="Times New Roman" panose="02020603050405020304" pitchFamily="18" charset="0"/>
                <a:ea typeface="Symbol" panose="05050102010706020507" pitchFamily="18" charset="2"/>
                <a:cs typeface="Symbol" panose="05050102010706020507" pitchFamily="18" charset="2"/>
              </a:rPr>
              <a:t> </a:t>
            </a:r>
            <a:r>
              <a:rPr lang="en-US" sz="2800" dirty="0">
                <a:effectLst/>
                <a:latin typeface="Times New Roman" panose="02020603050405020304" pitchFamily="18" charset="0"/>
                <a:ea typeface="Symbol" panose="05050102010706020507" pitchFamily="18" charset="2"/>
                <a:cs typeface="Symbol" panose="05050102010706020507" pitchFamily="18" charset="2"/>
              </a:rPr>
              <a:t>independence;</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lnSpc>
                <a:spcPts val="1465"/>
              </a:lnSpc>
              <a:buSzPts val="1200"/>
              <a:buFont typeface="Symbol" panose="05050102010706020507" pitchFamily="18" charset="2"/>
              <a:buChar char=""/>
              <a:tabLst>
                <a:tab pos="984885" algn="l"/>
                <a:tab pos="985520" algn="l"/>
              </a:tabLst>
            </a:pP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buSzPts val="1200"/>
              <a:buFont typeface="Symbol" panose="05050102010706020507" pitchFamily="18" charset="2"/>
              <a:buChar char=""/>
              <a:tabLst>
                <a:tab pos="984885" algn="l"/>
                <a:tab pos="98552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Establish an understanding of the terms of the</a:t>
            </a:r>
            <a:r>
              <a:rPr lang="en-US" sz="2800" spc="-30" dirty="0">
                <a:effectLst/>
                <a:latin typeface="Times New Roman" panose="02020603050405020304" pitchFamily="18" charset="0"/>
                <a:ea typeface="Symbol" panose="05050102010706020507" pitchFamily="18" charset="2"/>
                <a:cs typeface="Symbol" panose="05050102010706020507" pitchFamily="18" charset="2"/>
              </a:rPr>
              <a:t> </a:t>
            </a:r>
            <a:r>
              <a:rPr lang="en-US" sz="2800" dirty="0">
                <a:effectLst/>
                <a:latin typeface="Times New Roman" panose="02020603050405020304" pitchFamily="18" charset="0"/>
                <a:ea typeface="Symbol" panose="05050102010706020507" pitchFamily="18" charset="2"/>
                <a:cs typeface="Symbol" panose="05050102010706020507" pitchFamily="18" charset="2"/>
              </a:rPr>
              <a:t>engagement</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endParaRPr lang="en-US"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800" b="1" kern="0" spc="-5" dirty="0">
                <a:effectLst/>
                <a:latin typeface="Times New Roman" panose="02020603050405020304" pitchFamily="18" charset="0"/>
                <a:ea typeface="Times New Roman" panose="02020603050405020304" pitchFamily="18" charset="0"/>
              </a:rPr>
              <a:t>Preliminary Engagement</a:t>
            </a:r>
            <a:r>
              <a:rPr lang="en-US" sz="4800" b="1" kern="0" spc="-80" dirty="0">
                <a:effectLst/>
                <a:latin typeface="Times New Roman" panose="02020603050405020304" pitchFamily="18" charset="0"/>
                <a:ea typeface="Times New Roman" panose="02020603050405020304" pitchFamily="18" charset="0"/>
              </a:rPr>
              <a:t> </a:t>
            </a:r>
            <a:r>
              <a:rPr lang="en-US" sz="4800" b="1" kern="0" spc="-5" dirty="0">
                <a:effectLst/>
                <a:latin typeface="Times New Roman" panose="02020603050405020304" pitchFamily="18" charset="0"/>
                <a:ea typeface="Times New Roman" panose="02020603050405020304" pitchFamily="18" charset="0"/>
              </a:rPr>
              <a:t>Activities</a:t>
            </a:r>
            <a:endParaRPr lang="en-US" dirty="0"/>
          </a:p>
        </p:txBody>
      </p:sp>
      <p:sp>
        <p:nvSpPr>
          <p:cNvPr id="3" name="Content Placeholder 2"/>
          <p:cNvSpPr>
            <a:spLocks noGrp="1"/>
          </p:cNvSpPr>
          <p:nvPr>
            <p:ph idx="1"/>
          </p:nvPr>
        </p:nvSpPr>
        <p:spPr>
          <a:xfrm>
            <a:off x="145773" y="1845734"/>
            <a:ext cx="11847443" cy="4422544"/>
          </a:xfrm>
        </p:spPr>
        <p:txBody>
          <a:bodyPr>
            <a:noAutofit/>
          </a:bodyPr>
          <a:lstStyle/>
          <a:p>
            <a:pPr marL="821055" marR="1208405" lvl="2" indent="0" algn="just">
              <a:spcAft>
                <a:spcPts val="0"/>
              </a:spcAft>
              <a:buNone/>
            </a:pPr>
            <a:r>
              <a:rPr lang="en-US" sz="2800" dirty="0">
                <a:effectLst/>
                <a:latin typeface="Times New Roman" panose="02020603050405020304" pitchFamily="18" charset="0"/>
                <a:ea typeface="Times New Roman" panose="02020603050405020304" pitchFamily="18" charset="0"/>
              </a:rPr>
              <a:t>Performing these preliminary engagement activities helps to ensure that the auditor plans audit engagement for</a:t>
            </a:r>
            <a:r>
              <a:rPr lang="en-US" sz="2800" spc="-20"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which:</a:t>
            </a:r>
            <a:endParaRPr lang="en-US" sz="2800" dirty="0">
              <a:effectLst/>
              <a:latin typeface="Times New Roman" panose="02020603050405020304" pitchFamily="18" charset="0"/>
              <a:ea typeface="Times New Roman" panose="02020603050405020304" pitchFamily="18" charset="0"/>
            </a:endParaRPr>
          </a:p>
          <a:p>
            <a:pPr marR="1210310" lvl="0">
              <a:buSzPts val="1200"/>
              <a:buFont typeface="Arial" panose="020B0604020202020204" pitchFamily="34" charset="0"/>
              <a:buChar char="•"/>
              <a:tabLst>
                <a:tab pos="984885" algn="l"/>
                <a:tab pos="98552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The auditor maintains the necessary independence and ability to perform the engagement.</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R="1209675" lvl="0">
              <a:buSzPts val="1200"/>
              <a:buFont typeface="Arial" panose="020B0604020202020204" pitchFamily="34" charset="0"/>
              <a:buChar char="•"/>
              <a:tabLst>
                <a:tab pos="984885" algn="l"/>
                <a:tab pos="98552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There are no issues with management integrity that may affect the auditor’s willingness to continue the</a:t>
            </a:r>
            <a:r>
              <a:rPr lang="en-US" sz="2800" spc="-10" dirty="0">
                <a:effectLst/>
                <a:latin typeface="Times New Roman" panose="02020603050405020304" pitchFamily="18" charset="0"/>
                <a:ea typeface="Symbol" panose="05050102010706020507" pitchFamily="18" charset="2"/>
                <a:cs typeface="Symbol" panose="05050102010706020507" pitchFamily="18" charset="2"/>
              </a:rPr>
              <a:t> </a:t>
            </a:r>
            <a:r>
              <a:rPr lang="en-US" sz="2800" dirty="0">
                <a:effectLst/>
                <a:latin typeface="Times New Roman" panose="02020603050405020304" pitchFamily="18" charset="0"/>
                <a:ea typeface="Symbol" panose="05050102010706020507" pitchFamily="18" charset="2"/>
                <a:cs typeface="Symbol" panose="05050102010706020507" pitchFamily="18" charset="2"/>
              </a:rPr>
              <a:t>engagement</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a:buFont typeface="Arial" panose="020B0604020202020204" pitchFamily="34" charset="0"/>
              <a:buChar char="•"/>
            </a:pPr>
            <a:r>
              <a:rPr lang="en-US" sz="2800" dirty="0">
                <a:effectLst/>
                <a:latin typeface="Times New Roman" panose="02020603050405020304" pitchFamily="18" charset="0"/>
                <a:ea typeface="Times New Roman" panose="02020603050405020304" pitchFamily="18" charset="0"/>
              </a:rPr>
              <a:t>There is no misunderstanding with the client as to the terms of the</a:t>
            </a:r>
            <a:r>
              <a:rPr lang="en-US" sz="2800" spc="-45"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engagement.</a:t>
            </a:r>
            <a:endParaRPr lang="en-US"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b="1" spc="-5" dirty="0">
                <a:effectLst/>
                <a:latin typeface="Times New Roman" panose="02020603050405020304" pitchFamily="18" charset="0"/>
                <a:ea typeface="Times New Roman" panose="02020603050405020304" pitchFamily="18" charset="0"/>
              </a:rPr>
              <a:t>The Overall Audit</a:t>
            </a:r>
            <a:r>
              <a:rPr lang="en-US" sz="4000" b="1" spc="-10" dirty="0">
                <a:effectLst/>
                <a:latin typeface="Times New Roman" panose="02020603050405020304" pitchFamily="18" charset="0"/>
                <a:ea typeface="Times New Roman" panose="02020603050405020304" pitchFamily="18" charset="0"/>
              </a:rPr>
              <a:t> </a:t>
            </a:r>
            <a:r>
              <a:rPr lang="en-US" sz="4000" b="1" spc="-5" dirty="0">
                <a:effectLst/>
                <a:latin typeface="Times New Roman" panose="02020603050405020304" pitchFamily="18" charset="0"/>
                <a:ea typeface="Times New Roman" panose="02020603050405020304" pitchFamily="18" charset="0"/>
              </a:rPr>
              <a:t>Strategy</a:t>
            </a:r>
            <a:br>
              <a:rPr lang="en-US" sz="4000" spc="-5" dirty="0">
                <a:effectLst/>
                <a:latin typeface="Times New Roman" panose="02020603050405020304" pitchFamily="18" charset="0"/>
                <a:ea typeface="Times New Roman" panose="02020603050405020304" pitchFamily="18" charset="0"/>
              </a:rPr>
            </a:br>
            <a:r>
              <a:rPr lang="en-US" sz="2800" dirty="0">
                <a:effectLst/>
                <a:latin typeface="Times New Roman" panose="02020603050405020304" pitchFamily="18" charset="0"/>
                <a:ea typeface="Times New Roman" panose="02020603050405020304" pitchFamily="18" charset="0"/>
              </a:rPr>
              <a:t>The overall audit strategy sets the scope, timing and direction of the audit, and guides the development of the more detailed audit plan.</a:t>
            </a:r>
            <a:endParaRPr lang="en-US" sz="2800" dirty="0"/>
          </a:p>
        </p:txBody>
      </p:sp>
      <p:sp>
        <p:nvSpPr>
          <p:cNvPr id="3" name="Content Placeholder 2"/>
          <p:cNvSpPr>
            <a:spLocks noGrp="1"/>
          </p:cNvSpPr>
          <p:nvPr>
            <p:ph idx="1"/>
          </p:nvPr>
        </p:nvSpPr>
        <p:spPr>
          <a:xfrm>
            <a:off x="238539" y="1845734"/>
            <a:ext cx="11741426" cy="4396040"/>
          </a:xfrm>
        </p:spPr>
        <p:txBody>
          <a:bodyPr>
            <a:normAutofit lnSpcReduction="10000"/>
          </a:bodyPr>
          <a:lstStyle/>
          <a:p>
            <a:pPr marL="527685" marR="1187450" algn="just">
              <a:spcAft>
                <a:spcPts val="0"/>
              </a:spcAft>
            </a:pPr>
            <a:r>
              <a:rPr lang="en-US" sz="2800" dirty="0">
                <a:effectLst/>
                <a:latin typeface="Times New Roman" panose="02020603050405020304" pitchFamily="18" charset="0"/>
                <a:ea typeface="Times New Roman" panose="02020603050405020304" pitchFamily="18" charset="0"/>
              </a:rPr>
              <a:t>The establishment of the overall audit strategy involves:</a:t>
            </a:r>
            <a:endParaRPr lang="en-US" sz="2800" dirty="0">
              <a:effectLst/>
              <a:latin typeface="Times New Roman" panose="02020603050405020304" pitchFamily="18" charset="0"/>
              <a:ea typeface="Times New Roman" panose="02020603050405020304" pitchFamily="18" charset="0"/>
            </a:endParaRPr>
          </a:p>
          <a:p>
            <a:pPr>
              <a:buFont typeface="Arial" panose="020B0604020202020204" pitchFamily="34" charset="0"/>
              <a:buChar char="•"/>
            </a:pPr>
            <a:r>
              <a:rPr lang="en-US" sz="2800" spc="-35" dirty="0">
                <a:effectLst/>
                <a:latin typeface="Times New Roman" panose="02020603050405020304" pitchFamily="18" charset="0"/>
                <a:ea typeface="Times New Roman" panose="02020603050405020304" pitchFamily="18" charset="0"/>
              </a:rPr>
              <a:t>Determining the characteristics of the engagement that define its scope, such as the financial reporting framework used, industry-specific reporting requirements and the locations of the components of the</a:t>
            </a:r>
            <a:r>
              <a:rPr lang="en-US" sz="2800" spc="-15" dirty="0">
                <a:effectLst/>
                <a:latin typeface="Times New Roman" panose="02020603050405020304" pitchFamily="18" charset="0"/>
                <a:ea typeface="Times New Roman" panose="02020603050405020304" pitchFamily="18" charset="0"/>
              </a:rPr>
              <a:t> </a:t>
            </a:r>
            <a:r>
              <a:rPr lang="en-US" sz="2800" spc="-35" dirty="0">
                <a:effectLst/>
                <a:latin typeface="Times New Roman" panose="02020603050405020304" pitchFamily="18" charset="0"/>
                <a:ea typeface="Times New Roman" panose="02020603050405020304" pitchFamily="18" charset="0"/>
              </a:rPr>
              <a:t>entity;</a:t>
            </a:r>
            <a:endParaRPr lang="en-US" sz="2800" spc="-35" dirty="0">
              <a:effectLst/>
              <a:latin typeface="Times New Roman" panose="02020603050405020304" pitchFamily="18" charset="0"/>
              <a:ea typeface="Times New Roman" panose="02020603050405020304" pitchFamily="18" charset="0"/>
            </a:endParaRPr>
          </a:p>
          <a:p>
            <a:pPr>
              <a:buFont typeface="Arial" panose="020B0604020202020204" pitchFamily="34" charset="0"/>
              <a:buChar char="•"/>
            </a:pPr>
            <a:r>
              <a:rPr lang="en-US" sz="2800" dirty="0">
                <a:effectLst/>
                <a:latin typeface="Times New Roman" panose="02020603050405020304" pitchFamily="18" charset="0"/>
                <a:ea typeface="Times New Roman" panose="02020603050405020304" pitchFamily="18" charset="0"/>
              </a:rPr>
              <a:t>Ascertaining the reporting objectives of the engagement to plan the timing of the audit and the nature of the communications required; and</a:t>
            </a:r>
            <a:endParaRPr lang="en-US" sz="2800" dirty="0">
              <a:effectLst/>
              <a:latin typeface="Times New Roman" panose="02020603050405020304" pitchFamily="18" charset="0"/>
              <a:ea typeface="Times New Roman" panose="02020603050405020304" pitchFamily="18" charset="0"/>
            </a:endParaRPr>
          </a:p>
          <a:p>
            <a:pPr>
              <a:buFont typeface="Arial" panose="020B0604020202020204" pitchFamily="34" charset="0"/>
              <a:buChar char="•"/>
            </a:pPr>
            <a:r>
              <a:rPr lang="en-US" sz="2800" dirty="0">
                <a:effectLst/>
                <a:latin typeface="Times New Roman" panose="02020603050405020304" pitchFamily="18" charset="0"/>
                <a:ea typeface="Times New Roman" panose="02020603050405020304" pitchFamily="18" charset="0"/>
              </a:rPr>
              <a:t>Considering the important factors that will determine the focus of the engagement team’s efforts, such as determination of appropriate materiality levels, preliminary identification of areas where there may be higher risks of material misstatement etc.</a:t>
            </a:r>
            <a:endParaRPr lang="en-US" sz="2800" spc="-35" dirty="0">
              <a:effectLst/>
              <a:latin typeface="Times New Roman" panose="02020603050405020304" pitchFamily="18" charset="0"/>
              <a:ea typeface="Times New Roman" panose="02020603050405020304" pitchFamily="18" charset="0"/>
            </a:endParaRPr>
          </a:p>
          <a:p>
            <a:pPr>
              <a:buFont typeface="Arial" panose="020B0604020202020204" pitchFamily="34" charset="0"/>
              <a:buChar char="•"/>
            </a:pPr>
            <a:endParaRPr 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4"/>
            <a:ext cx="10058400" cy="866336"/>
          </a:xfrm>
        </p:spPr>
        <p:txBody>
          <a:bodyPr>
            <a:normAutofit/>
          </a:bodyPr>
          <a:lstStyle/>
          <a:p>
            <a:pPr algn="ctr"/>
            <a:r>
              <a:rPr lang="en-US" sz="4000" dirty="0">
                <a:effectLst/>
                <a:latin typeface="Times New Roman" panose="02020603050405020304" pitchFamily="18" charset="0"/>
                <a:ea typeface="Times New Roman" panose="02020603050405020304" pitchFamily="18" charset="0"/>
              </a:rPr>
              <a:t>Auditing small</a:t>
            </a:r>
            <a:r>
              <a:rPr lang="en-US" sz="4000" spc="-20" dirty="0">
                <a:effectLst/>
                <a:latin typeface="Times New Roman" panose="02020603050405020304" pitchFamily="18" charset="0"/>
                <a:ea typeface="Times New Roman" panose="02020603050405020304" pitchFamily="18" charset="0"/>
              </a:rPr>
              <a:t> </a:t>
            </a:r>
            <a:r>
              <a:rPr lang="en-US" sz="4000" dirty="0">
                <a:effectLst/>
                <a:latin typeface="Times New Roman" panose="02020603050405020304" pitchFamily="18" charset="0"/>
                <a:ea typeface="Times New Roman" panose="02020603050405020304" pitchFamily="18" charset="0"/>
              </a:rPr>
              <a:t>entities</a:t>
            </a:r>
            <a:endParaRPr lang="en-US" sz="4000" dirty="0"/>
          </a:p>
        </p:txBody>
      </p:sp>
      <p:sp>
        <p:nvSpPr>
          <p:cNvPr id="3" name="Content Placeholder 2"/>
          <p:cNvSpPr>
            <a:spLocks noGrp="1"/>
          </p:cNvSpPr>
          <p:nvPr>
            <p:ph idx="1"/>
          </p:nvPr>
        </p:nvSpPr>
        <p:spPr>
          <a:xfrm>
            <a:off x="132522" y="1696278"/>
            <a:ext cx="11887200" cy="4585252"/>
          </a:xfrm>
        </p:spPr>
        <p:txBody>
          <a:bodyPr>
            <a:normAutofit/>
          </a:bodyPr>
          <a:lstStyle/>
          <a:p>
            <a:r>
              <a:rPr lang="en-US" sz="2800" dirty="0">
                <a:effectLst/>
                <a:latin typeface="Times New Roman" panose="02020603050405020304" pitchFamily="18" charset="0"/>
                <a:ea typeface="Times New Roman" panose="02020603050405020304" pitchFamily="18" charset="0"/>
              </a:rPr>
              <a:t>In audits of small entities, the entire audit may be conducted by a very small audit team.</a:t>
            </a:r>
            <a:endParaRPr lang="en-US" sz="2800" dirty="0">
              <a:effectLst/>
              <a:latin typeface="Times New Roman" panose="02020603050405020304" pitchFamily="18" charset="0"/>
              <a:ea typeface="Times New Roman" panose="02020603050405020304" pitchFamily="18" charset="0"/>
            </a:endParaRPr>
          </a:p>
          <a:p>
            <a:pPr>
              <a:buFont typeface="Arial" panose="020B0604020202020204" pitchFamily="34" charset="0"/>
              <a:buChar char="•"/>
            </a:pPr>
            <a:r>
              <a:rPr lang="en-US" sz="2800" dirty="0">
                <a:effectLst/>
                <a:latin typeface="Times New Roman" panose="02020603050405020304" pitchFamily="18" charset="0"/>
                <a:ea typeface="Times New Roman" panose="02020603050405020304" pitchFamily="18" charset="0"/>
              </a:rPr>
              <a:t>Many audits of small entities involve the audit engagement partner (who may be a sole practitioner) working with one engagement team member (or without any engagement team members).</a:t>
            </a:r>
            <a:endParaRPr lang="en-US" sz="2800" dirty="0">
              <a:effectLst/>
              <a:latin typeface="Times New Roman" panose="02020603050405020304" pitchFamily="18" charset="0"/>
              <a:ea typeface="Times New Roman" panose="02020603050405020304" pitchFamily="18" charset="0"/>
            </a:endParaRPr>
          </a:p>
          <a:p>
            <a:pPr>
              <a:buFont typeface="Arial" panose="020B0604020202020204" pitchFamily="34" charset="0"/>
              <a:buChar char="•"/>
            </a:pPr>
            <a:r>
              <a:rPr lang="en-US" sz="2800" dirty="0">
                <a:effectLst/>
                <a:latin typeface="Times New Roman" panose="02020603050405020304" pitchFamily="18" charset="0"/>
                <a:ea typeface="Times New Roman" panose="02020603050405020304" pitchFamily="18" charset="0"/>
              </a:rPr>
              <a:t>Establishing the overall audit strategy for the audit of a small  entity need not be a complex or time-consuming exercise; it varies according to the size of the entity and the complexity of the audit</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000" b="1" kern="0" spc="-5" dirty="0">
                <a:effectLst/>
                <a:latin typeface="Times New Roman" panose="02020603050405020304" pitchFamily="18" charset="0"/>
                <a:ea typeface="Times New Roman" panose="02020603050405020304" pitchFamily="18" charset="0"/>
              </a:rPr>
              <a:t>The Audit Plan</a:t>
            </a:r>
            <a:br>
              <a:rPr lang="en-US" sz="1800" b="1" kern="0" spc="-5" dirty="0">
                <a:effectLst/>
                <a:latin typeface="Times New Roman" panose="02020603050405020304" pitchFamily="18" charset="0"/>
                <a:ea typeface="Times New Roman" panose="02020603050405020304" pitchFamily="18" charset="0"/>
              </a:rPr>
            </a:br>
            <a:endParaRPr lang="en-US" dirty="0"/>
          </a:p>
        </p:txBody>
      </p:sp>
      <p:sp>
        <p:nvSpPr>
          <p:cNvPr id="3" name="Content Placeholder 2"/>
          <p:cNvSpPr>
            <a:spLocks noGrp="1"/>
          </p:cNvSpPr>
          <p:nvPr>
            <p:ph idx="1"/>
          </p:nvPr>
        </p:nvSpPr>
        <p:spPr>
          <a:xfrm>
            <a:off x="198783" y="1845733"/>
            <a:ext cx="11834191" cy="4356283"/>
          </a:xfrm>
        </p:spPr>
        <p:txBody>
          <a:bodyPr>
            <a:normAutofit/>
          </a:bodyPr>
          <a:lstStyle/>
          <a:p>
            <a:r>
              <a:rPr lang="en-US" sz="2800" dirty="0">
                <a:effectLst/>
                <a:latin typeface="Times New Roman" panose="02020603050405020304" pitchFamily="18" charset="0"/>
                <a:ea typeface="Times New Roman" panose="02020603050405020304" pitchFamily="18" charset="0"/>
              </a:rPr>
              <a:t>The auditor should develop an audit plan for the audit in order to reduce audit risk to an acceptably low level.</a:t>
            </a:r>
            <a:endParaRPr lang="en-US" sz="2800" dirty="0">
              <a:effectLst/>
              <a:latin typeface="Times New Roman" panose="02020603050405020304" pitchFamily="18" charset="0"/>
              <a:ea typeface="Times New Roman" panose="02020603050405020304" pitchFamily="18" charset="0"/>
            </a:endParaRPr>
          </a:p>
          <a:p>
            <a:pPr>
              <a:buFont typeface="Arial" panose="020B0604020202020204" pitchFamily="34" charset="0"/>
              <a:buChar char="•"/>
            </a:pPr>
            <a:r>
              <a:rPr lang="en-US" sz="2800" dirty="0">
                <a:effectLst/>
                <a:latin typeface="Times New Roman" panose="02020603050405020304" pitchFamily="18" charset="0"/>
                <a:ea typeface="Times New Roman" panose="02020603050405020304" pitchFamily="18" charset="0"/>
              </a:rPr>
              <a:t>The audit plan is more detailed than the overall audit strategy and includes the nature, timing and extent of audit procedures to be performed by engagement team members in order to obtain sufficient appropriate audit evidence to reduce audit risk to an acceptably low level.</a:t>
            </a:r>
            <a:endParaRPr lang="en-US" sz="2800" dirty="0">
              <a:effectLst/>
              <a:latin typeface="Times New Roman" panose="02020603050405020304" pitchFamily="18" charset="0"/>
              <a:ea typeface="Times New Roman" panose="02020603050405020304" pitchFamily="18" charset="0"/>
            </a:endParaRPr>
          </a:p>
          <a:p>
            <a:endParaRPr 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800" b="1" kern="0" spc="-5" dirty="0">
                <a:effectLst/>
                <a:latin typeface="Times New Roman" panose="02020603050405020304" pitchFamily="18" charset="0"/>
                <a:ea typeface="Times New Roman" panose="02020603050405020304" pitchFamily="18" charset="0"/>
              </a:rPr>
              <a:t>The Audit Plan</a:t>
            </a:r>
            <a:endParaRPr lang="en-US" dirty="0"/>
          </a:p>
        </p:txBody>
      </p:sp>
      <p:sp>
        <p:nvSpPr>
          <p:cNvPr id="3" name="Content Placeholder 2"/>
          <p:cNvSpPr>
            <a:spLocks noGrp="1"/>
          </p:cNvSpPr>
          <p:nvPr>
            <p:ph idx="1"/>
          </p:nvPr>
        </p:nvSpPr>
        <p:spPr>
          <a:xfrm>
            <a:off x="92765" y="1845734"/>
            <a:ext cx="11940209" cy="4382788"/>
          </a:xfrm>
        </p:spPr>
        <p:txBody>
          <a:bodyPr/>
          <a:lstStyle/>
          <a:p>
            <a:pPr marL="527685" algn="just">
              <a:lnSpc>
                <a:spcPts val="1380"/>
              </a:lnSpc>
              <a:spcBef>
                <a:spcPts val="450"/>
              </a:spcBef>
              <a:spcAft>
                <a:spcPts val="0"/>
              </a:spcAft>
            </a:pPr>
            <a:r>
              <a:rPr lang="en-US" sz="2800" dirty="0">
                <a:effectLst/>
                <a:latin typeface="Times New Roman" panose="02020603050405020304" pitchFamily="18" charset="0"/>
                <a:ea typeface="Times New Roman" panose="02020603050405020304" pitchFamily="18" charset="0"/>
              </a:rPr>
              <a:t>The audit plan includes:</a:t>
            </a:r>
            <a:endParaRPr lang="en-US" sz="2800" dirty="0">
              <a:effectLst/>
              <a:latin typeface="Times New Roman" panose="02020603050405020304" pitchFamily="18" charset="0"/>
              <a:ea typeface="Times New Roman" panose="02020603050405020304" pitchFamily="18" charset="0"/>
            </a:endParaRPr>
          </a:p>
          <a:p>
            <a:pPr marL="342900" marR="1209675" lvl="0" indent="-342900" algn="just">
              <a:spcAft>
                <a:spcPts val="0"/>
              </a:spcAft>
              <a:buSzPts val="1200"/>
              <a:buFont typeface="Symbol" panose="05050102010706020507" pitchFamily="18" charset="2"/>
              <a:buChar char=""/>
              <a:tabLst>
                <a:tab pos="127127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A description of the nature, timing and extent of planned risk assessment procedures sufficient to assess the risks of material</a:t>
            </a:r>
            <a:r>
              <a:rPr lang="en-US" sz="2800" spc="-30" dirty="0">
                <a:effectLst/>
                <a:latin typeface="Times New Roman" panose="02020603050405020304" pitchFamily="18" charset="0"/>
                <a:ea typeface="Symbol" panose="05050102010706020507" pitchFamily="18" charset="2"/>
                <a:cs typeface="Symbol" panose="05050102010706020507" pitchFamily="18" charset="2"/>
              </a:rPr>
              <a:t> </a:t>
            </a:r>
            <a:r>
              <a:rPr lang="en-US" sz="2800" dirty="0">
                <a:effectLst/>
                <a:latin typeface="Times New Roman" panose="02020603050405020304" pitchFamily="18" charset="0"/>
                <a:ea typeface="Symbol" panose="05050102010706020507" pitchFamily="18" charset="2"/>
                <a:cs typeface="Symbol" panose="05050102010706020507" pitchFamily="18" charset="2"/>
              </a:rPr>
              <a:t>misstatement</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marR="1209040" lvl="0" indent="-342900" algn="just">
              <a:spcAft>
                <a:spcPts val="0"/>
              </a:spcAft>
              <a:buSzPts val="1200"/>
              <a:buFont typeface="Symbol" panose="05050102010706020507" pitchFamily="18" charset="2"/>
              <a:buChar char=""/>
              <a:tabLst>
                <a:tab pos="127127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A description of the nature, timing and extent of planned further audit procedures at the assertion level for each material class of transactions, account balance, and</a:t>
            </a:r>
            <a:r>
              <a:rPr lang="en-US" sz="2800" spc="-5" dirty="0">
                <a:effectLst/>
                <a:latin typeface="Times New Roman" panose="02020603050405020304" pitchFamily="18" charset="0"/>
                <a:ea typeface="Symbol" panose="05050102010706020507" pitchFamily="18" charset="2"/>
                <a:cs typeface="Symbol" panose="05050102010706020507" pitchFamily="18" charset="2"/>
              </a:rPr>
              <a:t> </a:t>
            </a:r>
            <a:r>
              <a:rPr lang="en-US" sz="2800" dirty="0">
                <a:effectLst/>
                <a:latin typeface="Times New Roman" panose="02020603050405020304" pitchFamily="18" charset="0"/>
                <a:ea typeface="Symbol" panose="05050102010706020507" pitchFamily="18" charset="2"/>
                <a:cs typeface="Symbol" panose="05050102010706020507" pitchFamily="18" charset="2"/>
              </a:rPr>
              <a:t>disclosure</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marR="1209040" lvl="0" indent="-342900" algn="just">
              <a:spcAft>
                <a:spcPts val="0"/>
              </a:spcAft>
              <a:buSzPts val="1200"/>
              <a:buFont typeface="Symbol" panose="05050102010706020507" pitchFamily="18" charset="2"/>
              <a:buChar char=""/>
              <a:tabLst>
                <a:tab pos="127127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The plan for further audit procedures reflects the auditor’s decision whether to test the operating effectiveness of controls, and the nature, timing and extent of planned substantive procedures;</a:t>
            </a:r>
            <a:r>
              <a:rPr lang="en-US" sz="2800" spc="295" dirty="0">
                <a:effectLst/>
                <a:latin typeface="Times New Roman" panose="02020603050405020304" pitchFamily="18" charset="0"/>
                <a:ea typeface="Symbol" panose="05050102010706020507" pitchFamily="18" charset="2"/>
                <a:cs typeface="Symbol" panose="05050102010706020507" pitchFamily="18" charset="2"/>
              </a:rPr>
              <a:t> </a:t>
            </a:r>
            <a:r>
              <a:rPr lang="en-US" sz="2800" dirty="0">
                <a:effectLst/>
                <a:latin typeface="Times New Roman" panose="02020603050405020304" pitchFamily="18" charset="0"/>
                <a:ea typeface="Symbol" panose="05050102010706020507" pitchFamily="18" charset="2"/>
                <a:cs typeface="Symbol" panose="05050102010706020507" pitchFamily="18" charset="2"/>
              </a:rPr>
              <a:t>and</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lgn="just">
              <a:lnSpc>
                <a:spcPts val="1465"/>
              </a:lnSpc>
              <a:buSzPts val="1200"/>
              <a:buFont typeface="Symbol" panose="05050102010706020507" pitchFamily="18" charset="2"/>
              <a:buChar char=""/>
              <a:tabLst>
                <a:tab pos="127127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Such other audit procedures required to be carried out for the</a:t>
            </a:r>
            <a:r>
              <a:rPr lang="en-US" sz="2800" spc="-45" dirty="0">
                <a:effectLst/>
                <a:latin typeface="Times New Roman" panose="02020603050405020304" pitchFamily="18" charset="0"/>
                <a:ea typeface="Symbol" panose="05050102010706020507" pitchFamily="18" charset="2"/>
                <a:cs typeface="Symbol" panose="05050102010706020507" pitchFamily="18" charset="2"/>
              </a:rPr>
              <a:t> </a:t>
            </a:r>
            <a:r>
              <a:rPr lang="en-US" sz="2800" dirty="0">
                <a:effectLst/>
                <a:latin typeface="Times New Roman" panose="02020603050405020304" pitchFamily="18" charset="0"/>
                <a:ea typeface="Symbol" panose="05050102010706020507" pitchFamily="18" charset="2"/>
                <a:cs typeface="Symbol" panose="05050102010706020507" pitchFamily="18" charset="2"/>
              </a:rPr>
              <a:t>engagement</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b="1" kern="0" spc="-5" dirty="0">
                <a:effectLst/>
                <a:latin typeface="Times New Roman" panose="02020603050405020304" pitchFamily="18" charset="0"/>
                <a:ea typeface="Times New Roman" panose="02020603050405020304" pitchFamily="18" charset="0"/>
              </a:rPr>
              <a:t>Audit Planning Memorandum</a:t>
            </a:r>
            <a:br>
              <a:rPr lang="en-US" sz="4000" b="1" kern="0" spc="-5" dirty="0">
                <a:effectLst/>
                <a:latin typeface="Times New Roman" panose="02020603050405020304" pitchFamily="18" charset="0"/>
                <a:ea typeface="Times New Roman" panose="02020603050405020304" pitchFamily="18" charset="0"/>
              </a:rPr>
            </a:br>
            <a:endParaRPr lang="en-US" sz="4000" dirty="0"/>
          </a:p>
        </p:txBody>
      </p:sp>
      <p:sp>
        <p:nvSpPr>
          <p:cNvPr id="3" name="Content Placeholder 2"/>
          <p:cNvSpPr>
            <a:spLocks noGrp="1"/>
          </p:cNvSpPr>
          <p:nvPr>
            <p:ph idx="1"/>
          </p:nvPr>
        </p:nvSpPr>
        <p:spPr>
          <a:xfrm>
            <a:off x="132521" y="1845734"/>
            <a:ext cx="11860695" cy="4369536"/>
          </a:xfrm>
        </p:spPr>
        <p:txBody>
          <a:bodyPr>
            <a:normAutofit/>
          </a:bodyPr>
          <a:lstStyle/>
          <a:p>
            <a:pPr marL="436245" marR="1176020" indent="0">
              <a:spcAft>
                <a:spcPts val="0"/>
              </a:spcAft>
              <a:buNone/>
            </a:pPr>
            <a:r>
              <a:rPr lang="en-US" sz="2800" dirty="0">
                <a:effectLst/>
                <a:latin typeface="Times New Roman" panose="02020603050405020304" pitchFamily="18" charset="0"/>
                <a:ea typeface="Times New Roman" panose="02020603050405020304" pitchFamily="18" charset="0"/>
              </a:rPr>
              <a:t>It is essential that the auditor documents the overall audit plan to cover the following areas:</a:t>
            </a:r>
            <a:endParaRPr lang="en-US" sz="2800" dirty="0">
              <a:effectLst/>
              <a:latin typeface="Times New Roman" panose="02020603050405020304" pitchFamily="18" charset="0"/>
              <a:ea typeface="Times New Roman" panose="02020603050405020304" pitchFamily="18" charset="0"/>
            </a:endParaRPr>
          </a:p>
          <a:p>
            <a:pPr marL="342900" lvl="0" indent="-342900">
              <a:lnSpc>
                <a:spcPts val="1470"/>
              </a:lnSpc>
              <a:buSzPts val="1200"/>
              <a:buFont typeface="Symbol" panose="05050102010706020507" pitchFamily="18" charset="2"/>
              <a:buChar char=""/>
              <a:tabLst>
                <a:tab pos="984885" algn="l"/>
                <a:tab pos="98552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The timing of the audit</a:t>
            </a:r>
            <a:r>
              <a:rPr lang="en-US" sz="2800" spc="-20" dirty="0">
                <a:effectLst/>
                <a:latin typeface="Times New Roman" panose="02020603050405020304" pitchFamily="18" charset="0"/>
                <a:ea typeface="Symbol" panose="05050102010706020507" pitchFamily="18" charset="2"/>
                <a:cs typeface="Symbol" panose="05050102010706020507" pitchFamily="18" charset="2"/>
              </a:rPr>
              <a:t> </a:t>
            </a:r>
            <a:r>
              <a:rPr lang="en-US" sz="2800" dirty="0">
                <a:effectLst/>
                <a:latin typeface="Times New Roman" panose="02020603050405020304" pitchFamily="18" charset="0"/>
                <a:ea typeface="Symbol" panose="05050102010706020507" pitchFamily="18" charset="2"/>
                <a:cs typeface="Symbol" panose="05050102010706020507" pitchFamily="18" charset="2"/>
              </a:rPr>
              <a:t>work,</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lnSpc>
                <a:spcPts val="1465"/>
              </a:lnSpc>
              <a:buSzPts val="1200"/>
              <a:buFont typeface="Symbol" panose="05050102010706020507" pitchFamily="18" charset="2"/>
              <a:buChar char=""/>
              <a:tabLst>
                <a:tab pos="984885" algn="l"/>
                <a:tab pos="98552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The changes of the client’s business since the previous</a:t>
            </a:r>
            <a:r>
              <a:rPr lang="en-US" sz="2800" spc="-15" dirty="0">
                <a:effectLst/>
                <a:latin typeface="Times New Roman" panose="02020603050405020304" pitchFamily="18" charset="0"/>
                <a:ea typeface="Symbol" panose="05050102010706020507" pitchFamily="18" charset="2"/>
                <a:cs typeface="Symbol" panose="05050102010706020507" pitchFamily="18" charset="2"/>
              </a:rPr>
              <a:t> </a:t>
            </a:r>
            <a:r>
              <a:rPr lang="en-US" sz="2800" dirty="0">
                <a:effectLst/>
                <a:latin typeface="Times New Roman" panose="02020603050405020304" pitchFamily="18" charset="0"/>
                <a:ea typeface="Symbol" panose="05050102010706020507" pitchFamily="18" charset="2"/>
                <a:cs typeface="Symbol" panose="05050102010706020507" pitchFamily="18" charset="2"/>
              </a:rPr>
              <a:t>audit;</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lnSpc>
                <a:spcPts val="1465"/>
              </a:lnSpc>
              <a:buSzPts val="1200"/>
              <a:buFont typeface="Symbol" panose="05050102010706020507" pitchFamily="18" charset="2"/>
              <a:buChar char=""/>
              <a:tabLst>
                <a:tab pos="984885" algn="l"/>
                <a:tab pos="98552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The various decisions taken as a result of the planning</a:t>
            </a:r>
            <a:r>
              <a:rPr lang="en-US" sz="2800" spc="-20" dirty="0">
                <a:effectLst/>
                <a:latin typeface="Times New Roman" panose="02020603050405020304" pitchFamily="18" charset="0"/>
                <a:ea typeface="Symbol" panose="05050102010706020507" pitchFamily="18" charset="2"/>
                <a:cs typeface="Symbol" panose="05050102010706020507" pitchFamily="18" charset="2"/>
              </a:rPr>
              <a:t> </a:t>
            </a:r>
            <a:r>
              <a:rPr lang="en-US" sz="2800" dirty="0">
                <a:effectLst/>
                <a:latin typeface="Times New Roman" panose="02020603050405020304" pitchFamily="18" charset="0"/>
                <a:ea typeface="Symbol" panose="05050102010706020507" pitchFamily="18" charset="2"/>
                <a:cs typeface="Symbol" panose="05050102010706020507" pitchFamily="18" charset="2"/>
              </a:rPr>
              <a:t>process;</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lnSpc>
                <a:spcPts val="1465"/>
              </a:lnSpc>
              <a:buSzPts val="1200"/>
              <a:buFont typeface="Symbol" panose="05050102010706020507" pitchFamily="18" charset="2"/>
              <a:buChar char=""/>
              <a:tabLst>
                <a:tab pos="984885" algn="l"/>
                <a:tab pos="98552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The assessment of the internal audit of the</a:t>
            </a:r>
            <a:r>
              <a:rPr lang="en-US" sz="2800" spc="-20" dirty="0">
                <a:effectLst/>
                <a:latin typeface="Times New Roman" panose="02020603050405020304" pitchFamily="18" charset="0"/>
                <a:ea typeface="Symbol" panose="05050102010706020507" pitchFamily="18" charset="2"/>
                <a:cs typeface="Symbol" panose="05050102010706020507" pitchFamily="18" charset="2"/>
              </a:rPr>
              <a:t> </a:t>
            </a:r>
            <a:r>
              <a:rPr lang="en-US" sz="2800" dirty="0">
                <a:effectLst/>
                <a:latin typeface="Times New Roman" panose="02020603050405020304" pitchFamily="18" charset="0"/>
                <a:ea typeface="Symbol" panose="05050102010706020507" pitchFamily="18" charset="2"/>
                <a:cs typeface="Symbol" panose="05050102010706020507" pitchFamily="18" charset="2"/>
              </a:rPr>
              <a:t>client;</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lnSpc>
                <a:spcPts val="1465"/>
              </a:lnSpc>
              <a:buSzPts val="1200"/>
              <a:buFont typeface="Symbol" panose="05050102010706020507" pitchFamily="18" charset="2"/>
              <a:buChar char=""/>
              <a:tabLst>
                <a:tab pos="1022985" algn="l"/>
                <a:tab pos="102362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The briefing instructions to the audit</a:t>
            </a:r>
            <a:r>
              <a:rPr lang="en-US" sz="2800" spc="-10" dirty="0">
                <a:effectLst/>
                <a:latin typeface="Times New Roman" panose="02020603050405020304" pitchFamily="18" charset="0"/>
                <a:ea typeface="Symbol" panose="05050102010706020507" pitchFamily="18" charset="2"/>
                <a:cs typeface="Symbol" panose="05050102010706020507" pitchFamily="18" charset="2"/>
              </a:rPr>
              <a:t> </a:t>
            </a:r>
            <a:r>
              <a:rPr lang="en-US" sz="2800" dirty="0">
                <a:effectLst/>
                <a:latin typeface="Times New Roman" panose="02020603050405020304" pitchFamily="18" charset="0"/>
                <a:ea typeface="Symbol" panose="05050102010706020507" pitchFamily="18" charset="2"/>
                <a:cs typeface="Symbol" panose="05050102010706020507" pitchFamily="18" charset="2"/>
              </a:rPr>
              <a:t>team;</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lnSpc>
                <a:spcPts val="1465"/>
              </a:lnSpc>
              <a:buSzPts val="1200"/>
              <a:buFont typeface="Symbol" panose="05050102010706020507" pitchFamily="18" charset="2"/>
              <a:buChar char=""/>
              <a:tabLst>
                <a:tab pos="984885" algn="l"/>
                <a:tab pos="98552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The control of the audit, supervision and review of the audit</a:t>
            </a:r>
            <a:r>
              <a:rPr lang="en-US" sz="2800" spc="-45" dirty="0">
                <a:effectLst/>
                <a:latin typeface="Times New Roman" panose="02020603050405020304" pitchFamily="18" charset="0"/>
                <a:ea typeface="Symbol" panose="05050102010706020507" pitchFamily="18" charset="2"/>
                <a:cs typeface="Symbol" panose="05050102010706020507" pitchFamily="18" charset="2"/>
              </a:rPr>
              <a:t> </a:t>
            </a:r>
            <a:r>
              <a:rPr lang="en-US" sz="2800" dirty="0">
                <a:effectLst/>
                <a:latin typeface="Times New Roman" panose="02020603050405020304" pitchFamily="18" charset="0"/>
                <a:ea typeface="Symbol" panose="05050102010706020507" pitchFamily="18" charset="2"/>
                <a:cs typeface="Symbol" panose="05050102010706020507" pitchFamily="18" charset="2"/>
              </a:rPr>
              <a:t>work;</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lnSpc>
                <a:spcPts val="1465"/>
              </a:lnSpc>
              <a:buSzPts val="1200"/>
              <a:buFont typeface="Symbol" panose="05050102010706020507" pitchFamily="18" charset="2"/>
              <a:buChar char=""/>
              <a:tabLst>
                <a:tab pos="984885" algn="l"/>
                <a:tab pos="98552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The staff and time</a:t>
            </a:r>
            <a:r>
              <a:rPr lang="en-US" sz="2800" spc="-5" dirty="0">
                <a:effectLst/>
                <a:latin typeface="Times New Roman" panose="02020603050405020304" pitchFamily="18" charset="0"/>
                <a:ea typeface="Symbol" panose="05050102010706020507" pitchFamily="18" charset="2"/>
                <a:cs typeface="Symbol" panose="05050102010706020507" pitchFamily="18" charset="2"/>
              </a:rPr>
              <a:t> </a:t>
            </a:r>
            <a:r>
              <a:rPr lang="en-US" sz="2800" dirty="0">
                <a:effectLst/>
                <a:latin typeface="Times New Roman" panose="02020603050405020304" pitchFamily="18" charset="0"/>
                <a:ea typeface="Symbol" panose="05050102010706020507" pitchFamily="18" charset="2"/>
                <a:cs typeface="Symbol" panose="05050102010706020507" pitchFamily="18" charset="2"/>
              </a:rPr>
              <a:t>budget.</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a:spcBef>
                <a:spcPts val="5"/>
              </a:spcBef>
            </a:pPr>
            <a:r>
              <a:rPr lang="en-US" sz="2800" dirty="0">
                <a:effectLst/>
                <a:latin typeface="Times New Roman" panose="02020603050405020304" pitchFamily="18" charset="0"/>
                <a:ea typeface="Times New Roman" panose="02020603050405020304" pitchFamily="18" charset="0"/>
              </a:rPr>
              <a:t> </a:t>
            </a:r>
            <a:endParaRPr lang="en-US" sz="2800" dirty="0">
              <a:effectLst/>
              <a:latin typeface="Times New Roman" panose="02020603050405020304" pitchFamily="18" charset="0"/>
              <a:ea typeface="Times New Roman" panose="02020603050405020304" pitchFamily="18" charset="0"/>
            </a:endParaRPr>
          </a:p>
          <a:p>
            <a:endParaRPr lang="en-US"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800" b="1" kern="0" spc="-5" dirty="0">
                <a:effectLst/>
                <a:latin typeface="Times New Roman" panose="02020603050405020304" pitchFamily="18" charset="0"/>
                <a:ea typeface="Times New Roman" panose="02020603050405020304" pitchFamily="18" charset="0"/>
              </a:rPr>
              <a:t>Audit Planning Memorandum</a:t>
            </a:r>
            <a:endParaRPr lang="en-US" dirty="0"/>
          </a:p>
        </p:txBody>
      </p:sp>
      <p:sp>
        <p:nvSpPr>
          <p:cNvPr id="3" name="Content Placeholder 2"/>
          <p:cNvSpPr>
            <a:spLocks noGrp="1"/>
          </p:cNvSpPr>
          <p:nvPr>
            <p:ph idx="1"/>
          </p:nvPr>
        </p:nvSpPr>
        <p:spPr>
          <a:xfrm>
            <a:off x="212035" y="1845734"/>
            <a:ext cx="11794435" cy="4023360"/>
          </a:xfrm>
        </p:spPr>
        <p:txBody>
          <a:bodyPr>
            <a:normAutofit lnSpcReduction="10000"/>
          </a:bodyPr>
          <a:lstStyle/>
          <a:p>
            <a:pPr marL="528320" marR="1186815" algn="just">
              <a:spcAft>
                <a:spcPts val="0"/>
              </a:spcAft>
            </a:pPr>
            <a:r>
              <a:rPr lang="en-US" sz="2800" dirty="0">
                <a:effectLst/>
                <a:latin typeface="Times New Roman" panose="02020603050405020304" pitchFamily="18" charset="0"/>
                <a:ea typeface="Times New Roman" panose="02020603050405020304" pitchFamily="18" charset="0"/>
              </a:rPr>
              <a:t>Although the planning memorandum is prepared before the start of the audit work, it is worth noting that the audit work does not end there. As the audit work progresses, the auditor reviews the plan and revises it appropriately.</a:t>
            </a:r>
            <a:endParaRPr lang="en-US" sz="2800" dirty="0">
              <a:effectLst/>
              <a:latin typeface="Times New Roman" panose="02020603050405020304" pitchFamily="18" charset="0"/>
              <a:ea typeface="Times New Roman" panose="02020603050405020304" pitchFamily="18" charset="0"/>
            </a:endParaRPr>
          </a:p>
          <a:p>
            <a:r>
              <a:rPr lang="en-US" sz="2800" dirty="0">
                <a:effectLst/>
                <a:latin typeface="Times New Roman" panose="02020603050405020304" pitchFamily="18" charset="0"/>
                <a:ea typeface="Times New Roman" panose="02020603050405020304" pitchFamily="18" charset="0"/>
              </a:rPr>
              <a:t> </a:t>
            </a:r>
            <a:endParaRPr lang="en-US" sz="2800" dirty="0">
              <a:effectLst/>
              <a:latin typeface="Times New Roman" panose="02020603050405020304" pitchFamily="18" charset="0"/>
              <a:ea typeface="Times New Roman" panose="02020603050405020304" pitchFamily="18" charset="0"/>
            </a:endParaRPr>
          </a:p>
          <a:p>
            <a:r>
              <a:rPr lang="en-US" sz="2800" dirty="0">
                <a:effectLst/>
                <a:latin typeface="Times New Roman" panose="02020603050405020304" pitchFamily="18" charset="0"/>
                <a:ea typeface="Times New Roman" panose="02020603050405020304" pitchFamily="18" charset="0"/>
              </a:rPr>
              <a:t>In recent times, many auditing firms have formalized the documentation of their planning process by the use of Standard Audit Planning Memorandum. This standard document is used to record the initial planning decisions and is reviewed during the audit to suit the peculiar circumstances of the client and the audit</a:t>
            </a:r>
            <a:r>
              <a:rPr lang="en-US" sz="2800" spc="-60"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assignment.</a:t>
            </a:r>
            <a:endParaRPr lang="en-US" sz="2800" dirty="0">
              <a:effectLst/>
              <a:latin typeface="Times New Roman" panose="02020603050405020304" pitchFamily="18" charset="0"/>
              <a:ea typeface="Times New Roman" panose="02020603050405020304" pitchFamily="18" charset="0"/>
            </a:endParaRP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1304" y="286603"/>
            <a:ext cx="11383618" cy="1450757"/>
          </a:xfrm>
        </p:spPr>
        <p:txBody>
          <a:bodyPr>
            <a:normAutofit/>
          </a:bodyPr>
          <a:lstStyle/>
          <a:p>
            <a:pPr algn="ctr"/>
            <a:r>
              <a:rPr lang="en-US" sz="4000" b="1" dirty="0">
                <a:effectLst/>
                <a:latin typeface="Times New Roman" panose="02020603050405020304" pitchFamily="18" charset="0"/>
                <a:ea typeface="Times New Roman" panose="02020603050405020304" pitchFamily="18" charset="0"/>
              </a:rPr>
              <a:t>KNOWLEDGE OF THE CLIENT BUSINESS</a:t>
            </a:r>
            <a:endParaRPr lang="en-US" sz="4000" dirty="0"/>
          </a:p>
        </p:txBody>
      </p:sp>
      <p:sp>
        <p:nvSpPr>
          <p:cNvPr id="3" name="Content Placeholder 2"/>
          <p:cNvSpPr>
            <a:spLocks noGrp="1"/>
          </p:cNvSpPr>
          <p:nvPr>
            <p:ph idx="1"/>
          </p:nvPr>
        </p:nvSpPr>
        <p:spPr>
          <a:xfrm>
            <a:off x="132522" y="1845734"/>
            <a:ext cx="11940208" cy="4382788"/>
          </a:xfrm>
        </p:spPr>
        <p:txBody>
          <a:bodyPr>
            <a:normAutofit/>
          </a:bodyPr>
          <a:lstStyle/>
          <a:p>
            <a:pPr marL="457200" lvl="1" indent="0" algn="just">
              <a:lnSpc>
                <a:spcPts val="1610"/>
              </a:lnSpc>
              <a:spcBef>
                <a:spcPts val="585"/>
              </a:spcBef>
              <a:spcAft>
                <a:spcPts val="0"/>
              </a:spcAft>
              <a:buSzPts val="1400"/>
              <a:buNone/>
              <a:tabLst>
                <a:tab pos="985520" algn="l"/>
              </a:tabLst>
            </a:pPr>
            <a:r>
              <a:rPr lang="en-US" sz="2800" b="1" kern="0" spc="-5" dirty="0">
                <a:effectLst/>
                <a:latin typeface="Times New Roman" panose="02020603050405020304" pitchFamily="18" charset="0"/>
                <a:ea typeface="Times New Roman" panose="02020603050405020304" pitchFamily="18" charset="0"/>
              </a:rPr>
              <a:t>Introduction</a:t>
            </a:r>
            <a:endParaRPr lang="en-US" sz="2800" b="1" kern="0" spc="-5" dirty="0">
              <a:effectLst/>
              <a:latin typeface="Times New Roman" panose="02020603050405020304" pitchFamily="18" charset="0"/>
              <a:ea typeface="Times New Roman" panose="02020603050405020304" pitchFamily="18" charset="0"/>
            </a:endParaRPr>
          </a:p>
          <a:p>
            <a:pPr marL="527685" marR="1208405" algn="just">
              <a:spcAft>
                <a:spcPts val="0"/>
              </a:spcAft>
            </a:pPr>
            <a:r>
              <a:rPr lang="en-US" sz="2800" dirty="0">
                <a:effectLst/>
                <a:latin typeface="Times New Roman" panose="02020603050405020304" pitchFamily="18" charset="0"/>
                <a:ea typeface="Times New Roman" panose="02020603050405020304" pitchFamily="18" charset="0"/>
              </a:rPr>
              <a:t>Prior to acceptance of an engagement, the auditors should obtain a preliminary knowledge of the industry and ownership, management and operations of the prospective client, sufficient to enable them consider their ability and willingness to undertake the audit.</a:t>
            </a:r>
            <a:endParaRPr lang="en-US" sz="2800" dirty="0">
              <a:effectLst/>
              <a:latin typeface="Times New Roman" panose="02020603050405020304" pitchFamily="18" charset="0"/>
              <a:ea typeface="Times New Roman" panose="02020603050405020304" pitchFamily="18" charset="0"/>
            </a:endParaRPr>
          </a:p>
          <a:p>
            <a:pPr marL="1143000" lvl="2" indent="-228600">
              <a:buSzPts val="1200"/>
              <a:buFont typeface="Times New Roman" panose="02020603050405020304" pitchFamily="18" charset="0"/>
              <a:buAutoNum type="arabicPeriod"/>
              <a:tabLst>
                <a:tab pos="985520" algn="l"/>
              </a:tabLst>
            </a:pPr>
            <a:r>
              <a:rPr lang="en-US" sz="2800" spc="-10" dirty="0">
                <a:effectLst/>
                <a:latin typeface="Times New Roman" panose="02020603050405020304" pitchFamily="18" charset="0"/>
                <a:ea typeface="Times New Roman" panose="02020603050405020304" pitchFamily="18" charset="0"/>
              </a:rPr>
              <a:t>Understanding the Entity and its</a:t>
            </a:r>
            <a:r>
              <a:rPr lang="en-US" sz="2800" spc="-5" dirty="0">
                <a:effectLst/>
                <a:latin typeface="Times New Roman" panose="02020603050405020304" pitchFamily="18" charset="0"/>
                <a:ea typeface="Times New Roman" panose="02020603050405020304" pitchFamily="18" charset="0"/>
              </a:rPr>
              <a:t> </a:t>
            </a:r>
            <a:r>
              <a:rPr lang="en-US" sz="2800" spc="-10" dirty="0">
                <a:effectLst/>
                <a:latin typeface="Times New Roman" panose="02020603050405020304" pitchFamily="18" charset="0"/>
                <a:ea typeface="Times New Roman" panose="02020603050405020304" pitchFamily="18" charset="0"/>
              </a:rPr>
              <a:t>Environment</a:t>
            </a:r>
            <a:endParaRPr lang="en-US" sz="2800" spc="-10" dirty="0">
              <a:effectLst/>
              <a:latin typeface="Times New Roman" panose="02020603050405020304" pitchFamily="18" charset="0"/>
              <a:ea typeface="Times New Roman" panose="02020603050405020304" pitchFamily="18" charset="0"/>
            </a:endParaRPr>
          </a:p>
          <a:p>
            <a:pPr marL="1143000" lvl="2" indent="-228600">
              <a:buSzPts val="1200"/>
              <a:buFont typeface="Times New Roman" panose="02020603050405020304" pitchFamily="18" charset="0"/>
              <a:buAutoNum type="arabicPeriod"/>
              <a:tabLst>
                <a:tab pos="985520" algn="l"/>
              </a:tabLst>
            </a:pPr>
            <a:r>
              <a:rPr lang="en-US" sz="2800" spc="-10" dirty="0">
                <a:effectLst/>
                <a:latin typeface="Times New Roman" panose="02020603050405020304" pitchFamily="18" charset="0"/>
                <a:ea typeface="Times New Roman" panose="02020603050405020304" pitchFamily="18" charset="0"/>
              </a:rPr>
              <a:t>Sources of Knowledge</a:t>
            </a:r>
            <a:endParaRPr lang="en-US" sz="2800" spc="-10" dirty="0">
              <a:effectLst/>
              <a:latin typeface="Times New Roman" panose="02020603050405020304" pitchFamily="18" charset="0"/>
              <a:ea typeface="Times New Roman" panose="02020603050405020304" pitchFamily="18" charset="0"/>
            </a:endParaRPr>
          </a:p>
          <a:p>
            <a:pPr marL="1143000" lvl="2" indent="-228600">
              <a:buSzPts val="1200"/>
              <a:buFont typeface="Times New Roman" panose="02020603050405020304" pitchFamily="18" charset="0"/>
              <a:buAutoNum type="arabicPeriod"/>
              <a:tabLst>
                <a:tab pos="985520" algn="l"/>
              </a:tabLst>
            </a:pPr>
            <a:r>
              <a:rPr lang="en-US" sz="2800" spc="-10" dirty="0">
                <a:effectLst/>
                <a:latin typeface="Times New Roman" panose="02020603050405020304" pitchFamily="18" charset="0"/>
                <a:ea typeface="Times New Roman" panose="02020603050405020304" pitchFamily="18" charset="0"/>
              </a:rPr>
              <a:t>Using the</a:t>
            </a:r>
            <a:r>
              <a:rPr lang="en-US" sz="2800" spc="-5" dirty="0">
                <a:effectLst/>
                <a:latin typeface="Times New Roman" panose="02020603050405020304" pitchFamily="18" charset="0"/>
                <a:ea typeface="Times New Roman" panose="02020603050405020304" pitchFamily="18" charset="0"/>
              </a:rPr>
              <a:t> </a:t>
            </a:r>
            <a:r>
              <a:rPr lang="en-US" sz="2800" spc="-10" dirty="0">
                <a:effectLst/>
                <a:latin typeface="Times New Roman" panose="02020603050405020304" pitchFamily="18" charset="0"/>
                <a:ea typeface="Times New Roman" panose="02020603050405020304" pitchFamily="18" charset="0"/>
              </a:rPr>
              <a:t>Knowledge</a:t>
            </a:r>
            <a:endParaRPr lang="en-US" sz="2800" spc="-10" dirty="0">
              <a:effectLst/>
              <a:latin typeface="Times New Roman" panose="02020603050405020304" pitchFamily="18" charset="0"/>
              <a:ea typeface="Times New Roman" panose="02020603050405020304" pitchFamily="18" charset="0"/>
            </a:endParaRPr>
          </a:p>
          <a:p>
            <a:pPr marL="1143000" lvl="2" indent="-228600">
              <a:buSzPts val="1200"/>
              <a:buFont typeface="Times New Roman" panose="02020603050405020304" pitchFamily="18" charset="0"/>
              <a:buAutoNum type="arabicPeriod"/>
              <a:tabLst>
                <a:tab pos="985520" algn="l"/>
              </a:tabLst>
            </a:pPr>
            <a:r>
              <a:rPr lang="en-US" sz="2800" spc="-10" dirty="0">
                <a:effectLst/>
                <a:latin typeface="Times New Roman" panose="02020603050405020304" pitchFamily="18" charset="0"/>
                <a:ea typeface="Times New Roman" panose="02020603050405020304" pitchFamily="18" charset="0"/>
              </a:rPr>
              <a:t>Matters to Consider in Relation to Knowledge of the</a:t>
            </a:r>
            <a:r>
              <a:rPr lang="en-US" sz="2800" spc="-25" dirty="0">
                <a:effectLst/>
                <a:latin typeface="Times New Roman" panose="02020603050405020304" pitchFamily="18" charset="0"/>
                <a:ea typeface="Times New Roman" panose="02020603050405020304" pitchFamily="18" charset="0"/>
              </a:rPr>
              <a:t> </a:t>
            </a:r>
            <a:r>
              <a:rPr lang="en-US" sz="2800" spc="-10" dirty="0">
                <a:effectLst/>
                <a:latin typeface="Times New Roman" panose="02020603050405020304" pitchFamily="18" charset="0"/>
                <a:ea typeface="Times New Roman" panose="02020603050405020304" pitchFamily="18" charset="0"/>
              </a:rPr>
              <a:t>Business</a:t>
            </a:r>
            <a:endParaRPr lang="en-US" sz="2800" spc="-10" dirty="0">
              <a:effectLst/>
              <a:latin typeface="Times New Roman" panose="02020603050405020304" pitchFamily="18" charset="0"/>
              <a:ea typeface="Times New Roman" panose="02020603050405020304" pitchFamily="18" charset="0"/>
            </a:endParaRPr>
          </a:p>
          <a:p>
            <a:endParaRPr lang="en-US" sz="2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000" b="1" kern="0" spc="-5" dirty="0">
                <a:effectLst/>
                <a:latin typeface="Times New Roman" panose="02020603050405020304" pitchFamily="18" charset="0"/>
                <a:ea typeface="Times New Roman" panose="02020603050405020304" pitchFamily="18" charset="0"/>
              </a:rPr>
              <a:t>Understanding the entity and its</a:t>
            </a:r>
            <a:r>
              <a:rPr lang="en-US" sz="4000" b="1" kern="0" spc="-35" dirty="0">
                <a:effectLst/>
                <a:latin typeface="Times New Roman" panose="02020603050405020304" pitchFamily="18" charset="0"/>
                <a:ea typeface="Times New Roman" panose="02020603050405020304" pitchFamily="18" charset="0"/>
              </a:rPr>
              <a:t> </a:t>
            </a:r>
            <a:r>
              <a:rPr lang="en-US" sz="4000" b="1" kern="0" spc="-5" dirty="0">
                <a:effectLst/>
                <a:latin typeface="Times New Roman" panose="02020603050405020304" pitchFamily="18" charset="0"/>
                <a:ea typeface="Times New Roman" panose="02020603050405020304" pitchFamily="18" charset="0"/>
              </a:rPr>
              <a:t>environment</a:t>
            </a:r>
            <a:br>
              <a:rPr lang="en-US" sz="1800" b="1" kern="0" spc="-5" dirty="0">
                <a:effectLst/>
                <a:latin typeface="Times New Roman" panose="02020603050405020304" pitchFamily="18" charset="0"/>
                <a:ea typeface="Times New Roman" panose="02020603050405020304" pitchFamily="18" charset="0"/>
              </a:rPr>
            </a:br>
            <a:endParaRPr lang="en-US" dirty="0"/>
          </a:p>
        </p:txBody>
      </p:sp>
      <p:sp>
        <p:nvSpPr>
          <p:cNvPr id="3" name="Content Placeholder 2"/>
          <p:cNvSpPr>
            <a:spLocks noGrp="1"/>
          </p:cNvSpPr>
          <p:nvPr>
            <p:ph idx="1"/>
          </p:nvPr>
        </p:nvSpPr>
        <p:spPr>
          <a:xfrm>
            <a:off x="106017" y="1845733"/>
            <a:ext cx="11940209" cy="4356283"/>
          </a:xfrm>
        </p:spPr>
        <p:txBody>
          <a:bodyPr>
            <a:normAutofit/>
          </a:bodyPr>
          <a:lstStyle/>
          <a:p>
            <a:pPr marL="893445" marR="1187450" indent="-457200" algn="just">
              <a:spcAft>
                <a:spcPts val="0"/>
              </a:spcAft>
              <a:buFont typeface="Arial" panose="020B0604020202020204" pitchFamily="34" charset="0"/>
              <a:buChar char="•"/>
            </a:pPr>
            <a:r>
              <a:rPr lang="en-US" sz="2800" dirty="0">
                <a:effectLst/>
                <a:latin typeface="Times New Roman" panose="02020603050405020304" pitchFamily="18" charset="0"/>
                <a:ea typeface="Times New Roman" panose="02020603050405020304" pitchFamily="18" charset="0"/>
              </a:rPr>
              <a:t>Without an in-depth understanding of the audited entity, it is impossible to properly assess the risk of material misstatement. </a:t>
            </a:r>
            <a:endParaRPr lang="en-US" sz="2800" dirty="0">
              <a:effectLst/>
              <a:latin typeface="Times New Roman" panose="02020603050405020304" pitchFamily="18" charset="0"/>
              <a:ea typeface="Times New Roman" panose="02020603050405020304" pitchFamily="18" charset="0"/>
            </a:endParaRPr>
          </a:p>
          <a:p>
            <a:pPr marL="893445" marR="1187450" indent="-457200" algn="just">
              <a:spcAft>
                <a:spcPts val="0"/>
              </a:spcAft>
              <a:buFont typeface="Arial" panose="020B0604020202020204" pitchFamily="34" charset="0"/>
              <a:buChar char="•"/>
            </a:pPr>
            <a:r>
              <a:rPr lang="en-US" sz="2800" dirty="0">
                <a:effectLst/>
                <a:latin typeface="Times New Roman" panose="02020603050405020304" pitchFamily="18" charset="0"/>
                <a:ea typeface="Times New Roman" panose="02020603050405020304" pitchFamily="18" charset="0"/>
              </a:rPr>
              <a:t>ISA 315 requires that the auditor obtains an understanding relating to five aspects of the audited entity:</a:t>
            </a:r>
            <a:endParaRPr lang="en-US" sz="2800" dirty="0">
              <a:effectLst/>
              <a:latin typeface="Times New Roman" panose="02020603050405020304" pitchFamily="18" charset="0"/>
              <a:ea typeface="Times New Roman" panose="02020603050405020304" pitchFamily="18" charset="0"/>
            </a:endParaRPr>
          </a:p>
          <a:p>
            <a:pPr marL="1143000" marR="1186180" lvl="2" indent="-228600" algn="just">
              <a:spcAft>
                <a:spcPts val="0"/>
              </a:spcAft>
              <a:buSzPts val="1200"/>
              <a:buFont typeface="Times New Roman" panose="02020603050405020304" pitchFamily="18" charset="0"/>
              <a:buAutoNum type="arabicPeriod"/>
              <a:tabLst>
                <a:tab pos="985520" algn="l"/>
              </a:tabLst>
            </a:pPr>
            <a:r>
              <a:rPr lang="en-US" sz="2800" spc="-10" dirty="0">
                <a:effectLst/>
                <a:latin typeface="Times New Roman" panose="02020603050405020304" pitchFamily="18" charset="0"/>
                <a:ea typeface="Times New Roman" panose="02020603050405020304" pitchFamily="18" charset="0"/>
              </a:rPr>
              <a:t>relevant industry, regulatory and other external factors including the applicable financial reporting</a:t>
            </a:r>
            <a:r>
              <a:rPr lang="en-US" sz="2800" spc="-20" dirty="0">
                <a:effectLst/>
                <a:latin typeface="Times New Roman" panose="02020603050405020304" pitchFamily="18" charset="0"/>
                <a:ea typeface="Times New Roman" panose="02020603050405020304" pitchFamily="18" charset="0"/>
              </a:rPr>
              <a:t> </a:t>
            </a:r>
            <a:r>
              <a:rPr lang="en-US" sz="2800" spc="-10" dirty="0">
                <a:effectLst/>
                <a:latin typeface="Times New Roman" panose="02020603050405020304" pitchFamily="18" charset="0"/>
                <a:ea typeface="Times New Roman" panose="02020603050405020304" pitchFamily="18" charset="0"/>
              </a:rPr>
              <a:t>framework</a:t>
            </a:r>
            <a:endParaRPr lang="en-US" sz="2800" spc="-10" dirty="0">
              <a:effectLst/>
              <a:latin typeface="Times New Roman" panose="02020603050405020304" pitchFamily="18" charset="0"/>
              <a:ea typeface="Times New Roman" panose="02020603050405020304" pitchFamily="18" charset="0"/>
            </a:endParaRPr>
          </a:p>
          <a:p>
            <a:pPr marL="1143000" marR="1186180" lvl="2" indent="-228600" algn="just">
              <a:spcAft>
                <a:spcPts val="0"/>
              </a:spcAft>
              <a:buSzPts val="1200"/>
              <a:buFont typeface="Times New Roman" panose="02020603050405020304" pitchFamily="18" charset="0"/>
              <a:buAutoNum type="arabicPeriod"/>
              <a:tabLst>
                <a:tab pos="985520" algn="l"/>
              </a:tabLst>
            </a:pPr>
            <a:endParaRPr lang="en-US" sz="2800" spc="-10" dirty="0">
              <a:effectLst/>
              <a:latin typeface="Times New Roman" panose="02020603050405020304" pitchFamily="18" charset="0"/>
              <a:ea typeface="Times New Roman" panose="02020603050405020304" pitchFamily="18" charset="0"/>
            </a:endParaRPr>
          </a:p>
          <a:p>
            <a:pPr marL="1143000" marR="1186180" lvl="2" indent="-228600" algn="just">
              <a:spcAft>
                <a:spcPts val="0"/>
              </a:spcAft>
              <a:buSzPts val="1200"/>
              <a:buFont typeface="Times New Roman" panose="02020603050405020304" pitchFamily="18" charset="0"/>
              <a:buAutoNum type="arabicPeriod"/>
              <a:tabLst>
                <a:tab pos="985520" algn="l"/>
              </a:tabLst>
            </a:pPr>
            <a:r>
              <a:rPr lang="en-US" sz="2800" spc="-10" dirty="0">
                <a:effectLst/>
                <a:latin typeface="Times New Roman" panose="02020603050405020304" pitchFamily="18" charset="0"/>
                <a:ea typeface="Times New Roman" panose="02020603050405020304" pitchFamily="18" charset="0"/>
              </a:rPr>
              <a:t>the nature of the entity including its operations, its ownership and governance structures, the types of investments it makes, and the way the entity is structured and</a:t>
            </a:r>
            <a:r>
              <a:rPr lang="en-US" sz="2800" spc="-5" dirty="0">
                <a:effectLst/>
                <a:latin typeface="Times New Roman" panose="02020603050405020304" pitchFamily="18" charset="0"/>
                <a:ea typeface="Times New Roman" panose="02020603050405020304" pitchFamily="18" charset="0"/>
              </a:rPr>
              <a:t> </a:t>
            </a:r>
            <a:r>
              <a:rPr lang="en-US" sz="2800" spc="-10" dirty="0">
                <a:effectLst/>
                <a:latin typeface="Times New Roman" panose="02020603050405020304" pitchFamily="18" charset="0"/>
                <a:ea typeface="Times New Roman" panose="02020603050405020304" pitchFamily="18" charset="0"/>
              </a:rPr>
              <a:t>financed</a:t>
            </a:r>
            <a:endParaRPr lang="en-US" sz="2800" spc="-10" dirty="0">
              <a:effectLst/>
              <a:latin typeface="Times New Roman" panose="02020603050405020304" pitchFamily="18" charset="0"/>
              <a:ea typeface="Times New Roman" panose="02020603050405020304" pitchFamily="18" charset="0"/>
            </a:endParaRPr>
          </a:p>
          <a:p>
            <a:pPr marL="1143000" marR="1186180" lvl="2" indent="-228600" algn="just">
              <a:spcAft>
                <a:spcPts val="0"/>
              </a:spcAft>
              <a:buSzPts val="1200"/>
              <a:buFont typeface="Times New Roman" panose="02020603050405020304" pitchFamily="18" charset="0"/>
              <a:buAutoNum type="arabicPeriod"/>
              <a:tabLst>
                <a:tab pos="985520" algn="l"/>
              </a:tabLst>
            </a:pPr>
            <a:endParaRPr lang="en-US" sz="2800" spc="-10" dirty="0">
              <a:effectLst/>
              <a:latin typeface="Times New Roman" panose="02020603050405020304" pitchFamily="18" charset="0"/>
              <a:ea typeface="Times New Roman" panose="02020603050405020304" pitchFamily="18" charset="0"/>
            </a:endParaRPr>
          </a:p>
          <a:p>
            <a:endParaRPr lang="en-US"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032974" cy="1737360"/>
          </a:xfrm>
        </p:spPr>
        <p:txBody>
          <a:bodyPr>
            <a:normAutofit fontScale="90000"/>
          </a:bodyPr>
          <a:lstStyle/>
          <a:p>
            <a:pPr algn="ctr"/>
            <a:br>
              <a:rPr lang="en-US" sz="4800" b="1" kern="0" spc="-5" dirty="0">
                <a:effectLst/>
                <a:latin typeface="Times New Roman" panose="02020603050405020304" pitchFamily="18" charset="0"/>
                <a:ea typeface="Times New Roman" panose="02020603050405020304" pitchFamily="18" charset="0"/>
              </a:rPr>
            </a:br>
            <a:br>
              <a:rPr lang="en-US" sz="4800" b="1" kern="0" spc="-5" dirty="0">
                <a:effectLst/>
                <a:latin typeface="Times New Roman" panose="02020603050405020304" pitchFamily="18" charset="0"/>
                <a:ea typeface="Times New Roman" panose="02020603050405020304" pitchFamily="18" charset="0"/>
              </a:rPr>
            </a:br>
            <a:br>
              <a:rPr lang="en-US" sz="4800" b="1" kern="0" spc="-5" dirty="0">
                <a:effectLst/>
                <a:latin typeface="Times New Roman" panose="02020603050405020304" pitchFamily="18" charset="0"/>
                <a:ea typeface="Times New Roman" panose="02020603050405020304" pitchFamily="18" charset="0"/>
              </a:rPr>
            </a:br>
            <a:br>
              <a:rPr lang="en-US" sz="4800" b="1" kern="0" spc="-5" dirty="0">
                <a:effectLst/>
                <a:latin typeface="Times New Roman" panose="02020603050405020304" pitchFamily="18" charset="0"/>
                <a:ea typeface="Times New Roman" panose="02020603050405020304" pitchFamily="18" charset="0"/>
              </a:rPr>
            </a:br>
            <a:br>
              <a:rPr lang="en-US" sz="4800" b="1" kern="0" spc="-5" dirty="0">
                <a:effectLst/>
                <a:latin typeface="Times New Roman" panose="02020603050405020304" pitchFamily="18" charset="0"/>
                <a:ea typeface="Times New Roman" panose="02020603050405020304" pitchFamily="18" charset="0"/>
              </a:rPr>
            </a:br>
            <a:br>
              <a:rPr lang="en-US" sz="4800" b="1" kern="0" spc="-5" dirty="0">
                <a:effectLst/>
                <a:latin typeface="Times New Roman" panose="02020603050405020304" pitchFamily="18" charset="0"/>
                <a:ea typeface="Times New Roman" panose="02020603050405020304" pitchFamily="18" charset="0"/>
              </a:rPr>
            </a:br>
            <a:br>
              <a:rPr lang="en-US" sz="4800" b="1" kern="0" spc="-5" dirty="0">
                <a:effectLst/>
                <a:latin typeface="Times New Roman" panose="02020603050405020304" pitchFamily="18" charset="0"/>
                <a:ea typeface="Times New Roman" panose="02020603050405020304" pitchFamily="18" charset="0"/>
              </a:rPr>
            </a:br>
            <a:r>
              <a:rPr lang="en-US" sz="4800" b="1" kern="0" spc="-5" dirty="0">
                <a:effectLst/>
                <a:latin typeface="Times New Roman" panose="02020603050405020304" pitchFamily="18" charset="0"/>
                <a:ea typeface="Times New Roman" panose="02020603050405020304" pitchFamily="18" charset="0"/>
              </a:rPr>
              <a:t>Understanding the entity and its</a:t>
            </a:r>
            <a:r>
              <a:rPr lang="en-US" sz="4800" b="1" kern="0" spc="-35" dirty="0">
                <a:effectLst/>
                <a:latin typeface="Times New Roman" panose="02020603050405020304" pitchFamily="18" charset="0"/>
                <a:ea typeface="Times New Roman" panose="02020603050405020304" pitchFamily="18" charset="0"/>
              </a:rPr>
              <a:t> </a:t>
            </a:r>
            <a:r>
              <a:rPr lang="en-US" sz="4800" b="1" kern="0" spc="-5" dirty="0">
                <a:effectLst/>
                <a:latin typeface="Times New Roman" panose="02020603050405020304" pitchFamily="18" charset="0"/>
                <a:ea typeface="Times New Roman" panose="02020603050405020304" pitchFamily="18" charset="0"/>
              </a:rPr>
              <a:t>environment</a:t>
            </a:r>
            <a:br>
              <a:rPr lang="en-US" sz="4800" b="1" kern="0" spc="-5" dirty="0">
                <a:effectLst/>
                <a:latin typeface="Times New Roman" panose="02020603050405020304" pitchFamily="18" charset="0"/>
                <a:ea typeface="Times New Roman" panose="02020603050405020304" pitchFamily="18" charset="0"/>
              </a:rPr>
            </a:br>
            <a:r>
              <a:rPr lang="en-US" sz="4800" b="1" kern="0" spc="-5" dirty="0">
                <a:effectLst/>
                <a:latin typeface="Times New Roman" panose="02020603050405020304" pitchFamily="18" charset="0"/>
                <a:ea typeface="Times New Roman" panose="02020603050405020304" pitchFamily="18" charset="0"/>
              </a:rPr>
              <a:t>cont’d</a:t>
            </a:r>
            <a:br>
              <a:rPr lang="en-US" sz="2400" b="1" kern="0" spc="-5" dirty="0">
                <a:effectLst/>
                <a:latin typeface="Times New Roman" panose="02020603050405020304" pitchFamily="18" charset="0"/>
                <a:ea typeface="Times New Roman" panose="02020603050405020304" pitchFamily="18" charset="0"/>
              </a:rPr>
            </a:br>
            <a:endParaRPr lang="en-US" dirty="0"/>
          </a:p>
        </p:txBody>
      </p:sp>
      <p:sp>
        <p:nvSpPr>
          <p:cNvPr id="3" name="Content Placeholder 2"/>
          <p:cNvSpPr>
            <a:spLocks noGrp="1"/>
          </p:cNvSpPr>
          <p:nvPr>
            <p:ph idx="1"/>
          </p:nvPr>
        </p:nvSpPr>
        <p:spPr>
          <a:xfrm>
            <a:off x="92765" y="1845734"/>
            <a:ext cx="11940209" cy="4422544"/>
          </a:xfrm>
        </p:spPr>
        <p:txBody>
          <a:bodyPr>
            <a:normAutofit/>
          </a:bodyPr>
          <a:lstStyle/>
          <a:p>
            <a:pPr marL="914400" lvl="2" indent="0" algn="just">
              <a:buSzPts val="1200"/>
              <a:buNone/>
              <a:tabLst>
                <a:tab pos="985520" algn="l"/>
              </a:tabLst>
            </a:pPr>
            <a:r>
              <a:rPr lang="en-US" sz="2800" spc="-10" dirty="0">
                <a:effectLst/>
                <a:latin typeface="Times New Roman" panose="02020603050405020304" pitchFamily="18" charset="0"/>
                <a:ea typeface="Times New Roman" panose="02020603050405020304" pitchFamily="18" charset="0"/>
              </a:rPr>
              <a:t>3.the entity's selection and application of accounting</a:t>
            </a:r>
            <a:r>
              <a:rPr lang="en-US" sz="2800" spc="-30" dirty="0">
                <a:effectLst/>
                <a:latin typeface="Times New Roman" panose="02020603050405020304" pitchFamily="18" charset="0"/>
                <a:ea typeface="Times New Roman" panose="02020603050405020304" pitchFamily="18" charset="0"/>
              </a:rPr>
              <a:t> </a:t>
            </a:r>
            <a:r>
              <a:rPr lang="en-US" sz="2800" spc="-10" dirty="0">
                <a:effectLst/>
                <a:latin typeface="Times New Roman" panose="02020603050405020304" pitchFamily="18" charset="0"/>
                <a:ea typeface="Times New Roman" panose="02020603050405020304" pitchFamily="18" charset="0"/>
              </a:rPr>
              <a:t>policies</a:t>
            </a:r>
            <a:endParaRPr lang="en-US" sz="2800" spc="-10" dirty="0">
              <a:effectLst/>
              <a:latin typeface="Times New Roman" panose="02020603050405020304" pitchFamily="18" charset="0"/>
              <a:ea typeface="Times New Roman" panose="02020603050405020304" pitchFamily="18" charset="0"/>
            </a:endParaRPr>
          </a:p>
          <a:p>
            <a:pPr marL="914400" lvl="2" indent="0" algn="just">
              <a:buSzPts val="1200"/>
              <a:buNone/>
              <a:tabLst>
                <a:tab pos="985520" algn="l"/>
              </a:tabLst>
            </a:pPr>
            <a:endParaRPr lang="en-US" sz="2800" spc="-10" dirty="0">
              <a:effectLst/>
              <a:latin typeface="Times New Roman" panose="02020603050405020304" pitchFamily="18" charset="0"/>
              <a:ea typeface="Times New Roman" panose="02020603050405020304" pitchFamily="18" charset="0"/>
            </a:endParaRPr>
          </a:p>
          <a:p>
            <a:pPr marL="914400" marR="1187450" lvl="2" indent="0" algn="just">
              <a:spcAft>
                <a:spcPts val="0"/>
              </a:spcAft>
              <a:buSzPts val="1200"/>
              <a:buNone/>
              <a:tabLst>
                <a:tab pos="985520" algn="l"/>
              </a:tabLst>
            </a:pPr>
            <a:r>
              <a:rPr lang="en-US" sz="2800" spc="-10" dirty="0">
                <a:effectLst/>
                <a:latin typeface="Times New Roman" panose="02020603050405020304" pitchFamily="18" charset="0"/>
                <a:ea typeface="Times New Roman" panose="02020603050405020304" pitchFamily="18" charset="0"/>
              </a:rPr>
              <a:t>4. the entity's objectives and strategies, and business risks that may result in risks of material misstatement, and</a:t>
            </a:r>
            <a:endParaRPr lang="en-US" sz="2800" spc="-10" dirty="0">
              <a:effectLst/>
              <a:latin typeface="Times New Roman" panose="02020603050405020304" pitchFamily="18" charset="0"/>
              <a:ea typeface="Times New Roman" panose="02020603050405020304" pitchFamily="18" charset="0"/>
            </a:endParaRPr>
          </a:p>
          <a:p>
            <a:pPr marL="914400" marR="1187450" lvl="2" indent="0" algn="just">
              <a:spcAft>
                <a:spcPts val="0"/>
              </a:spcAft>
              <a:buSzPts val="1200"/>
              <a:buNone/>
              <a:tabLst>
                <a:tab pos="985520" algn="l"/>
              </a:tabLst>
            </a:pPr>
            <a:endParaRPr lang="en-US" sz="2800" spc="-10" dirty="0">
              <a:effectLst/>
              <a:latin typeface="Times New Roman" panose="02020603050405020304" pitchFamily="18" charset="0"/>
              <a:ea typeface="Times New Roman" panose="02020603050405020304" pitchFamily="18" charset="0"/>
            </a:endParaRPr>
          </a:p>
          <a:p>
            <a:pPr marL="914400" lvl="2" indent="0" algn="just">
              <a:buSzPts val="1200"/>
              <a:buNone/>
              <a:tabLst>
                <a:tab pos="985520" algn="l"/>
              </a:tabLst>
            </a:pPr>
            <a:r>
              <a:rPr lang="en-US" sz="2800" spc="-10" dirty="0">
                <a:effectLst/>
                <a:latin typeface="Times New Roman" panose="02020603050405020304" pitchFamily="18" charset="0"/>
                <a:ea typeface="Times New Roman" panose="02020603050405020304" pitchFamily="18" charset="0"/>
              </a:rPr>
              <a:t>5. the measurement and review of the entity's financial performance.</a:t>
            </a:r>
            <a:endParaRPr lang="en-US" sz="2800" spc="-10" dirty="0">
              <a:effectLst/>
              <a:latin typeface="Times New Roman" panose="02020603050405020304" pitchFamily="18" charset="0"/>
              <a:ea typeface="Times New Roman" panose="02020603050405020304" pitchFamily="18" charset="0"/>
            </a:endParaRPr>
          </a:p>
          <a:p>
            <a:pPr marL="914400" lvl="2" indent="0" algn="just">
              <a:buSzPts val="1200"/>
              <a:buNone/>
              <a:tabLst>
                <a:tab pos="985520" algn="l"/>
              </a:tabLst>
            </a:pPr>
            <a:r>
              <a:rPr lang="en-US" sz="2800" spc="-10" dirty="0">
                <a:effectLst/>
                <a:latin typeface="Times New Roman" panose="02020603050405020304" pitchFamily="18" charset="0"/>
                <a:ea typeface="Times New Roman" panose="02020603050405020304" pitchFamily="18" charset="0"/>
              </a:rPr>
              <a:t> (ISA</a:t>
            </a:r>
            <a:r>
              <a:rPr lang="en-US" sz="2800" spc="-50" dirty="0">
                <a:effectLst/>
                <a:latin typeface="Times New Roman" panose="02020603050405020304" pitchFamily="18" charset="0"/>
                <a:ea typeface="Times New Roman" panose="02020603050405020304" pitchFamily="18" charset="0"/>
              </a:rPr>
              <a:t> </a:t>
            </a:r>
            <a:r>
              <a:rPr lang="en-US" sz="2800" spc="-10" dirty="0">
                <a:effectLst/>
                <a:latin typeface="Times New Roman" panose="02020603050405020304" pitchFamily="18" charset="0"/>
                <a:ea typeface="Times New Roman" panose="02020603050405020304" pitchFamily="18" charset="0"/>
              </a:rPr>
              <a:t>315.11)</a:t>
            </a:r>
            <a:endParaRPr lang="en-US" sz="2800" spc="-10" dirty="0">
              <a:effectLst/>
              <a:latin typeface="Times New Roman" panose="02020603050405020304" pitchFamily="18" charset="0"/>
              <a:ea typeface="Times New Roman" panose="02020603050405020304" pitchFamily="18" charset="0"/>
            </a:endParaRPr>
          </a:p>
          <a:p>
            <a:endParaRPr lang="en-US" sz="2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000" b="1" kern="0" spc="-5" dirty="0">
                <a:effectLst/>
                <a:latin typeface="Times New Roman" panose="02020603050405020304" pitchFamily="18" charset="0"/>
                <a:ea typeface="Times New Roman" panose="02020603050405020304" pitchFamily="18" charset="0"/>
              </a:rPr>
              <a:t>Sources of Knowledge</a:t>
            </a:r>
            <a:br>
              <a:rPr lang="en-US" sz="1800" b="1" kern="0" spc="-5" dirty="0">
                <a:effectLst/>
                <a:latin typeface="Times New Roman" panose="02020603050405020304" pitchFamily="18" charset="0"/>
                <a:ea typeface="Times New Roman" panose="02020603050405020304" pitchFamily="18" charset="0"/>
              </a:rPr>
            </a:br>
            <a:endParaRPr lang="en-US" dirty="0"/>
          </a:p>
        </p:txBody>
      </p:sp>
      <p:sp>
        <p:nvSpPr>
          <p:cNvPr id="3" name="Content Placeholder 2"/>
          <p:cNvSpPr>
            <a:spLocks noGrp="1"/>
          </p:cNvSpPr>
          <p:nvPr>
            <p:ph idx="1"/>
          </p:nvPr>
        </p:nvSpPr>
        <p:spPr>
          <a:xfrm>
            <a:off x="145773" y="1845733"/>
            <a:ext cx="11834191" cy="4356283"/>
          </a:xfrm>
        </p:spPr>
        <p:txBody>
          <a:bodyPr>
            <a:normAutofit/>
          </a:bodyPr>
          <a:lstStyle/>
          <a:p>
            <a:pPr marL="527685" marR="1176020">
              <a:spcBef>
                <a:spcPts val="5"/>
              </a:spcBef>
              <a:spcAft>
                <a:spcPts val="0"/>
              </a:spcAft>
            </a:pPr>
            <a:r>
              <a:rPr lang="en-US" sz="2800" dirty="0">
                <a:effectLst/>
                <a:latin typeface="Times New Roman" panose="02020603050405020304" pitchFamily="18" charset="0"/>
                <a:ea typeface="Times New Roman" panose="02020603050405020304" pitchFamily="18" charset="0"/>
              </a:rPr>
              <a:t>The auditors can obtain knowledge of the industry and the entity from a number of sources, for example,</a:t>
            </a:r>
            <a:endParaRPr lang="en-US" sz="2800" dirty="0">
              <a:effectLst/>
              <a:latin typeface="Times New Roman" panose="02020603050405020304" pitchFamily="18" charset="0"/>
              <a:ea typeface="Times New Roman" panose="02020603050405020304" pitchFamily="18" charset="0"/>
            </a:endParaRPr>
          </a:p>
          <a:p>
            <a:pPr marL="1143000" lvl="2" indent="-228600">
              <a:buSzPts val="1200"/>
              <a:buFont typeface="Times New Roman" panose="02020603050405020304" pitchFamily="18" charset="0"/>
              <a:buAutoNum type="arabicPeriod"/>
              <a:tabLst>
                <a:tab pos="985520" algn="l"/>
              </a:tabLst>
            </a:pPr>
            <a:r>
              <a:rPr lang="en-US" sz="2800" spc="-10" dirty="0">
                <a:effectLst/>
                <a:latin typeface="Times New Roman" panose="02020603050405020304" pitchFamily="18" charset="0"/>
                <a:ea typeface="Times New Roman" panose="02020603050405020304" pitchFamily="18" charset="0"/>
              </a:rPr>
              <a:t>previous experience with the </a:t>
            </a:r>
            <a:r>
              <a:rPr lang="en-US" sz="2800" spc="-10">
                <a:effectLst/>
                <a:latin typeface="Times New Roman" panose="02020603050405020304" pitchFamily="18" charset="0"/>
                <a:ea typeface="Times New Roman" panose="02020603050405020304" pitchFamily="18" charset="0"/>
              </a:rPr>
              <a:t>entity and </a:t>
            </a:r>
            <a:r>
              <a:rPr lang="en-US" sz="2800" spc="-10" dirty="0">
                <a:effectLst/>
                <a:latin typeface="Times New Roman" panose="02020603050405020304" pitchFamily="18" charset="0"/>
                <a:ea typeface="Times New Roman" panose="02020603050405020304" pitchFamily="18" charset="0"/>
              </a:rPr>
              <a:t>of its</a:t>
            </a:r>
            <a:r>
              <a:rPr lang="en-US" sz="2800" spc="-15" dirty="0">
                <a:effectLst/>
                <a:latin typeface="Times New Roman" panose="02020603050405020304" pitchFamily="18" charset="0"/>
                <a:ea typeface="Times New Roman" panose="02020603050405020304" pitchFamily="18" charset="0"/>
              </a:rPr>
              <a:t> </a:t>
            </a:r>
            <a:r>
              <a:rPr lang="en-US" sz="2800" spc="-10" dirty="0">
                <a:effectLst/>
                <a:latin typeface="Times New Roman" panose="02020603050405020304" pitchFamily="18" charset="0"/>
                <a:ea typeface="Times New Roman" panose="02020603050405020304" pitchFamily="18" charset="0"/>
              </a:rPr>
              <a:t>industry</a:t>
            </a:r>
            <a:endParaRPr lang="en-US" sz="2800" spc="-10" dirty="0">
              <a:effectLst/>
              <a:latin typeface="Times New Roman" panose="02020603050405020304" pitchFamily="18" charset="0"/>
              <a:ea typeface="Times New Roman" panose="02020603050405020304" pitchFamily="18" charset="0"/>
            </a:endParaRPr>
          </a:p>
          <a:p>
            <a:pPr marL="1143000" marR="1186815" lvl="2" indent="-228600">
              <a:buSzPts val="1200"/>
              <a:buFont typeface="Times New Roman" panose="02020603050405020304" pitchFamily="18" charset="0"/>
              <a:buAutoNum type="arabicPeriod"/>
              <a:tabLst>
                <a:tab pos="985520" algn="l"/>
              </a:tabLst>
            </a:pPr>
            <a:r>
              <a:rPr lang="en-US" sz="2800" spc="-10" dirty="0">
                <a:effectLst/>
                <a:latin typeface="Times New Roman" panose="02020603050405020304" pitchFamily="18" charset="0"/>
                <a:ea typeface="Times New Roman" panose="02020603050405020304" pitchFamily="18" charset="0"/>
              </a:rPr>
              <a:t>discussion with people within the entity (for example the junior and senior managers)</a:t>
            </a:r>
            <a:endParaRPr lang="en-US" sz="2800" spc="-10" dirty="0">
              <a:effectLst/>
              <a:latin typeface="Times New Roman" panose="02020603050405020304" pitchFamily="18" charset="0"/>
              <a:ea typeface="Times New Roman" panose="02020603050405020304" pitchFamily="18" charset="0"/>
            </a:endParaRPr>
          </a:p>
          <a:p>
            <a:pPr marL="1143000" lvl="2" indent="-228600">
              <a:buSzPts val="1200"/>
              <a:buFont typeface="Times New Roman" panose="02020603050405020304" pitchFamily="18" charset="0"/>
              <a:buAutoNum type="arabicPeriod"/>
              <a:tabLst>
                <a:tab pos="985520" algn="l"/>
              </a:tabLst>
            </a:pPr>
            <a:r>
              <a:rPr lang="en-US" sz="2800" spc="-10" dirty="0">
                <a:effectLst/>
                <a:latin typeface="Times New Roman" panose="02020603050405020304" pitchFamily="18" charset="0"/>
                <a:ea typeface="Times New Roman" panose="02020603050405020304" pitchFamily="18" charset="0"/>
              </a:rPr>
              <a:t>discussion with internal audit personnel and review of internal audit</a:t>
            </a:r>
            <a:r>
              <a:rPr lang="en-US" sz="2800" spc="-40" dirty="0">
                <a:effectLst/>
                <a:latin typeface="Times New Roman" panose="02020603050405020304" pitchFamily="18" charset="0"/>
                <a:ea typeface="Times New Roman" panose="02020603050405020304" pitchFamily="18" charset="0"/>
              </a:rPr>
              <a:t> </a:t>
            </a:r>
            <a:r>
              <a:rPr lang="en-US" sz="2800" spc="-10" dirty="0">
                <a:effectLst/>
                <a:latin typeface="Times New Roman" panose="02020603050405020304" pitchFamily="18" charset="0"/>
                <a:ea typeface="Times New Roman" panose="02020603050405020304" pitchFamily="18" charset="0"/>
              </a:rPr>
              <a:t>reports</a:t>
            </a:r>
            <a:endParaRPr lang="en-US" sz="2800" spc="-10" dirty="0">
              <a:effectLst/>
              <a:latin typeface="Times New Roman" panose="02020603050405020304" pitchFamily="18" charset="0"/>
              <a:ea typeface="Times New Roman" panose="02020603050405020304" pitchFamily="18" charset="0"/>
            </a:endParaRPr>
          </a:p>
          <a:p>
            <a:pPr marL="1143000" marR="1186180" lvl="2" indent="-228600">
              <a:buSzPts val="1200"/>
              <a:buFont typeface="Times New Roman" panose="02020603050405020304" pitchFamily="18" charset="0"/>
              <a:buAutoNum type="arabicPeriod"/>
              <a:tabLst>
                <a:tab pos="985520" algn="l"/>
              </a:tabLst>
            </a:pPr>
            <a:r>
              <a:rPr lang="en-US" sz="2800" spc="-10" dirty="0">
                <a:effectLst/>
                <a:latin typeface="Times New Roman" panose="02020603050405020304" pitchFamily="18" charset="0"/>
                <a:ea typeface="Times New Roman" panose="02020603050405020304" pitchFamily="18" charset="0"/>
              </a:rPr>
              <a:t>discussion with auditors (including predecessor auditors) and with legal and other advisors who have provided services for the entity or within the</a:t>
            </a:r>
            <a:r>
              <a:rPr lang="en-US" sz="2800" spc="-75" dirty="0">
                <a:effectLst/>
                <a:latin typeface="Times New Roman" panose="02020603050405020304" pitchFamily="18" charset="0"/>
                <a:ea typeface="Times New Roman" panose="02020603050405020304" pitchFamily="18" charset="0"/>
              </a:rPr>
              <a:t> </a:t>
            </a:r>
            <a:r>
              <a:rPr lang="en-US" sz="2800" spc="-10" dirty="0">
                <a:effectLst/>
                <a:latin typeface="Times New Roman" panose="02020603050405020304" pitchFamily="18" charset="0"/>
                <a:ea typeface="Times New Roman" panose="02020603050405020304" pitchFamily="18" charset="0"/>
              </a:rPr>
              <a:t>industry</a:t>
            </a:r>
            <a:endParaRPr lang="en-US" sz="2800" spc="-10" dirty="0">
              <a:effectLst/>
              <a:latin typeface="Times New Roman" panose="02020603050405020304" pitchFamily="18" charset="0"/>
              <a:ea typeface="Times New Roman" panose="02020603050405020304" pitchFamily="18" charset="0"/>
            </a:endParaRPr>
          </a:p>
          <a:p>
            <a:endParaRPr lang="en-US" sz="2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1"/>
            <a:ext cx="10058400" cy="993912"/>
          </a:xfrm>
        </p:spPr>
        <p:txBody>
          <a:bodyPr>
            <a:normAutofit fontScale="90000"/>
          </a:bodyPr>
          <a:lstStyle/>
          <a:p>
            <a:pPr algn="ctr"/>
            <a:br>
              <a:rPr lang="en-US" sz="4000" b="1" kern="0" spc="-5" dirty="0">
                <a:effectLst/>
                <a:latin typeface="Times New Roman" panose="02020603050405020304" pitchFamily="18" charset="0"/>
                <a:ea typeface="Times New Roman" panose="02020603050405020304" pitchFamily="18" charset="0"/>
              </a:rPr>
            </a:br>
            <a:br>
              <a:rPr lang="en-US" sz="4000" b="1" kern="0" spc="-5" dirty="0">
                <a:effectLst/>
                <a:latin typeface="Times New Roman" panose="02020603050405020304" pitchFamily="18" charset="0"/>
                <a:ea typeface="Times New Roman" panose="02020603050405020304" pitchFamily="18" charset="0"/>
              </a:rPr>
            </a:br>
            <a:br>
              <a:rPr lang="en-US" sz="4000" b="1" kern="0" spc="-5" dirty="0">
                <a:effectLst/>
                <a:latin typeface="Times New Roman" panose="02020603050405020304" pitchFamily="18" charset="0"/>
                <a:ea typeface="Times New Roman" panose="02020603050405020304" pitchFamily="18" charset="0"/>
              </a:rPr>
            </a:br>
            <a:br>
              <a:rPr lang="en-US" sz="4000" b="1" kern="0" spc="-5" dirty="0">
                <a:effectLst/>
                <a:latin typeface="Times New Roman" panose="02020603050405020304" pitchFamily="18" charset="0"/>
                <a:ea typeface="Times New Roman" panose="02020603050405020304" pitchFamily="18" charset="0"/>
              </a:rPr>
            </a:br>
            <a:r>
              <a:rPr lang="en-US" sz="4000" b="1" kern="0" spc="-5" dirty="0">
                <a:effectLst/>
                <a:latin typeface="Times New Roman" panose="02020603050405020304" pitchFamily="18" charset="0"/>
                <a:ea typeface="Times New Roman" panose="02020603050405020304" pitchFamily="18" charset="0"/>
              </a:rPr>
              <a:t>Sources of Knowledge cont’d</a:t>
            </a:r>
            <a:br>
              <a:rPr lang="en-US" sz="1800" b="1" kern="0" spc="-5" dirty="0">
                <a:effectLst/>
                <a:latin typeface="Times New Roman" panose="02020603050405020304" pitchFamily="18" charset="0"/>
                <a:ea typeface="Times New Roman" panose="02020603050405020304" pitchFamily="18" charset="0"/>
              </a:rPr>
            </a:br>
            <a:endParaRPr lang="en-US" dirty="0"/>
          </a:p>
        </p:txBody>
      </p:sp>
      <p:sp>
        <p:nvSpPr>
          <p:cNvPr id="3" name="Content Placeholder 2"/>
          <p:cNvSpPr>
            <a:spLocks noGrp="1"/>
          </p:cNvSpPr>
          <p:nvPr>
            <p:ph idx="1"/>
          </p:nvPr>
        </p:nvSpPr>
        <p:spPr>
          <a:xfrm>
            <a:off x="0" y="861391"/>
            <a:ext cx="12192000" cy="5353879"/>
          </a:xfrm>
        </p:spPr>
        <p:txBody>
          <a:bodyPr>
            <a:normAutofit fontScale="85000" lnSpcReduction="20000"/>
          </a:bodyPr>
          <a:lstStyle/>
          <a:p>
            <a:pPr marL="438785" marR="1186180" indent="0">
              <a:buSzPts val="1200"/>
              <a:buNone/>
              <a:tabLst>
                <a:tab pos="985520" algn="l"/>
              </a:tabLst>
            </a:pPr>
            <a:r>
              <a:rPr lang="en-US" sz="3400" spc="-10" dirty="0">
                <a:effectLst/>
                <a:latin typeface="Times New Roman" panose="02020603050405020304" pitchFamily="18" charset="0"/>
                <a:ea typeface="Times New Roman" panose="02020603050405020304" pitchFamily="18" charset="0"/>
              </a:rPr>
              <a:t>5. discussion with knowledge people outside the entity, (for example industry economists, industry regulators, customers, suppliers,</a:t>
            </a:r>
            <a:r>
              <a:rPr lang="en-US" sz="3400" spc="-35" dirty="0">
                <a:effectLst/>
                <a:latin typeface="Times New Roman" panose="02020603050405020304" pitchFamily="18" charset="0"/>
                <a:ea typeface="Times New Roman" panose="02020603050405020304" pitchFamily="18" charset="0"/>
              </a:rPr>
              <a:t> </a:t>
            </a:r>
            <a:r>
              <a:rPr lang="en-US" sz="3400" spc="-10" dirty="0">
                <a:effectLst/>
                <a:latin typeface="Times New Roman" panose="02020603050405020304" pitchFamily="18" charset="0"/>
                <a:ea typeface="Times New Roman" panose="02020603050405020304" pitchFamily="18" charset="0"/>
              </a:rPr>
              <a:t>competitors)</a:t>
            </a:r>
            <a:endParaRPr lang="en-US" sz="3400" spc="-10" dirty="0">
              <a:effectLst/>
              <a:latin typeface="Times New Roman" panose="02020603050405020304" pitchFamily="18" charset="0"/>
              <a:ea typeface="Times New Roman" panose="02020603050405020304" pitchFamily="18" charset="0"/>
            </a:endParaRPr>
          </a:p>
          <a:p>
            <a:pPr marL="438785" marR="1186815" indent="0">
              <a:buSzPts val="1200"/>
              <a:buNone/>
              <a:tabLst>
                <a:tab pos="985520" algn="l"/>
              </a:tabLst>
            </a:pPr>
            <a:r>
              <a:rPr lang="en-US" sz="3400" spc="-10" dirty="0">
                <a:effectLst/>
                <a:latin typeface="Times New Roman" panose="02020603050405020304" pitchFamily="18" charset="0"/>
                <a:ea typeface="Times New Roman" panose="02020603050405020304" pitchFamily="18" charset="0"/>
              </a:rPr>
              <a:t>6. publications related to the industry (from government, banks and securities dealers, financial newspapers)</a:t>
            </a:r>
            <a:r>
              <a:rPr lang="en-US" sz="3400" spc="-15" dirty="0">
                <a:effectLst/>
                <a:latin typeface="Times New Roman" panose="02020603050405020304" pitchFamily="18" charset="0"/>
                <a:ea typeface="Times New Roman" panose="02020603050405020304" pitchFamily="18" charset="0"/>
              </a:rPr>
              <a:t> </a:t>
            </a:r>
            <a:r>
              <a:rPr lang="en-US" sz="3400" spc="-10" dirty="0">
                <a:effectLst/>
                <a:latin typeface="Times New Roman" panose="02020603050405020304" pitchFamily="18" charset="0"/>
                <a:ea typeface="Times New Roman" panose="02020603050405020304" pitchFamily="18" charset="0"/>
              </a:rPr>
              <a:t>etc.</a:t>
            </a:r>
            <a:endParaRPr lang="en-US" sz="3400" spc="-10" dirty="0">
              <a:effectLst/>
              <a:latin typeface="Times New Roman" panose="02020603050405020304" pitchFamily="18" charset="0"/>
              <a:ea typeface="Times New Roman" panose="02020603050405020304" pitchFamily="18" charset="0"/>
            </a:endParaRPr>
          </a:p>
          <a:p>
            <a:pPr marL="438785" marR="1186815" indent="0">
              <a:buSzPts val="1200"/>
              <a:buNone/>
              <a:tabLst>
                <a:tab pos="985520" algn="l"/>
              </a:tabLst>
            </a:pPr>
            <a:endParaRPr lang="en-US" sz="3400" spc="-10" dirty="0">
              <a:effectLst/>
              <a:latin typeface="Times New Roman" panose="02020603050405020304" pitchFamily="18" charset="0"/>
              <a:ea typeface="Times New Roman" panose="02020603050405020304" pitchFamily="18" charset="0"/>
            </a:endParaRPr>
          </a:p>
          <a:p>
            <a:pPr marL="438785" indent="0">
              <a:lnSpc>
                <a:spcPts val="1375"/>
              </a:lnSpc>
              <a:spcBef>
                <a:spcPts val="5"/>
              </a:spcBef>
              <a:buSzPts val="1200"/>
              <a:buNone/>
              <a:tabLst>
                <a:tab pos="985520" algn="l"/>
              </a:tabLst>
            </a:pPr>
            <a:r>
              <a:rPr lang="en-US" sz="3400" spc="-10" dirty="0">
                <a:effectLst/>
                <a:latin typeface="Times New Roman" panose="02020603050405020304" pitchFamily="18" charset="0"/>
                <a:ea typeface="Times New Roman" panose="02020603050405020304" pitchFamily="18" charset="0"/>
              </a:rPr>
              <a:t>7. legislations and regulations that significantly affect the</a:t>
            </a:r>
            <a:r>
              <a:rPr lang="en-US" sz="3400" spc="-20" dirty="0">
                <a:effectLst/>
                <a:latin typeface="Times New Roman" panose="02020603050405020304" pitchFamily="18" charset="0"/>
                <a:ea typeface="Times New Roman" panose="02020603050405020304" pitchFamily="18" charset="0"/>
              </a:rPr>
              <a:t> </a:t>
            </a:r>
            <a:r>
              <a:rPr lang="en-US" sz="3400" spc="-10" dirty="0">
                <a:effectLst/>
                <a:latin typeface="Times New Roman" panose="02020603050405020304" pitchFamily="18" charset="0"/>
                <a:ea typeface="Times New Roman" panose="02020603050405020304" pitchFamily="18" charset="0"/>
              </a:rPr>
              <a:t>entity</a:t>
            </a:r>
            <a:endParaRPr lang="en-US" sz="3400" spc="-10" dirty="0">
              <a:effectLst/>
              <a:latin typeface="Times New Roman" panose="02020603050405020304" pitchFamily="18" charset="0"/>
              <a:ea typeface="Times New Roman" panose="02020603050405020304" pitchFamily="18" charset="0"/>
            </a:endParaRPr>
          </a:p>
          <a:p>
            <a:pPr marL="438785" indent="0">
              <a:lnSpc>
                <a:spcPts val="1375"/>
              </a:lnSpc>
              <a:spcBef>
                <a:spcPts val="5"/>
              </a:spcBef>
              <a:buSzPts val="1200"/>
              <a:buNone/>
              <a:tabLst>
                <a:tab pos="985520" algn="l"/>
              </a:tabLst>
            </a:pPr>
            <a:endParaRPr lang="en-US" sz="3400" spc="-10" dirty="0">
              <a:effectLst/>
              <a:latin typeface="Times New Roman" panose="02020603050405020304" pitchFamily="18" charset="0"/>
              <a:ea typeface="Times New Roman" panose="02020603050405020304" pitchFamily="18" charset="0"/>
            </a:endParaRPr>
          </a:p>
          <a:p>
            <a:pPr marL="438785" indent="0">
              <a:lnSpc>
                <a:spcPts val="1375"/>
              </a:lnSpc>
              <a:buSzPts val="1200"/>
              <a:buNone/>
              <a:tabLst>
                <a:tab pos="985520" algn="l"/>
              </a:tabLst>
            </a:pPr>
            <a:r>
              <a:rPr lang="en-US" sz="3400" spc="-10" dirty="0">
                <a:effectLst/>
                <a:latin typeface="Times New Roman" panose="02020603050405020304" pitchFamily="18" charset="0"/>
                <a:ea typeface="Times New Roman" panose="02020603050405020304" pitchFamily="18" charset="0"/>
              </a:rPr>
              <a:t>8. visits to the entity’s premises and plant</a:t>
            </a:r>
            <a:r>
              <a:rPr lang="en-US" sz="3400" spc="-25" dirty="0">
                <a:effectLst/>
                <a:latin typeface="Times New Roman" panose="02020603050405020304" pitchFamily="18" charset="0"/>
                <a:ea typeface="Times New Roman" panose="02020603050405020304" pitchFamily="18" charset="0"/>
              </a:rPr>
              <a:t> </a:t>
            </a:r>
            <a:r>
              <a:rPr lang="en-US" sz="3400" spc="-10" dirty="0">
                <a:effectLst/>
                <a:latin typeface="Times New Roman" panose="02020603050405020304" pitchFamily="18" charset="0"/>
                <a:ea typeface="Times New Roman" panose="02020603050405020304" pitchFamily="18" charset="0"/>
              </a:rPr>
              <a:t>facilities</a:t>
            </a:r>
            <a:endParaRPr lang="en-US" sz="3400" spc="-10" dirty="0">
              <a:effectLst/>
              <a:latin typeface="Times New Roman" panose="02020603050405020304" pitchFamily="18" charset="0"/>
              <a:ea typeface="Times New Roman" panose="02020603050405020304" pitchFamily="18" charset="0"/>
            </a:endParaRPr>
          </a:p>
          <a:p>
            <a:pPr marL="438785" marR="1209675" indent="0" algn="just">
              <a:buSzPts val="1200"/>
              <a:buNone/>
              <a:tabLst>
                <a:tab pos="985520" algn="l"/>
              </a:tabLst>
            </a:pPr>
            <a:r>
              <a:rPr lang="en-US" sz="3400" spc="-10" dirty="0">
                <a:effectLst/>
                <a:latin typeface="Times New Roman" panose="02020603050405020304" pitchFamily="18" charset="0"/>
                <a:ea typeface="Times New Roman" panose="02020603050405020304" pitchFamily="18" charset="0"/>
              </a:rPr>
              <a:t>9. documents produced by the entity (for example minutes of meetings,</a:t>
            </a:r>
            <a:endParaRPr lang="en-US" sz="3400" spc="-10" dirty="0">
              <a:effectLst/>
              <a:latin typeface="Times New Roman" panose="02020603050405020304" pitchFamily="18" charset="0"/>
              <a:ea typeface="Times New Roman" panose="02020603050405020304" pitchFamily="18" charset="0"/>
            </a:endParaRPr>
          </a:p>
          <a:p>
            <a:pPr marL="438785" marR="1209675" indent="0" algn="just">
              <a:buSzPts val="1200"/>
              <a:buNone/>
              <a:tabLst>
                <a:tab pos="985520" algn="l"/>
              </a:tabLst>
            </a:pPr>
            <a:r>
              <a:rPr lang="en-US" sz="3400" spc="-10" dirty="0">
                <a:effectLst/>
                <a:latin typeface="Times New Roman" panose="02020603050405020304" pitchFamily="18" charset="0"/>
                <a:ea typeface="Times New Roman" panose="02020603050405020304" pitchFamily="18" charset="0"/>
              </a:rPr>
              <a:t> materials sent to shareholders, promotional literature, prior-years annual and financial reports, budgets etc.</a:t>
            </a:r>
            <a:endParaRPr lang="en-US" sz="3400" spc="-10" dirty="0">
              <a:effectLst/>
              <a:latin typeface="Times New Roman" panose="02020603050405020304" pitchFamily="18" charset="0"/>
              <a:ea typeface="Times New Roman" panose="02020603050405020304" pitchFamily="18" charset="0"/>
            </a:endParaRPr>
          </a:p>
          <a:p>
            <a:pPr marL="438785" indent="0" algn="just">
              <a:buSzPts val="1200"/>
              <a:buNone/>
              <a:tabLst>
                <a:tab pos="985520" algn="l"/>
              </a:tabLst>
            </a:pPr>
            <a:r>
              <a:rPr lang="en-US" sz="3400" spc="-10" dirty="0">
                <a:effectLst/>
                <a:latin typeface="Times New Roman" panose="02020603050405020304" pitchFamily="18" charset="0"/>
                <a:ea typeface="Times New Roman" panose="02020603050405020304" pitchFamily="18" charset="0"/>
              </a:rPr>
              <a:t>10.  industry-specific</a:t>
            </a:r>
            <a:r>
              <a:rPr lang="en-US" sz="3400" spc="-5" dirty="0">
                <a:effectLst/>
                <a:latin typeface="Times New Roman" panose="02020603050405020304" pitchFamily="18" charset="0"/>
                <a:ea typeface="Times New Roman" panose="02020603050405020304" pitchFamily="18" charset="0"/>
              </a:rPr>
              <a:t> </a:t>
            </a:r>
            <a:r>
              <a:rPr lang="en-US" sz="3400" spc="-10" dirty="0">
                <a:effectLst/>
                <a:latin typeface="Times New Roman" panose="02020603050405020304" pitchFamily="18" charset="0"/>
                <a:ea typeface="Times New Roman" panose="02020603050405020304" pitchFamily="18" charset="0"/>
              </a:rPr>
              <a:t>guidance.</a:t>
            </a:r>
            <a:endParaRPr lang="en-US" sz="3400" spc="-10" dirty="0">
              <a:effectLst/>
              <a:latin typeface="Times New Roman" panose="02020603050405020304" pitchFamily="18" charset="0"/>
              <a:ea typeface="Times New Roman" panose="02020603050405020304" pitchFamily="18" charset="0"/>
            </a:endParaRPr>
          </a:p>
          <a:p>
            <a:pPr>
              <a:spcBef>
                <a:spcPts val="55"/>
              </a:spcBef>
            </a:pPr>
            <a:r>
              <a:rPr lang="en-US" sz="2800" dirty="0">
                <a:effectLst/>
                <a:latin typeface="Times New Roman" panose="02020603050405020304" pitchFamily="18" charset="0"/>
                <a:ea typeface="Times New Roman" panose="02020603050405020304" pitchFamily="18" charset="0"/>
              </a:rPr>
              <a:t> </a:t>
            </a:r>
            <a:endParaRPr lang="en-US" sz="2800" dirty="0">
              <a:effectLst/>
              <a:latin typeface="Times New Roman" panose="02020603050405020304" pitchFamily="18" charset="0"/>
              <a:ea typeface="Times New Roman" panose="02020603050405020304" pitchFamily="18" charset="0"/>
            </a:endParaRPr>
          </a:p>
          <a:p>
            <a:endParaRPr lang="en-US" sz="2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000" b="1" kern="0" spc="-5" dirty="0">
                <a:effectLst/>
                <a:latin typeface="Times New Roman" panose="02020603050405020304" pitchFamily="18" charset="0"/>
                <a:ea typeface="Times New Roman" panose="02020603050405020304" pitchFamily="18" charset="0"/>
              </a:rPr>
              <a:t>Using the</a:t>
            </a:r>
            <a:r>
              <a:rPr lang="en-US" sz="4000" b="1" kern="0" spc="-10" dirty="0">
                <a:effectLst/>
                <a:latin typeface="Times New Roman" panose="02020603050405020304" pitchFamily="18" charset="0"/>
                <a:ea typeface="Times New Roman" panose="02020603050405020304" pitchFamily="18" charset="0"/>
              </a:rPr>
              <a:t> </a:t>
            </a:r>
            <a:r>
              <a:rPr lang="en-US" sz="4000" b="1" kern="0" spc="-5" dirty="0">
                <a:effectLst/>
                <a:latin typeface="Times New Roman" panose="02020603050405020304" pitchFamily="18" charset="0"/>
                <a:ea typeface="Times New Roman" panose="02020603050405020304" pitchFamily="18" charset="0"/>
              </a:rPr>
              <a:t>Knowledge</a:t>
            </a:r>
            <a:br>
              <a:rPr lang="en-US" sz="1800" b="1" kern="0" spc="-5" dirty="0">
                <a:effectLst/>
                <a:latin typeface="Times New Roman" panose="02020603050405020304" pitchFamily="18" charset="0"/>
                <a:ea typeface="Times New Roman" panose="02020603050405020304" pitchFamily="18" charset="0"/>
              </a:rPr>
            </a:br>
            <a:endParaRPr lang="en-US" dirty="0"/>
          </a:p>
        </p:txBody>
      </p:sp>
      <p:sp>
        <p:nvSpPr>
          <p:cNvPr id="3" name="Content Placeholder 2"/>
          <p:cNvSpPr>
            <a:spLocks noGrp="1"/>
          </p:cNvSpPr>
          <p:nvPr>
            <p:ph idx="1"/>
          </p:nvPr>
        </p:nvSpPr>
        <p:spPr>
          <a:xfrm>
            <a:off x="198783" y="1845733"/>
            <a:ext cx="11794434" cy="4329779"/>
          </a:xfrm>
        </p:spPr>
        <p:txBody>
          <a:bodyPr>
            <a:normAutofit/>
          </a:bodyPr>
          <a:lstStyle/>
          <a:p>
            <a:pPr marL="527685">
              <a:lnSpc>
                <a:spcPts val="1380"/>
              </a:lnSpc>
              <a:spcBef>
                <a:spcPts val="5"/>
              </a:spcBef>
              <a:spcAft>
                <a:spcPts val="0"/>
              </a:spcAft>
            </a:pPr>
            <a:endParaRPr lang="en-US" sz="2800" dirty="0">
              <a:effectLst/>
              <a:latin typeface="Times New Roman" panose="02020603050405020304" pitchFamily="18" charset="0"/>
              <a:ea typeface="Times New Roman" panose="02020603050405020304" pitchFamily="18" charset="0"/>
            </a:endParaRPr>
          </a:p>
          <a:p>
            <a:pPr marL="527685">
              <a:lnSpc>
                <a:spcPts val="1380"/>
              </a:lnSpc>
              <a:spcBef>
                <a:spcPts val="5"/>
              </a:spcBef>
              <a:spcAft>
                <a:spcPts val="0"/>
              </a:spcAft>
            </a:pPr>
            <a:r>
              <a:rPr lang="en-US" sz="2800" dirty="0">
                <a:effectLst/>
                <a:latin typeface="Times New Roman" panose="02020603050405020304" pitchFamily="18" charset="0"/>
                <a:ea typeface="Times New Roman" panose="02020603050405020304" pitchFamily="18" charset="0"/>
              </a:rPr>
              <a:t>Understanding the business and using this information appropriately assist the </a:t>
            </a:r>
            <a:endParaRPr lang="en-US" sz="2800" dirty="0">
              <a:effectLst/>
              <a:latin typeface="Times New Roman" panose="02020603050405020304" pitchFamily="18" charset="0"/>
              <a:ea typeface="Times New Roman" panose="02020603050405020304" pitchFamily="18" charset="0"/>
            </a:endParaRPr>
          </a:p>
          <a:p>
            <a:pPr marL="527685">
              <a:lnSpc>
                <a:spcPts val="1380"/>
              </a:lnSpc>
              <a:spcBef>
                <a:spcPts val="5"/>
              </a:spcBef>
              <a:spcAft>
                <a:spcPts val="0"/>
              </a:spcAft>
            </a:pPr>
            <a:endParaRPr lang="en-US" sz="2800" dirty="0">
              <a:latin typeface="Times New Roman" panose="02020603050405020304" pitchFamily="18" charset="0"/>
              <a:ea typeface="Times New Roman" panose="02020603050405020304" pitchFamily="18" charset="0"/>
            </a:endParaRPr>
          </a:p>
          <a:p>
            <a:pPr marL="527685">
              <a:lnSpc>
                <a:spcPts val="1380"/>
              </a:lnSpc>
              <a:spcBef>
                <a:spcPts val="5"/>
              </a:spcBef>
              <a:spcAft>
                <a:spcPts val="0"/>
              </a:spcAft>
            </a:pPr>
            <a:r>
              <a:rPr lang="en-US" sz="2800" dirty="0">
                <a:effectLst/>
                <a:latin typeface="Times New Roman" panose="02020603050405020304" pitchFamily="18" charset="0"/>
                <a:ea typeface="Times New Roman" panose="02020603050405020304" pitchFamily="18" charset="0"/>
              </a:rPr>
              <a:t>auditors in;</a:t>
            </a:r>
            <a:endParaRPr lang="en-US" sz="2800" dirty="0">
              <a:effectLst/>
              <a:latin typeface="Times New Roman" panose="02020603050405020304" pitchFamily="18" charset="0"/>
              <a:ea typeface="Times New Roman" panose="02020603050405020304" pitchFamily="18" charset="0"/>
            </a:endParaRPr>
          </a:p>
          <a:p>
            <a:pPr marL="527685">
              <a:lnSpc>
                <a:spcPts val="1380"/>
              </a:lnSpc>
              <a:spcBef>
                <a:spcPts val="5"/>
              </a:spcBef>
              <a:spcAft>
                <a:spcPts val="0"/>
              </a:spcAft>
            </a:pPr>
            <a:endParaRPr lang="en-US" sz="2800" dirty="0">
              <a:effectLst/>
              <a:latin typeface="Times New Roman" panose="02020603050405020304" pitchFamily="18" charset="0"/>
              <a:ea typeface="Times New Roman" panose="02020603050405020304" pitchFamily="18" charset="0"/>
            </a:endParaRPr>
          </a:p>
          <a:p>
            <a:pPr marL="342900" lvl="0" indent="-342900">
              <a:lnSpc>
                <a:spcPts val="1465"/>
              </a:lnSpc>
              <a:buSzPts val="1200"/>
              <a:buFont typeface="Symbol" panose="05050102010706020507" pitchFamily="18" charset="2"/>
              <a:buChar char=""/>
              <a:tabLst>
                <a:tab pos="984885" algn="l"/>
                <a:tab pos="98552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Assessing risks and identifying</a:t>
            </a:r>
            <a:r>
              <a:rPr lang="en-US" sz="2800" spc="-5" dirty="0">
                <a:effectLst/>
                <a:latin typeface="Times New Roman" panose="02020603050405020304" pitchFamily="18" charset="0"/>
                <a:ea typeface="Symbol" panose="05050102010706020507" pitchFamily="18" charset="2"/>
                <a:cs typeface="Symbol" panose="05050102010706020507" pitchFamily="18" charset="2"/>
              </a:rPr>
              <a:t> </a:t>
            </a:r>
            <a:r>
              <a:rPr lang="en-US" sz="2800" dirty="0">
                <a:effectLst/>
                <a:latin typeface="Times New Roman" panose="02020603050405020304" pitchFamily="18" charset="0"/>
                <a:ea typeface="Symbol" panose="05050102010706020507" pitchFamily="18" charset="2"/>
                <a:cs typeface="Symbol" panose="05050102010706020507" pitchFamily="18" charset="2"/>
              </a:rPr>
              <a:t>problems</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lnSpc>
                <a:spcPts val="1465"/>
              </a:lnSpc>
              <a:buSzPts val="1200"/>
              <a:buFont typeface="Symbol" panose="05050102010706020507" pitchFamily="18" charset="2"/>
              <a:buChar char=""/>
              <a:tabLst>
                <a:tab pos="984885" algn="l"/>
                <a:tab pos="985520" algn="l"/>
              </a:tabLst>
            </a:pP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lnSpc>
                <a:spcPts val="1465"/>
              </a:lnSpc>
              <a:buSzPts val="1200"/>
              <a:buFont typeface="Symbol" panose="05050102010706020507" pitchFamily="18" charset="2"/>
              <a:buChar char=""/>
              <a:tabLst>
                <a:tab pos="984885" algn="l"/>
                <a:tab pos="98552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Planning and performing the audit effectively and</a:t>
            </a:r>
            <a:r>
              <a:rPr lang="en-US" sz="2800" spc="-10" dirty="0">
                <a:effectLst/>
                <a:latin typeface="Times New Roman" panose="02020603050405020304" pitchFamily="18" charset="0"/>
                <a:ea typeface="Symbol" panose="05050102010706020507" pitchFamily="18" charset="2"/>
                <a:cs typeface="Symbol" panose="05050102010706020507" pitchFamily="18" charset="2"/>
              </a:rPr>
              <a:t> </a:t>
            </a:r>
            <a:r>
              <a:rPr lang="en-US" sz="2800" dirty="0">
                <a:effectLst/>
                <a:latin typeface="Times New Roman" panose="02020603050405020304" pitchFamily="18" charset="0"/>
                <a:ea typeface="Symbol" panose="05050102010706020507" pitchFamily="18" charset="2"/>
                <a:cs typeface="Symbol" panose="05050102010706020507" pitchFamily="18" charset="2"/>
              </a:rPr>
              <a:t>efficiently</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lnSpc>
                <a:spcPts val="1465"/>
              </a:lnSpc>
              <a:buSzPts val="1200"/>
              <a:buFont typeface="Symbol" panose="05050102010706020507" pitchFamily="18" charset="2"/>
              <a:buChar char=""/>
              <a:tabLst>
                <a:tab pos="984885" algn="l"/>
                <a:tab pos="985520" algn="l"/>
              </a:tabLst>
            </a:pP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lnSpc>
                <a:spcPts val="1465"/>
              </a:lnSpc>
              <a:buSzPts val="1200"/>
              <a:buFont typeface="Symbol" panose="05050102010706020507" pitchFamily="18" charset="2"/>
              <a:buChar char=""/>
              <a:tabLst>
                <a:tab pos="984885" algn="l"/>
                <a:tab pos="98552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Evaluation audit</a:t>
            </a:r>
            <a:r>
              <a:rPr lang="en-US" sz="2800" spc="-5" dirty="0">
                <a:effectLst/>
                <a:latin typeface="Times New Roman" panose="02020603050405020304" pitchFamily="18" charset="0"/>
                <a:ea typeface="Symbol" panose="05050102010706020507" pitchFamily="18" charset="2"/>
                <a:cs typeface="Symbol" panose="05050102010706020507" pitchFamily="18" charset="2"/>
              </a:rPr>
              <a:t> </a:t>
            </a:r>
            <a:r>
              <a:rPr lang="en-US" sz="2800" dirty="0">
                <a:effectLst/>
                <a:latin typeface="Times New Roman" panose="02020603050405020304" pitchFamily="18" charset="0"/>
                <a:ea typeface="Symbol" panose="05050102010706020507" pitchFamily="18" charset="2"/>
                <a:cs typeface="Symbol" panose="05050102010706020507" pitchFamily="18" charset="2"/>
              </a:rPr>
              <a:t>evidence</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r>
              <a:rPr lang="en-US" sz="2800" dirty="0">
                <a:effectLst/>
                <a:latin typeface="Times New Roman" panose="02020603050405020304" pitchFamily="18" charset="0"/>
                <a:ea typeface="Times New Roman" panose="02020603050405020304" pitchFamily="18" charset="0"/>
              </a:rPr>
              <a:t> </a:t>
            </a:r>
            <a:endParaRPr lang="en-US" sz="2800" dirty="0">
              <a:effectLst/>
              <a:latin typeface="Times New Roman" panose="02020603050405020304" pitchFamily="18" charset="0"/>
              <a:ea typeface="Times New Roman" panose="02020603050405020304" pitchFamily="18" charset="0"/>
            </a:endParaRPr>
          </a:p>
          <a:p>
            <a:endParaRPr lang="en-US" sz="2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kern="0" spc="-5" dirty="0">
                <a:effectLst/>
                <a:latin typeface="Times New Roman" panose="02020603050405020304" pitchFamily="18" charset="0"/>
                <a:ea typeface="Times New Roman" panose="02020603050405020304" pitchFamily="18" charset="0"/>
              </a:rPr>
              <a:t>Matters to Consider in Relation to Knowledge of the</a:t>
            </a:r>
            <a:r>
              <a:rPr lang="en-US" sz="4000" b="1" kern="0" spc="-35" dirty="0">
                <a:effectLst/>
                <a:latin typeface="Times New Roman" panose="02020603050405020304" pitchFamily="18" charset="0"/>
                <a:ea typeface="Times New Roman" panose="02020603050405020304" pitchFamily="18" charset="0"/>
              </a:rPr>
              <a:t> </a:t>
            </a:r>
            <a:r>
              <a:rPr lang="en-US" sz="4000" b="1" kern="0" spc="-5" dirty="0">
                <a:effectLst/>
                <a:latin typeface="Times New Roman" panose="02020603050405020304" pitchFamily="18" charset="0"/>
                <a:ea typeface="Times New Roman" panose="02020603050405020304" pitchFamily="18" charset="0"/>
              </a:rPr>
              <a:t>Business</a:t>
            </a:r>
            <a:br>
              <a:rPr lang="en-US" sz="1800" b="1" kern="0" spc="-5" dirty="0">
                <a:effectLst/>
                <a:latin typeface="Times New Roman" panose="02020603050405020304" pitchFamily="18" charset="0"/>
                <a:ea typeface="Times New Roman" panose="02020603050405020304" pitchFamily="18" charset="0"/>
              </a:rPr>
            </a:br>
            <a:endParaRPr lang="en-US" dirty="0"/>
          </a:p>
        </p:txBody>
      </p:sp>
      <p:sp>
        <p:nvSpPr>
          <p:cNvPr id="3" name="Content Placeholder 2"/>
          <p:cNvSpPr>
            <a:spLocks noGrp="1"/>
          </p:cNvSpPr>
          <p:nvPr>
            <p:ph idx="1"/>
          </p:nvPr>
        </p:nvSpPr>
        <p:spPr>
          <a:xfrm>
            <a:off x="132522" y="1845733"/>
            <a:ext cx="11887200" cy="4329779"/>
          </a:xfrm>
        </p:spPr>
        <p:txBody>
          <a:bodyPr/>
          <a:lstStyle/>
          <a:p>
            <a:pPr marL="1143000" lvl="2" indent="-228600" algn="l">
              <a:lnSpc>
                <a:spcPts val="1380"/>
              </a:lnSpc>
              <a:buSzPts val="1200"/>
              <a:buFont typeface="Times New Roman" panose="02020603050405020304" pitchFamily="18" charset="0"/>
              <a:buAutoNum type="arabicPeriod"/>
              <a:tabLst>
                <a:tab pos="984885" algn="l"/>
                <a:tab pos="985520" algn="l"/>
              </a:tabLst>
            </a:pPr>
            <a:r>
              <a:rPr lang="en-US" sz="2800" b="1" spc="-5" dirty="0">
                <a:effectLst/>
                <a:latin typeface="Times New Roman" panose="02020603050405020304" pitchFamily="18" charset="0"/>
                <a:ea typeface="Times New Roman" panose="02020603050405020304" pitchFamily="18" charset="0"/>
              </a:rPr>
              <a:t>General Economic Factors:</a:t>
            </a:r>
            <a:endParaRPr lang="en-US" sz="2800" b="1" spc="-5" dirty="0">
              <a:effectLst/>
              <a:latin typeface="Times New Roman" panose="02020603050405020304" pitchFamily="18" charset="0"/>
              <a:ea typeface="Times New Roman" panose="02020603050405020304" pitchFamily="18" charset="0"/>
            </a:endParaRPr>
          </a:p>
          <a:p>
            <a:pPr marL="1143000" lvl="2" indent="-228600" algn="l">
              <a:lnSpc>
                <a:spcPts val="1380"/>
              </a:lnSpc>
              <a:buSzPts val="1200"/>
              <a:buFont typeface="Times New Roman" panose="02020603050405020304" pitchFamily="18" charset="0"/>
              <a:buAutoNum type="arabicPeriod"/>
              <a:tabLst>
                <a:tab pos="984885" algn="l"/>
                <a:tab pos="985520" algn="l"/>
              </a:tabLst>
            </a:pPr>
            <a:endParaRPr lang="en-US" sz="2800" b="1" spc="-5" dirty="0">
              <a:effectLst/>
              <a:latin typeface="Times New Roman" panose="02020603050405020304" pitchFamily="18" charset="0"/>
              <a:ea typeface="Times New Roman" panose="02020603050405020304" pitchFamily="18" charset="0"/>
            </a:endParaRPr>
          </a:p>
          <a:p>
            <a:pPr marL="342900" lvl="0" indent="-342900">
              <a:lnSpc>
                <a:spcPts val="1465"/>
              </a:lnSpc>
              <a:buSzPts val="1200"/>
              <a:buFont typeface="Symbol" panose="05050102010706020507" pitchFamily="18" charset="2"/>
              <a:buChar char=""/>
              <a:tabLst>
                <a:tab pos="984885" algn="l"/>
                <a:tab pos="98552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General level of economic activity (for example growth, recession</a:t>
            </a:r>
            <a:r>
              <a:rPr lang="en-US" sz="2800" spc="-30" dirty="0">
                <a:effectLst/>
                <a:latin typeface="Times New Roman" panose="02020603050405020304" pitchFamily="18" charset="0"/>
                <a:ea typeface="Symbol" panose="05050102010706020507" pitchFamily="18" charset="2"/>
                <a:cs typeface="Symbol" panose="05050102010706020507" pitchFamily="18" charset="2"/>
              </a:rPr>
              <a:t> </a:t>
            </a:r>
            <a:r>
              <a:rPr lang="en-US" sz="2800" dirty="0" err="1">
                <a:effectLst/>
                <a:latin typeface="Times New Roman" panose="02020603050405020304" pitchFamily="18" charset="0"/>
                <a:ea typeface="Symbol" panose="05050102010706020507" pitchFamily="18" charset="2"/>
                <a:cs typeface="Symbol" panose="05050102010706020507" pitchFamily="18" charset="2"/>
              </a:rPr>
              <a:t>etc</a:t>
            </a:r>
            <a:r>
              <a:rPr lang="en-US" sz="2800" dirty="0">
                <a:effectLst/>
                <a:latin typeface="Times New Roman" panose="02020603050405020304" pitchFamily="18" charset="0"/>
                <a:ea typeface="Symbol" panose="05050102010706020507" pitchFamily="18" charset="2"/>
                <a:cs typeface="Symbol" panose="05050102010706020507" pitchFamily="18" charset="2"/>
              </a:rPr>
              <a:t>)</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lnSpc>
                <a:spcPts val="1465"/>
              </a:lnSpc>
              <a:buSzPts val="1200"/>
              <a:buFont typeface="Symbol" panose="05050102010706020507" pitchFamily="18" charset="2"/>
              <a:buChar char=""/>
              <a:tabLst>
                <a:tab pos="984885" algn="l"/>
                <a:tab pos="985520" algn="l"/>
              </a:tabLst>
            </a:pP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lnSpc>
                <a:spcPts val="1465"/>
              </a:lnSpc>
              <a:buSzPts val="1200"/>
              <a:buFont typeface="Symbol" panose="05050102010706020507" pitchFamily="18" charset="2"/>
              <a:buChar char=""/>
              <a:tabLst>
                <a:tab pos="984885" algn="l"/>
                <a:tab pos="98552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Interest rate and availability of</a:t>
            </a:r>
            <a:r>
              <a:rPr lang="en-US" sz="2800" spc="-15" dirty="0">
                <a:effectLst/>
                <a:latin typeface="Times New Roman" panose="02020603050405020304" pitchFamily="18" charset="0"/>
                <a:ea typeface="Symbol" panose="05050102010706020507" pitchFamily="18" charset="2"/>
                <a:cs typeface="Symbol" panose="05050102010706020507" pitchFamily="18" charset="2"/>
              </a:rPr>
              <a:t> </a:t>
            </a:r>
            <a:r>
              <a:rPr lang="en-US" sz="2800" dirty="0">
                <a:effectLst/>
                <a:latin typeface="Times New Roman" panose="02020603050405020304" pitchFamily="18" charset="0"/>
                <a:ea typeface="Symbol" panose="05050102010706020507" pitchFamily="18" charset="2"/>
                <a:cs typeface="Symbol" panose="05050102010706020507" pitchFamily="18" charset="2"/>
              </a:rPr>
              <a:t>financing</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lnSpc>
                <a:spcPts val="1465"/>
              </a:lnSpc>
              <a:buSzPts val="1200"/>
              <a:buFont typeface="Symbol" panose="05050102010706020507" pitchFamily="18" charset="2"/>
              <a:buChar char=""/>
              <a:tabLst>
                <a:tab pos="984885" algn="l"/>
                <a:tab pos="985520" algn="l"/>
              </a:tabLst>
            </a:pP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lnSpc>
                <a:spcPts val="1465"/>
              </a:lnSpc>
              <a:buSzPts val="1200"/>
              <a:buFont typeface="Symbol" panose="05050102010706020507" pitchFamily="18" charset="2"/>
              <a:buChar char=""/>
              <a:tabLst>
                <a:tab pos="984885" algn="l"/>
                <a:tab pos="98552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Inflation</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lnSpc>
                <a:spcPts val="1465"/>
              </a:lnSpc>
              <a:buSzPts val="1200"/>
              <a:buFont typeface="Symbol" panose="05050102010706020507" pitchFamily="18" charset="2"/>
              <a:buChar char=""/>
              <a:tabLst>
                <a:tab pos="984885" algn="l"/>
                <a:tab pos="985520" algn="l"/>
              </a:tabLst>
            </a:pP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lnSpc>
                <a:spcPts val="1465"/>
              </a:lnSpc>
              <a:buSzPts val="1200"/>
              <a:buFont typeface="Symbol" panose="05050102010706020507" pitchFamily="18" charset="2"/>
              <a:buChar char=""/>
              <a:tabLst>
                <a:tab pos="984885" algn="l"/>
                <a:tab pos="98552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Government’s monetary, fiscal, taxation and trade restriction</a:t>
            </a:r>
            <a:r>
              <a:rPr lang="en-US" sz="2800" spc="-30" dirty="0">
                <a:effectLst/>
                <a:latin typeface="Times New Roman" panose="02020603050405020304" pitchFamily="18" charset="0"/>
                <a:ea typeface="Symbol" panose="05050102010706020507" pitchFamily="18" charset="2"/>
                <a:cs typeface="Symbol" panose="05050102010706020507" pitchFamily="18" charset="2"/>
              </a:rPr>
              <a:t> </a:t>
            </a:r>
            <a:r>
              <a:rPr lang="en-US" sz="2800" dirty="0">
                <a:effectLst/>
                <a:latin typeface="Times New Roman" panose="02020603050405020304" pitchFamily="18" charset="0"/>
                <a:ea typeface="Symbol" panose="05050102010706020507" pitchFamily="18" charset="2"/>
                <a:cs typeface="Symbol" panose="05050102010706020507" pitchFamily="18" charset="2"/>
              </a:rPr>
              <a:t>policies</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lnSpc>
                <a:spcPts val="1465"/>
              </a:lnSpc>
              <a:buSzPts val="1200"/>
              <a:buFont typeface="Symbol" panose="05050102010706020507" pitchFamily="18" charset="2"/>
              <a:buChar char=""/>
              <a:tabLst>
                <a:tab pos="984885" algn="l"/>
                <a:tab pos="985520" algn="l"/>
              </a:tabLst>
            </a:pP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lnSpc>
                <a:spcPts val="1465"/>
              </a:lnSpc>
              <a:buSzPts val="1200"/>
              <a:buFont typeface="Symbol" panose="05050102010706020507" pitchFamily="18" charset="2"/>
              <a:buChar char=""/>
              <a:tabLst>
                <a:tab pos="984885" algn="l"/>
                <a:tab pos="98552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Foreign currency rates and</a:t>
            </a:r>
            <a:r>
              <a:rPr lang="en-US" sz="2800" spc="-5" dirty="0">
                <a:effectLst/>
                <a:latin typeface="Times New Roman" panose="02020603050405020304" pitchFamily="18" charset="0"/>
                <a:ea typeface="Symbol" panose="05050102010706020507" pitchFamily="18" charset="2"/>
                <a:cs typeface="Symbol" panose="05050102010706020507" pitchFamily="18" charset="2"/>
              </a:rPr>
              <a:t> </a:t>
            </a:r>
            <a:r>
              <a:rPr lang="en-US" sz="2800" dirty="0">
                <a:effectLst/>
                <a:latin typeface="Times New Roman" panose="02020603050405020304" pitchFamily="18" charset="0"/>
                <a:ea typeface="Symbol" panose="05050102010706020507" pitchFamily="18" charset="2"/>
                <a:cs typeface="Symbol" panose="05050102010706020507" pitchFamily="18" charset="2"/>
              </a:rPr>
              <a:t>control</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800" b="1" kern="0" spc="-5" dirty="0">
                <a:effectLst/>
                <a:latin typeface="Times New Roman" panose="02020603050405020304" pitchFamily="18" charset="0"/>
                <a:ea typeface="Times New Roman" panose="02020603050405020304" pitchFamily="18" charset="0"/>
              </a:rPr>
              <a:t>Matters to Consider in Relation to Knowledge of the</a:t>
            </a:r>
            <a:r>
              <a:rPr lang="en-US" sz="4800" b="1" kern="0" spc="-35" dirty="0">
                <a:effectLst/>
                <a:latin typeface="Times New Roman" panose="02020603050405020304" pitchFamily="18" charset="0"/>
                <a:ea typeface="Times New Roman" panose="02020603050405020304" pitchFamily="18" charset="0"/>
              </a:rPr>
              <a:t> </a:t>
            </a:r>
            <a:r>
              <a:rPr lang="en-US" sz="4800" b="1" kern="0" spc="-5" dirty="0">
                <a:effectLst/>
                <a:latin typeface="Times New Roman" panose="02020603050405020304" pitchFamily="18" charset="0"/>
                <a:ea typeface="Times New Roman" panose="02020603050405020304" pitchFamily="18" charset="0"/>
              </a:rPr>
              <a:t>Business</a:t>
            </a:r>
            <a:br>
              <a:rPr lang="en-US" sz="2400" b="1" kern="0" spc="-5" dirty="0">
                <a:effectLst/>
                <a:latin typeface="Times New Roman" panose="02020603050405020304" pitchFamily="18" charset="0"/>
                <a:ea typeface="Times New Roman" panose="02020603050405020304" pitchFamily="18" charset="0"/>
              </a:rPr>
            </a:br>
            <a:endParaRPr lang="en-US" dirty="0"/>
          </a:p>
        </p:txBody>
      </p:sp>
      <p:sp>
        <p:nvSpPr>
          <p:cNvPr id="3" name="Content Placeholder 2"/>
          <p:cNvSpPr>
            <a:spLocks noGrp="1"/>
          </p:cNvSpPr>
          <p:nvPr>
            <p:ph idx="1"/>
          </p:nvPr>
        </p:nvSpPr>
        <p:spPr>
          <a:xfrm>
            <a:off x="106017" y="1845734"/>
            <a:ext cx="11953461" cy="4382788"/>
          </a:xfrm>
        </p:spPr>
        <p:txBody>
          <a:bodyPr>
            <a:normAutofit fontScale="92500" lnSpcReduction="20000"/>
          </a:bodyPr>
          <a:lstStyle/>
          <a:p>
            <a:pPr marL="914400" lvl="2" indent="0" algn="l">
              <a:lnSpc>
                <a:spcPts val="1380"/>
              </a:lnSpc>
              <a:buSzPts val="1200"/>
              <a:buNone/>
              <a:tabLst>
                <a:tab pos="984885" algn="l"/>
                <a:tab pos="985520" algn="l"/>
              </a:tabLst>
            </a:pPr>
            <a:endParaRPr lang="en-US" sz="2800" b="1" spc="-5" dirty="0">
              <a:effectLst/>
              <a:latin typeface="Times New Roman" panose="02020603050405020304" pitchFamily="18" charset="0"/>
              <a:ea typeface="Times New Roman" panose="02020603050405020304" pitchFamily="18" charset="0"/>
            </a:endParaRPr>
          </a:p>
          <a:p>
            <a:pPr marL="914400" lvl="2" indent="0" algn="l">
              <a:lnSpc>
                <a:spcPts val="1380"/>
              </a:lnSpc>
              <a:buSzPts val="1200"/>
              <a:buNone/>
              <a:tabLst>
                <a:tab pos="984885" algn="l"/>
                <a:tab pos="985520" algn="l"/>
              </a:tabLst>
            </a:pPr>
            <a:r>
              <a:rPr lang="en-US" sz="2800" b="1" spc="-5" dirty="0">
                <a:effectLst/>
                <a:latin typeface="Times New Roman" panose="02020603050405020304" pitchFamily="18" charset="0"/>
                <a:ea typeface="Times New Roman" panose="02020603050405020304" pitchFamily="18" charset="0"/>
              </a:rPr>
              <a:t>2. The Industrial Conditions Affecting the Client’s</a:t>
            </a:r>
            <a:r>
              <a:rPr lang="en-US" sz="2800" b="1" spc="-20" dirty="0">
                <a:effectLst/>
                <a:latin typeface="Times New Roman" panose="02020603050405020304" pitchFamily="18" charset="0"/>
                <a:ea typeface="Times New Roman" panose="02020603050405020304" pitchFamily="18" charset="0"/>
              </a:rPr>
              <a:t> </a:t>
            </a:r>
            <a:r>
              <a:rPr lang="en-US" sz="2800" b="1" spc="-5" dirty="0">
                <a:effectLst/>
                <a:latin typeface="Times New Roman" panose="02020603050405020304" pitchFamily="18" charset="0"/>
                <a:ea typeface="Times New Roman" panose="02020603050405020304" pitchFamily="18" charset="0"/>
              </a:rPr>
              <a:t>Business:</a:t>
            </a:r>
            <a:endParaRPr lang="en-US" sz="2800" b="1" spc="-5" dirty="0">
              <a:effectLst/>
              <a:latin typeface="Times New Roman" panose="02020603050405020304" pitchFamily="18" charset="0"/>
              <a:ea typeface="Times New Roman" panose="02020603050405020304" pitchFamily="18" charset="0"/>
            </a:endParaRPr>
          </a:p>
          <a:p>
            <a:pPr marL="342900" lvl="0" indent="-342900">
              <a:lnSpc>
                <a:spcPts val="1465"/>
              </a:lnSpc>
              <a:buSzPts val="1200"/>
              <a:buFont typeface="Symbol" panose="05050102010706020507" pitchFamily="18" charset="2"/>
              <a:buChar char=""/>
              <a:tabLst>
                <a:tab pos="984885" algn="l"/>
                <a:tab pos="98552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The market and</a:t>
            </a:r>
            <a:r>
              <a:rPr lang="en-US" sz="2800" spc="-10" dirty="0">
                <a:effectLst/>
                <a:latin typeface="Times New Roman" panose="02020603050405020304" pitchFamily="18" charset="0"/>
                <a:ea typeface="Symbol" panose="05050102010706020507" pitchFamily="18" charset="2"/>
                <a:cs typeface="Symbol" panose="05050102010706020507" pitchFamily="18" charset="2"/>
              </a:rPr>
              <a:t> </a:t>
            </a:r>
            <a:r>
              <a:rPr lang="en-US" sz="2800" dirty="0">
                <a:effectLst/>
                <a:latin typeface="Times New Roman" panose="02020603050405020304" pitchFamily="18" charset="0"/>
                <a:ea typeface="Symbol" panose="05050102010706020507" pitchFamily="18" charset="2"/>
                <a:cs typeface="Symbol" panose="05050102010706020507" pitchFamily="18" charset="2"/>
              </a:rPr>
              <a:t>competition</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lnSpc>
                <a:spcPts val="1465"/>
              </a:lnSpc>
              <a:buSzPts val="1200"/>
              <a:buFont typeface="Symbol" panose="05050102010706020507" pitchFamily="18" charset="2"/>
              <a:buChar char=""/>
              <a:tabLst>
                <a:tab pos="984885" algn="l"/>
                <a:tab pos="985520" algn="l"/>
              </a:tabLst>
            </a:pP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lnSpc>
                <a:spcPts val="1465"/>
              </a:lnSpc>
              <a:buSzPts val="1200"/>
              <a:buFont typeface="Symbol" panose="05050102010706020507" pitchFamily="18" charset="2"/>
              <a:buChar char=""/>
              <a:tabLst>
                <a:tab pos="984885" algn="l"/>
                <a:tab pos="98552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Cyclical and seasonal</a:t>
            </a:r>
            <a:r>
              <a:rPr lang="en-US" sz="2800" spc="-20" dirty="0">
                <a:effectLst/>
                <a:latin typeface="Times New Roman" panose="02020603050405020304" pitchFamily="18" charset="0"/>
                <a:ea typeface="Symbol" panose="05050102010706020507" pitchFamily="18" charset="2"/>
                <a:cs typeface="Symbol" panose="05050102010706020507" pitchFamily="18" charset="2"/>
              </a:rPr>
              <a:t> </a:t>
            </a:r>
            <a:r>
              <a:rPr lang="en-US" sz="2800" dirty="0">
                <a:effectLst/>
                <a:latin typeface="Times New Roman" panose="02020603050405020304" pitchFamily="18" charset="0"/>
                <a:ea typeface="Symbol" panose="05050102010706020507" pitchFamily="18" charset="2"/>
                <a:cs typeface="Symbol" panose="05050102010706020507" pitchFamily="18" charset="2"/>
              </a:rPr>
              <a:t>activity</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lnSpc>
                <a:spcPts val="1465"/>
              </a:lnSpc>
              <a:buSzPts val="1200"/>
              <a:buFont typeface="Symbol" panose="05050102010706020507" pitchFamily="18" charset="2"/>
              <a:buChar char=""/>
              <a:tabLst>
                <a:tab pos="984885" algn="l"/>
                <a:tab pos="985520" algn="l"/>
              </a:tabLst>
            </a:pP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lnSpc>
                <a:spcPts val="1465"/>
              </a:lnSpc>
              <a:buSzPts val="1200"/>
              <a:buFont typeface="Symbol" panose="05050102010706020507" pitchFamily="18" charset="2"/>
              <a:buChar char=""/>
              <a:tabLst>
                <a:tab pos="984885" algn="l"/>
                <a:tab pos="98552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Changes in product</a:t>
            </a:r>
            <a:r>
              <a:rPr lang="en-US" sz="2800" spc="-20" dirty="0">
                <a:effectLst/>
                <a:latin typeface="Times New Roman" panose="02020603050405020304" pitchFamily="18" charset="0"/>
                <a:ea typeface="Symbol" panose="05050102010706020507" pitchFamily="18" charset="2"/>
                <a:cs typeface="Symbol" panose="05050102010706020507" pitchFamily="18" charset="2"/>
              </a:rPr>
              <a:t> </a:t>
            </a:r>
            <a:r>
              <a:rPr lang="en-US" sz="2800" dirty="0">
                <a:effectLst/>
                <a:latin typeface="Times New Roman" panose="02020603050405020304" pitchFamily="18" charset="0"/>
                <a:ea typeface="Symbol" panose="05050102010706020507" pitchFamily="18" charset="2"/>
                <a:cs typeface="Symbol" panose="05050102010706020507" pitchFamily="18" charset="2"/>
              </a:rPr>
              <a:t>technology</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lnSpc>
                <a:spcPts val="1465"/>
              </a:lnSpc>
              <a:buSzPts val="1200"/>
              <a:buFont typeface="Symbol" panose="05050102010706020507" pitchFamily="18" charset="2"/>
              <a:buChar char=""/>
              <a:tabLst>
                <a:tab pos="984885" algn="l"/>
                <a:tab pos="985520" algn="l"/>
              </a:tabLst>
            </a:pP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marR="1186815" lvl="0" indent="-342900">
              <a:buSzPts val="1200"/>
              <a:buFont typeface="Symbol" panose="05050102010706020507" pitchFamily="18" charset="2"/>
              <a:buChar char=""/>
              <a:tabLst>
                <a:tab pos="984885" algn="l"/>
                <a:tab pos="98552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Business risk (for example high technology, high fashion, ease of entry for competition)</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marR="1186815" lvl="0" indent="-342900">
              <a:buSzPts val="1200"/>
              <a:buFont typeface="Symbol" panose="05050102010706020507" pitchFamily="18" charset="2"/>
              <a:buChar char=""/>
              <a:tabLst>
                <a:tab pos="984885" algn="l"/>
                <a:tab pos="985520" algn="l"/>
              </a:tabLst>
            </a:pP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lnSpc>
                <a:spcPts val="1460"/>
              </a:lnSpc>
              <a:buSzPts val="1200"/>
              <a:buFont typeface="Symbol" panose="05050102010706020507" pitchFamily="18" charset="2"/>
              <a:buChar char=""/>
              <a:tabLst>
                <a:tab pos="984885" algn="l"/>
                <a:tab pos="98552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Declining or expanding</a:t>
            </a:r>
            <a:r>
              <a:rPr lang="en-US" sz="2800" spc="-20" dirty="0">
                <a:effectLst/>
                <a:latin typeface="Times New Roman" panose="02020603050405020304" pitchFamily="18" charset="0"/>
                <a:ea typeface="Symbol" panose="05050102010706020507" pitchFamily="18" charset="2"/>
                <a:cs typeface="Symbol" panose="05050102010706020507" pitchFamily="18" charset="2"/>
              </a:rPr>
              <a:t> </a:t>
            </a:r>
            <a:r>
              <a:rPr lang="en-US" sz="2800" dirty="0">
                <a:effectLst/>
                <a:latin typeface="Times New Roman" panose="02020603050405020304" pitchFamily="18" charset="0"/>
                <a:ea typeface="Symbol" panose="05050102010706020507" pitchFamily="18" charset="2"/>
                <a:cs typeface="Symbol" panose="05050102010706020507" pitchFamily="18" charset="2"/>
              </a:rPr>
              <a:t>operations</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endParaRPr lang="en-US" sz="2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800" b="1" kern="0" spc="-5" dirty="0">
                <a:effectLst/>
                <a:latin typeface="Times New Roman" panose="02020603050405020304" pitchFamily="18" charset="0"/>
                <a:ea typeface="Times New Roman" panose="02020603050405020304" pitchFamily="18" charset="0"/>
              </a:rPr>
              <a:t>Matters to Consider in Relation to Knowledge of the</a:t>
            </a:r>
            <a:r>
              <a:rPr lang="en-US" sz="4800" b="1" kern="0" spc="-35" dirty="0">
                <a:effectLst/>
                <a:latin typeface="Times New Roman" panose="02020603050405020304" pitchFamily="18" charset="0"/>
                <a:ea typeface="Times New Roman" panose="02020603050405020304" pitchFamily="18" charset="0"/>
              </a:rPr>
              <a:t> </a:t>
            </a:r>
            <a:r>
              <a:rPr lang="en-US" sz="4800" b="1" kern="0" spc="-5" dirty="0">
                <a:effectLst/>
                <a:latin typeface="Times New Roman" panose="02020603050405020304" pitchFamily="18" charset="0"/>
                <a:ea typeface="Times New Roman" panose="02020603050405020304" pitchFamily="18" charset="0"/>
              </a:rPr>
              <a:t>Business</a:t>
            </a:r>
            <a:br>
              <a:rPr lang="en-US" sz="2400" b="1" kern="0" spc="-5" dirty="0">
                <a:effectLst/>
                <a:latin typeface="Times New Roman" panose="02020603050405020304" pitchFamily="18" charset="0"/>
                <a:ea typeface="Times New Roman" panose="02020603050405020304" pitchFamily="18" charset="0"/>
              </a:rPr>
            </a:br>
            <a:endParaRPr lang="en-US" dirty="0"/>
          </a:p>
        </p:txBody>
      </p:sp>
      <p:sp>
        <p:nvSpPr>
          <p:cNvPr id="3" name="Content Placeholder 2"/>
          <p:cNvSpPr>
            <a:spLocks noGrp="1"/>
          </p:cNvSpPr>
          <p:nvPr>
            <p:ph idx="1"/>
          </p:nvPr>
        </p:nvSpPr>
        <p:spPr>
          <a:xfrm>
            <a:off x="132523" y="1845733"/>
            <a:ext cx="11953460" cy="4356283"/>
          </a:xfrm>
        </p:spPr>
        <p:txBody>
          <a:bodyPr>
            <a:normAutofit/>
          </a:bodyPr>
          <a:lstStyle/>
          <a:p>
            <a:pPr marL="914400" marR="1186815" lvl="2" indent="0" algn="just">
              <a:spcAft>
                <a:spcPts val="0"/>
              </a:spcAft>
              <a:buSzPts val="1200"/>
              <a:buNone/>
              <a:tabLst>
                <a:tab pos="985520" algn="l"/>
              </a:tabLst>
            </a:pPr>
            <a:r>
              <a:rPr lang="en-US" sz="2800" b="1" spc="-5" dirty="0">
                <a:effectLst/>
                <a:latin typeface="Times New Roman" panose="02020603050405020304" pitchFamily="18" charset="0"/>
                <a:ea typeface="Times New Roman" panose="02020603050405020304" pitchFamily="18" charset="0"/>
              </a:rPr>
              <a:t>3. The Entity’s Business – Products, Markets, Suppliers, Expenses and Operations:</a:t>
            </a:r>
            <a:endParaRPr lang="en-US" sz="2800" b="1" spc="-5" dirty="0">
              <a:effectLst/>
              <a:latin typeface="Times New Roman" panose="02020603050405020304" pitchFamily="18" charset="0"/>
              <a:ea typeface="Times New Roman" panose="02020603050405020304" pitchFamily="18" charset="0"/>
            </a:endParaRPr>
          </a:p>
          <a:p>
            <a:pPr marL="342900" marR="1186815" lvl="0" indent="-342900" algn="just">
              <a:spcAft>
                <a:spcPts val="0"/>
              </a:spcAft>
              <a:buSzPts val="1200"/>
              <a:buFont typeface="Symbol" panose="05050102010706020507" pitchFamily="18" charset="2"/>
              <a:buChar char=""/>
              <a:tabLst>
                <a:tab pos="98552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Nature of business (for example manufacturer, wholesaler, financial services, imports/exports)</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marR="1186815" lvl="0" indent="-342900" algn="just">
              <a:spcAft>
                <a:spcPts val="0"/>
              </a:spcAft>
              <a:buSzPts val="1200"/>
              <a:buFont typeface="Symbol" panose="05050102010706020507" pitchFamily="18" charset="2"/>
              <a:buChar char=""/>
              <a:tabLst>
                <a:tab pos="985520" algn="l"/>
              </a:tabLst>
            </a:pP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lgn="just">
              <a:lnSpc>
                <a:spcPts val="1465"/>
              </a:lnSpc>
              <a:buSzPts val="1200"/>
              <a:buFont typeface="Symbol" panose="05050102010706020507" pitchFamily="18" charset="2"/>
              <a:buChar char=""/>
              <a:tabLst>
                <a:tab pos="98552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Location of production facilities, warehouses, offices</a:t>
            </a:r>
            <a:r>
              <a:rPr lang="en-US" sz="2800" spc="-25" dirty="0">
                <a:effectLst/>
                <a:latin typeface="Times New Roman" panose="02020603050405020304" pitchFamily="18" charset="0"/>
                <a:ea typeface="Symbol" panose="05050102010706020507" pitchFamily="18" charset="2"/>
                <a:cs typeface="Symbol" panose="05050102010706020507" pitchFamily="18" charset="2"/>
              </a:rPr>
              <a:t> </a:t>
            </a:r>
            <a:r>
              <a:rPr lang="en-US" sz="2800" dirty="0" err="1">
                <a:effectLst/>
                <a:latin typeface="Times New Roman" panose="02020603050405020304" pitchFamily="18" charset="0"/>
                <a:ea typeface="Symbol" panose="05050102010706020507" pitchFamily="18" charset="2"/>
                <a:cs typeface="Symbol" panose="05050102010706020507" pitchFamily="18" charset="2"/>
              </a:rPr>
              <a:t>etc</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lgn="just">
              <a:lnSpc>
                <a:spcPts val="1465"/>
              </a:lnSpc>
              <a:buSzPts val="1200"/>
              <a:buFont typeface="Symbol" panose="05050102010706020507" pitchFamily="18" charset="2"/>
              <a:buChar char=""/>
              <a:tabLst>
                <a:tab pos="985520" algn="l"/>
              </a:tabLst>
            </a:pP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marR="1186815" lvl="0" indent="-342900" algn="just">
              <a:spcAft>
                <a:spcPts val="0"/>
              </a:spcAft>
              <a:buSzPts val="1200"/>
              <a:buFont typeface="Symbol" panose="05050102010706020507" pitchFamily="18" charset="2"/>
              <a:buChar char=""/>
              <a:tabLst>
                <a:tab pos="98552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Employment (for example by location, supply, wage levels, union contracts, pension commitments, government</a:t>
            </a:r>
            <a:r>
              <a:rPr lang="en-US" sz="2800" spc="-5" dirty="0">
                <a:effectLst/>
                <a:latin typeface="Times New Roman" panose="02020603050405020304" pitchFamily="18" charset="0"/>
                <a:ea typeface="Symbol" panose="05050102010706020507" pitchFamily="18" charset="2"/>
                <a:cs typeface="Symbol" panose="05050102010706020507" pitchFamily="18" charset="2"/>
              </a:rPr>
              <a:t> </a:t>
            </a:r>
            <a:r>
              <a:rPr lang="en-US" sz="2800" dirty="0">
                <a:effectLst/>
                <a:latin typeface="Times New Roman" panose="02020603050405020304" pitchFamily="18" charset="0"/>
                <a:ea typeface="Symbol" panose="05050102010706020507" pitchFamily="18" charset="2"/>
                <a:cs typeface="Symbol" panose="05050102010706020507" pitchFamily="18" charset="2"/>
              </a:rPr>
              <a:t>regulations)</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endParaRPr lang="en-US" sz="2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800" b="1" kern="0" spc="-5" dirty="0">
                <a:effectLst/>
                <a:latin typeface="Times New Roman" panose="02020603050405020304" pitchFamily="18" charset="0"/>
                <a:ea typeface="Times New Roman" panose="02020603050405020304" pitchFamily="18" charset="0"/>
              </a:rPr>
              <a:t>Matters to Consider in Relation to Knowledge of the</a:t>
            </a:r>
            <a:r>
              <a:rPr lang="en-US" sz="4800" b="1" kern="0" spc="-35" dirty="0">
                <a:effectLst/>
                <a:latin typeface="Times New Roman" panose="02020603050405020304" pitchFamily="18" charset="0"/>
                <a:ea typeface="Times New Roman" panose="02020603050405020304" pitchFamily="18" charset="0"/>
              </a:rPr>
              <a:t> </a:t>
            </a:r>
            <a:r>
              <a:rPr lang="en-US" sz="4800" b="1" kern="0" spc="-5" dirty="0">
                <a:effectLst/>
                <a:latin typeface="Times New Roman" panose="02020603050405020304" pitchFamily="18" charset="0"/>
                <a:ea typeface="Times New Roman" panose="02020603050405020304" pitchFamily="18" charset="0"/>
              </a:rPr>
              <a:t>Business</a:t>
            </a:r>
            <a:br>
              <a:rPr lang="en-US" sz="2400" b="1" kern="0" spc="-5" dirty="0">
                <a:effectLst/>
                <a:latin typeface="Times New Roman" panose="02020603050405020304" pitchFamily="18" charset="0"/>
                <a:ea typeface="Times New Roman" panose="02020603050405020304" pitchFamily="18" charset="0"/>
              </a:rPr>
            </a:br>
            <a:endParaRPr lang="en-US" dirty="0"/>
          </a:p>
        </p:txBody>
      </p:sp>
      <p:sp>
        <p:nvSpPr>
          <p:cNvPr id="3" name="Content Placeholder 2"/>
          <p:cNvSpPr>
            <a:spLocks noGrp="1"/>
          </p:cNvSpPr>
          <p:nvPr>
            <p:ph idx="1"/>
          </p:nvPr>
        </p:nvSpPr>
        <p:spPr>
          <a:xfrm>
            <a:off x="92765" y="1845733"/>
            <a:ext cx="11913705" cy="4356283"/>
          </a:xfrm>
        </p:spPr>
        <p:txBody>
          <a:bodyPr>
            <a:normAutofit/>
          </a:bodyPr>
          <a:lstStyle/>
          <a:p>
            <a:pPr marL="914400" lvl="2" indent="0" algn="l">
              <a:buSzPts val="1200"/>
              <a:buNone/>
              <a:tabLst>
                <a:tab pos="984885" algn="l"/>
                <a:tab pos="985520" algn="l"/>
              </a:tabLst>
            </a:pPr>
            <a:r>
              <a:rPr lang="en-US" sz="2800" b="1" spc="-5" dirty="0">
                <a:effectLst/>
                <a:latin typeface="Times New Roman" panose="02020603050405020304" pitchFamily="18" charset="0"/>
                <a:ea typeface="Times New Roman" panose="02020603050405020304" pitchFamily="18" charset="0"/>
              </a:rPr>
              <a:t>4. Financial Performance</a:t>
            </a:r>
            <a:endParaRPr lang="en-US" sz="2800" b="1" spc="-5" dirty="0">
              <a:effectLst/>
              <a:latin typeface="Times New Roman" panose="02020603050405020304" pitchFamily="18" charset="0"/>
              <a:ea typeface="Times New Roman" panose="02020603050405020304" pitchFamily="18" charset="0"/>
            </a:endParaRPr>
          </a:p>
          <a:p>
            <a:pPr marL="527685">
              <a:lnSpc>
                <a:spcPts val="1380"/>
              </a:lnSpc>
            </a:pPr>
            <a:r>
              <a:rPr lang="en-US" sz="2800" dirty="0">
                <a:effectLst/>
                <a:latin typeface="Times New Roman" panose="02020603050405020304" pitchFamily="18" charset="0"/>
                <a:ea typeface="Times New Roman" panose="02020603050405020304" pitchFamily="18" charset="0"/>
              </a:rPr>
              <a:t>Factors concerning the entity’s financial conditions and profitability:</a:t>
            </a:r>
            <a:endParaRPr lang="en-US" sz="2800" dirty="0">
              <a:effectLst/>
              <a:latin typeface="Times New Roman" panose="02020603050405020304" pitchFamily="18" charset="0"/>
              <a:ea typeface="Times New Roman" panose="02020603050405020304" pitchFamily="18" charset="0"/>
            </a:endParaRPr>
          </a:p>
          <a:p>
            <a:pPr marL="527685">
              <a:lnSpc>
                <a:spcPts val="1380"/>
              </a:lnSpc>
            </a:pPr>
            <a:endParaRPr lang="en-US" sz="2800" dirty="0">
              <a:effectLst/>
              <a:latin typeface="Times New Roman" panose="02020603050405020304" pitchFamily="18" charset="0"/>
              <a:ea typeface="Times New Roman" panose="02020603050405020304" pitchFamily="18" charset="0"/>
            </a:endParaRPr>
          </a:p>
          <a:p>
            <a:pPr marL="342900" lvl="0" indent="-342900">
              <a:lnSpc>
                <a:spcPts val="1465"/>
              </a:lnSpc>
              <a:buSzPts val="1200"/>
              <a:buFont typeface="Symbol" panose="05050102010706020507" pitchFamily="18" charset="2"/>
              <a:buChar char=""/>
              <a:tabLst>
                <a:tab pos="984885" algn="l"/>
                <a:tab pos="98552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Accounting</a:t>
            </a:r>
            <a:r>
              <a:rPr lang="en-US" sz="2800" spc="-15" dirty="0">
                <a:effectLst/>
                <a:latin typeface="Times New Roman" panose="02020603050405020304" pitchFamily="18" charset="0"/>
                <a:ea typeface="Symbol" panose="05050102010706020507" pitchFamily="18" charset="2"/>
                <a:cs typeface="Symbol" panose="05050102010706020507" pitchFamily="18" charset="2"/>
              </a:rPr>
              <a:t> </a:t>
            </a:r>
            <a:r>
              <a:rPr lang="en-US" sz="2800" dirty="0">
                <a:effectLst/>
                <a:latin typeface="Times New Roman" panose="02020603050405020304" pitchFamily="18" charset="0"/>
                <a:ea typeface="Symbol" panose="05050102010706020507" pitchFamily="18" charset="2"/>
                <a:cs typeface="Symbol" panose="05050102010706020507" pitchFamily="18" charset="2"/>
              </a:rPr>
              <a:t>policies</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lnSpc>
                <a:spcPts val="1465"/>
              </a:lnSpc>
              <a:buSzPts val="1200"/>
              <a:buFont typeface="Symbol" panose="05050102010706020507" pitchFamily="18" charset="2"/>
              <a:buChar char=""/>
              <a:tabLst>
                <a:tab pos="984885" algn="l"/>
                <a:tab pos="98552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Earnings and cash-flow</a:t>
            </a:r>
            <a:r>
              <a:rPr lang="en-US" sz="2800" spc="-10" dirty="0">
                <a:effectLst/>
                <a:latin typeface="Times New Roman" panose="02020603050405020304" pitchFamily="18" charset="0"/>
                <a:ea typeface="Symbol" panose="05050102010706020507" pitchFamily="18" charset="2"/>
                <a:cs typeface="Symbol" panose="05050102010706020507" pitchFamily="18" charset="2"/>
              </a:rPr>
              <a:t> </a:t>
            </a:r>
            <a:r>
              <a:rPr lang="en-US" sz="2800" dirty="0">
                <a:effectLst/>
                <a:latin typeface="Times New Roman" panose="02020603050405020304" pitchFamily="18" charset="0"/>
                <a:ea typeface="Symbol" panose="05050102010706020507" pitchFamily="18" charset="2"/>
                <a:cs typeface="Symbol" panose="05050102010706020507" pitchFamily="18" charset="2"/>
              </a:rPr>
              <a:t>trends</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lnSpc>
                <a:spcPts val="1465"/>
              </a:lnSpc>
              <a:buSzPts val="1200"/>
              <a:buFont typeface="Symbol" panose="05050102010706020507" pitchFamily="18" charset="2"/>
              <a:buChar char=""/>
              <a:tabLst>
                <a:tab pos="984885" algn="l"/>
                <a:tab pos="98552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Leasing and other financial</a:t>
            </a:r>
            <a:r>
              <a:rPr lang="en-US" sz="2800" spc="-15" dirty="0">
                <a:effectLst/>
                <a:latin typeface="Times New Roman" panose="02020603050405020304" pitchFamily="18" charset="0"/>
                <a:ea typeface="Symbol" panose="05050102010706020507" pitchFamily="18" charset="2"/>
                <a:cs typeface="Symbol" panose="05050102010706020507" pitchFamily="18" charset="2"/>
              </a:rPr>
              <a:t> </a:t>
            </a:r>
            <a:r>
              <a:rPr lang="en-US" sz="2800" dirty="0">
                <a:effectLst/>
                <a:latin typeface="Times New Roman" panose="02020603050405020304" pitchFamily="18" charset="0"/>
                <a:ea typeface="Symbol" panose="05050102010706020507" pitchFamily="18" charset="2"/>
                <a:cs typeface="Symbol" panose="05050102010706020507" pitchFamily="18" charset="2"/>
              </a:rPr>
              <a:t>commitments</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lnSpc>
                <a:spcPts val="1465"/>
              </a:lnSpc>
              <a:buSzPts val="1200"/>
              <a:buFont typeface="Symbol" panose="05050102010706020507" pitchFamily="18" charset="2"/>
              <a:buChar char=""/>
              <a:tabLst>
                <a:tab pos="984885" algn="l"/>
                <a:tab pos="98552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Availability of lines of</a:t>
            </a:r>
            <a:r>
              <a:rPr lang="en-US" sz="2800" spc="-15" dirty="0">
                <a:effectLst/>
                <a:latin typeface="Times New Roman" panose="02020603050405020304" pitchFamily="18" charset="0"/>
                <a:ea typeface="Symbol" panose="05050102010706020507" pitchFamily="18" charset="2"/>
                <a:cs typeface="Symbol" panose="05050102010706020507" pitchFamily="18" charset="2"/>
              </a:rPr>
              <a:t> </a:t>
            </a:r>
            <a:r>
              <a:rPr lang="en-US" sz="2800" dirty="0">
                <a:effectLst/>
                <a:latin typeface="Times New Roman" panose="02020603050405020304" pitchFamily="18" charset="0"/>
                <a:ea typeface="Symbol" panose="05050102010706020507" pitchFamily="18" charset="2"/>
                <a:cs typeface="Symbol" panose="05050102010706020507" pitchFamily="18" charset="2"/>
              </a:rPr>
              <a:t>credit</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lnSpc>
                <a:spcPts val="1465"/>
              </a:lnSpc>
              <a:buSzPts val="1200"/>
              <a:buFont typeface="Symbol" panose="05050102010706020507" pitchFamily="18" charset="2"/>
              <a:buChar char=""/>
              <a:tabLst>
                <a:tab pos="984885" algn="l"/>
                <a:tab pos="98552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Off statement of financial position finance</a:t>
            </a:r>
            <a:r>
              <a:rPr lang="en-US" sz="2800" spc="-15" dirty="0">
                <a:effectLst/>
                <a:latin typeface="Times New Roman" panose="02020603050405020304" pitchFamily="18" charset="0"/>
                <a:ea typeface="Symbol" panose="05050102010706020507" pitchFamily="18" charset="2"/>
                <a:cs typeface="Symbol" panose="05050102010706020507" pitchFamily="18" charset="2"/>
              </a:rPr>
              <a:t> </a:t>
            </a:r>
            <a:r>
              <a:rPr lang="en-US" sz="2800" dirty="0">
                <a:effectLst/>
                <a:latin typeface="Times New Roman" panose="02020603050405020304" pitchFamily="18" charset="0"/>
                <a:ea typeface="Symbol" panose="05050102010706020507" pitchFamily="18" charset="2"/>
                <a:cs typeface="Symbol" panose="05050102010706020507" pitchFamily="18" charset="2"/>
              </a:rPr>
              <a:t>issue</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lnSpc>
                <a:spcPts val="1465"/>
              </a:lnSpc>
              <a:buSzPts val="1200"/>
              <a:buFont typeface="Symbol" panose="05050102010706020507" pitchFamily="18" charset="2"/>
              <a:buChar char=""/>
              <a:tabLst>
                <a:tab pos="984885" algn="l"/>
                <a:tab pos="98552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Foreign exchange and interest rate</a:t>
            </a:r>
            <a:r>
              <a:rPr lang="en-US" sz="2800" spc="-5" dirty="0">
                <a:effectLst/>
                <a:latin typeface="Times New Roman" panose="02020603050405020304" pitchFamily="18" charset="0"/>
                <a:ea typeface="Symbol" panose="05050102010706020507" pitchFamily="18" charset="2"/>
                <a:cs typeface="Symbol" panose="05050102010706020507" pitchFamily="18" charset="2"/>
              </a:rPr>
              <a:t> </a:t>
            </a:r>
            <a:r>
              <a:rPr lang="en-US" sz="2800" dirty="0">
                <a:effectLst/>
                <a:latin typeface="Times New Roman" panose="02020603050405020304" pitchFamily="18" charset="0"/>
                <a:ea typeface="Symbol" panose="05050102010706020507" pitchFamily="18" charset="2"/>
                <a:cs typeface="Symbol" panose="05050102010706020507" pitchFamily="18" charset="2"/>
              </a:rPr>
              <a:t>exposures</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lnSpc>
                <a:spcPts val="1465"/>
              </a:lnSpc>
              <a:buSzPts val="1200"/>
              <a:buFont typeface="Symbol" panose="05050102010706020507" pitchFamily="18" charset="2"/>
              <a:buChar char=""/>
              <a:tabLst>
                <a:tab pos="984885" algn="l"/>
                <a:tab pos="98552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Comparison with industrial</a:t>
            </a:r>
            <a:r>
              <a:rPr lang="en-US" sz="2800" spc="-20" dirty="0">
                <a:effectLst/>
                <a:latin typeface="Times New Roman" panose="02020603050405020304" pitchFamily="18" charset="0"/>
                <a:ea typeface="Symbol" panose="05050102010706020507" pitchFamily="18" charset="2"/>
                <a:cs typeface="Symbol" panose="05050102010706020507" pitchFamily="18" charset="2"/>
              </a:rPr>
              <a:t> </a:t>
            </a:r>
            <a:r>
              <a:rPr lang="en-US" sz="2800" dirty="0">
                <a:effectLst/>
                <a:latin typeface="Times New Roman" panose="02020603050405020304" pitchFamily="18" charset="0"/>
                <a:ea typeface="Symbol" panose="05050102010706020507" pitchFamily="18" charset="2"/>
                <a:cs typeface="Symbol" panose="05050102010706020507" pitchFamily="18" charset="2"/>
              </a:rPr>
              <a:t>trends</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a:spcBef>
                <a:spcPts val="55"/>
              </a:spcBef>
            </a:pPr>
            <a:r>
              <a:rPr lang="en-US" sz="2800" dirty="0">
                <a:effectLst/>
                <a:latin typeface="Times New Roman" panose="02020603050405020304" pitchFamily="18" charset="0"/>
                <a:ea typeface="Times New Roman" panose="02020603050405020304" pitchFamily="18" charset="0"/>
              </a:rPr>
              <a:t> </a:t>
            </a:r>
            <a:endParaRPr lang="en-US" sz="2800" dirty="0">
              <a:effectLst/>
              <a:latin typeface="Times New Roman" panose="02020603050405020304" pitchFamily="18" charset="0"/>
              <a:ea typeface="Times New Roman" panose="02020603050405020304" pitchFamily="18" charset="0"/>
            </a:endParaRPr>
          </a:p>
          <a:p>
            <a:endParaRPr lang="en-US" sz="2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800" b="1" kern="0" spc="-5" dirty="0">
                <a:effectLst/>
                <a:latin typeface="Times New Roman" panose="02020603050405020304" pitchFamily="18" charset="0"/>
                <a:ea typeface="Times New Roman" panose="02020603050405020304" pitchFamily="18" charset="0"/>
              </a:rPr>
              <a:t>Matters to Consider in Relation to Knowledge of the</a:t>
            </a:r>
            <a:r>
              <a:rPr lang="en-US" sz="4800" b="1" kern="0" spc="-35" dirty="0">
                <a:effectLst/>
                <a:latin typeface="Times New Roman" panose="02020603050405020304" pitchFamily="18" charset="0"/>
                <a:ea typeface="Times New Roman" panose="02020603050405020304" pitchFamily="18" charset="0"/>
              </a:rPr>
              <a:t> </a:t>
            </a:r>
            <a:r>
              <a:rPr lang="en-US" sz="4800" b="1" kern="0" spc="-5" dirty="0">
                <a:effectLst/>
                <a:latin typeface="Times New Roman" panose="02020603050405020304" pitchFamily="18" charset="0"/>
                <a:ea typeface="Times New Roman" panose="02020603050405020304" pitchFamily="18" charset="0"/>
              </a:rPr>
              <a:t>Business</a:t>
            </a:r>
            <a:endParaRPr lang="en-US" dirty="0"/>
          </a:p>
        </p:txBody>
      </p:sp>
      <p:sp>
        <p:nvSpPr>
          <p:cNvPr id="3" name="Content Placeholder 2"/>
          <p:cNvSpPr>
            <a:spLocks noGrp="1"/>
          </p:cNvSpPr>
          <p:nvPr>
            <p:ph idx="1"/>
          </p:nvPr>
        </p:nvSpPr>
        <p:spPr>
          <a:xfrm>
            <a:off x="265043" y="1845733"/>
            <a:ext cx="11794435" cy="4329779"/>
          </a:xfrm>
        </p:spPr>
        <p:txBody>
          <a:bodyPr>
            <a:normAutofit lnSpcReduction="10000"/>
          </a:bodyPr>
          <a:lstStyle/>
          <a:p>
            <a:pPr marL="914400" lvl="2" indent="0" algn="l">
              <a:buSzPts val="1200"/>
              <a:buNone/>
              <a:tabLst>
                <a:tab pos="984885" algn="l"/>
                <a:tab pos="985520" algn="l"/>
              </a:tabLst>
            </a:pPr>
            <a:r>
              <a:rPr lang="en-US" sz="2800" b="1" spc="-5" dirty="0">
                <a:effectLst/>
                <a:latin typeface="Times New Roman" panose="02020603050405020304" pitchFamily="18" charset="0"/>
                <a:ea typeface="Times New Roman" panose="02020603050405020304" pitchFamily="18" charset="0"/>
              </a:rPr>
              <a:t>5. Reporting</a:t>
            </a:r>
            <a:r>
              <a:rPr lang="en-US" sz="2800" b="1" spc="-10" dirty="0">
                <a:effectLst/>
                <a:latin typeface="Times New Roman" panose="02020603050405020304" pitchFamily="18" charset="0"/>
                <a:ea typeface="Times New Roman" panose="02020603050405020304" pitchFamily="18" charset="0"/>
              </a:rPr>
              <a:t> </a:t>
            </a:r>
            <a:r>
              <a:rPr lang="en-US" sz="2800" b="1" spc="-5" dirty="0">
                <a:effectLst/>
                <a:latin typeface="Times New Roman" panose="02020603050405020304" pitchFamily="18" charset="0"/>
                <a:ea typeface="Times New Roman" panose="02020603050405020304" pitchFamily="18" charset="0"/>
              </a:rPr>
              <a:t>Environment</a:t>
            </a:r>
            <a:endParaRPr lang="en-US" sz="2800" b="1" spc="-5" dirty="0">
              <a:effectLst/>
              <a:latin typeface="Times New Roman" panose="02020603050405020304" pitchFamily="18" charset="0"/>
              <a:ea typeface="Times New Roman" panose="02020603050405020304" pitchFamily="18" charset="0"/>
            </a:endParaRPr>
          </a:p>
          <a:p>
            <a:pPr marL="527685" marR="1176020">
              <a:spcAft>
                <a:spcPts val="0"/>
              </a:spcAft>
            </a:pPr>
            <a:r>
              <a:rPr lang="en-US" sz="2800" dirty="0">
                <a:effectLst/>
                <a:latin typeface="Times New Roman" panose="02020603050405020304" pitchFamily="18" charset="0"/>
                <a:ea typeface="Times New Roman" panose="02020603050405020304" pitchFamily="18" charset="0"/>
              </a:rPr>
              <a:t>External influences which affect the directors in the preparation of the financial statements:</a:t>
            </a:r>
            <a:endParaRPr lang="en-US" sz="2800" dirty="0">
              <a:effectLst/>
              <a:latin typeface="Times New Roman" panose="02020603050405020304" pitchFamily="18" charset="0"/>
              <a:ea typeface="Times New Roman" panose="02020603050405020304" pitchFamily="18" charset="0"/>
            </a:endParaRPr>
          </a:p>
          <a:p>
            <a:pPr marL="342900" lvl="0" indent="-342900">
              <a:lnSpc>
                <a:spcPts val="1465"/>
              </a:lnSpc>
              <a:buSzPts val="1200"/>
              <a:buFont typeface="Symbol" panose="05050102010706020507" pitchFamily="18" charset="2"/>
              <a:buChar char=""/>
              <a:tabLst>
                <a:tab pos="984885" algn="l"/>
                <a:tab pos="98552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Legislation</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lnSpc>
                <a:spcPts val="1465"/>
              </a:lnSpc>
              <a:buSzPts val="1200"/>
              <a:buFont typeface="Symbol" panose="05050102010706020507" pitchFamily="18" charset="2"/>
              <a:buChar char=""/>
              <a:tabLst>
                <a:tab pos="984885" algn="l"/>
                <a:tab pos="98552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Regulatory environment and</a:t>
            </a:r>
            <a:r>
              <a:rPr lang="en-US" sz="2800" spc="-20" dirty="0">
                <a:effectLst/>
                <a:latin typeface="Times New Roman" panose="02020603050405020304" pitchFamily="18" charset="0"/>
                <a:ea typeface="Symbol" panose="05050102010706020507" pitchFamily="18" charset="2"/>
                <a:cs typeface="Symbol" panose="05050102010706020507" pitchFamily="18" charset="2"/>
              </a:rPr>
              <a:t> </a:t>
            </a:r>
            <a:r>
              <a:rPr lang="en-US" sz="2800" dirty="0">
                <a:effectLst/>
                <a:latin typeface="Times New Roman" panose="02020603050405020304" pitchFamily="18" charset="0"/>
                <a:ea typeface="Symbol" panose="05050102010706020507" pitchFamily="18" charset="2"/>
                <a:cs typeface="Symbol" panose="05050102010706020507" pitchFamily="18" charset="2"/>
              </a:rPr>
              <a:t>requirements</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lnSpc>
                <a:spcPts val="1465"/>
              </a:lnSpc>
              <a:buSzPts val="1200"/>
              <a:buFont typeface="Symbol" panose="05050102010706020507" pitchFamily="18" charset="2"/>
              <a:buChar char=""/>
              <a:tabLst>
                <a:tab pos="984885" algn="l"/>
                <a:tab pos="98552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Taxation</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lnSpc>
                <a:spcPts val="1465"/>
              </a:lnSpc>
              <a:buSzPts val="1200"/>
              <a:buFont typeface="Symbol" panose="05050102010706020507" pitchFamily="18" charset="2"/>
              <a:buChar char=""/>
              <a:tabLst>
                <a:tab pos="984885" algn="l"/>
                <a:tab pos="98552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Accounting</a:t>
            </a:r>
            <a:r>
              <a:rPr lang="en-US" sz="2800" spc="-15" dirty="0">
                <a:effectLst/>
                <a:latin typeface="Times New Roman" panose="02020603050405020304" pitchFamily="18" charset="0"/>
                <a:ea typeface="Symbol" panose="05050102010706020507" pitchFamily="18" charset="2"/>
                <a:cs typeface="Symbol" panose="05050102010706020507" pitchFamily="18" charset="2"/>
              </a:rPr>
              <a:t> </a:t>
            </a:r>
            <a:r>
              <a:rPr lang="en-US" sz="2800" dirty="0">
                <a:effectLst/>
                <a:latin typeface="Times New Roman" panose="02020603050405020304" pitchFamily="18" charset="0"/>
                <a:ea typeface="Symbol" panose="05050102010706020507" pitchFamily="18" charset="2"/>
                <a:cs typeface="Symbol" panose="05050102010706020507" pitchFamily="18" charset="2"/>
              </a:rPr>
              <a:t>requirements</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lnSpc>
                <a:spcPts val="1465"/>
              </a:lnSpc>
              <a:buSzPts val="1200"/>
              <a:buFont typeface="Symbol" panose="05050102010706020507" pitchFamily="18" charset="2"/>
              <a:buChar char=""/>
              <a:tabLst>
                <a:tab pos="984885" algn="l"/>
                <a:tab pos="98552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Measurement and disclosure issues peculiar to the</a:t>
            </a:r>
            <a:r>
              <a:rPr lang="en-US" sz="2800" spc="-20" dirty="0">
                <a:effectLst/>
                <a:latin typeface="Times New Roman" panose="02020603050405020304" pitchFamily="18" charset="0"/>
                <a:ea typeface="Symbol" panose="05050102010706020507" pitchFamily="18" charset="2"/>
                <a:cs typeface="Symbol" panose="05050102010706020507" pitchFamily="18" charset="2"/>
              </a:rPr>
              <a:t> </a:t>
            </a:r>
            <a:r>
              <a:rPr lang="en-US" sz="2800" dirty="0">
                <a:effectLst/>
                <a:latin typeface="Times New Roman" panose="02020603050405020304" pitchFamily="18" charset="0"/>
                <a:ea typeface="Symbol" panose="05050102010706020507" pitchFamily="18" charset="2"/>
                <a:cs typeface="Symbol" panose="05050102010706020507" pitchFamily="18" charset="2"/>
              </a:rPr>
              <a:t>business</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lnSpc>
                <a:spcPts val="1465"/>
              </a:lnSpc>
              <a:buSzPts val="1200"/>
              <a:buFont typeface="Symbol" panose="05050102010706020507" pitchFamily="18" charset="2"/>
              <a:buChar char=""/>
              <a:tabLst>
                <a:tab pos="984885" algn="l"/>
                <a:tab pos="98552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Audit reporting</a:t>
            </a:r>
            <a:r>
              <a:rPr lang="en-US" sz="2800" spc="-5" dirty="0">
                <a:effectLst/>
                <a:latin typeface="Times New Roman" panose="02020603050405020304" pitchFamily="18" charset="0"/>
                <a:ea typeface="Symbol" panose="05050102010706020507" pitchFamily="18" charset="2"/>
                <a:cs typeface="Symbol" panose="05050102010706020507" pitchFamily="18" charset="2"/>
              </a:rPr>
              <a:t> </a:t>
            </a:r>
            <a:r>
              <a:rPr lang="en-US" sz="2800" dirty="0">
                <a:effectLst/>
                <a:latin typeface="Times New Roman" panose="02020603050405020304" pitchFamily="18" charset="0"/>
                <a:ea typeface="Symbol" panose="05050102010706020507" pitchFamily="18" charset="2"/>
                <a:cs typeface="Symbol" panose="05050102010706020507" pitchFamily="18" charset="2"/>
              </a:rPr>
              <a:t>requirements</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lnSpc>
                <a:spcPts val="1465"/>
              </a:lnSpc>
              <a:buSzPts val="1200"/>
              <a:buFont typeface="Symbol" panose="05050102010706020507" pitchFamily="18" charset="2"/>
              <a:buChar char=""/>
              <a:tabLst>
                <a:tab pos="984885" algn="l"/>
                <a:tab pos="98552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Users of the financial</a:t>
            </a:r>
            <a:r>
              <a:rPr lang="en-US" sz="2800" spc="-15" dirty="0">
                <a:effectLst/>
                <a:latin typeface="Times New Roman" panose="02020603050405020304" pitchFamily="18" charset="0"/>
                <a:ea typeface="Symbol" panose="05050102010706020507" pitchFamily="18" charset="2"/>
                <a:cs typeface="Symbol" panose="05050102010706020507" pitchFamily="18" charset="2"/>
              </a:rPr>
              <a:t> </a:t>
            </a:r>
            <a:r>
              <a:rPr lang="en-US" sz="2800" dirty="0">
                <a:effectLst/>
                <a:latin typeface="Times New Roman" panose="02020603050405020304" pitchFamily="18" charset="0"/>
                <a:ea typeface="Symbol" panose="05050102010706020507" pitchFamily="18" charset="2"/>
                <a:cs typeface="Symbol" panose="05050102010706020507" pitchFamily="18" charset="2"/>
              </a:rPr>
              <a:t>statements</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lnSpc>
                <a:spcPts val="1465"/>
              </a:lnSpc>
              <a:buSzPts val="1200"/>
              <a:buFont typeface="Symbol" panose="05050102010706020507" pitchFamily="18" charset="2"/>
              <a:buChar char=""/>
              <a:tabLst>
                <a:tab pos="984885" algn="l"/>
                <a:tab pos="98552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Communication of Knowledge about the</a:t>
            </a:r>
            <a:r>
              <a:rPr lang="en-US" sz="2800" spc="-5" dirty="0">
                <a:effectLst/>
                <a:latin typeface="Times New Roman" panose="02020603050405020304" pitchFamily="18" charset="0"/>
                <a:ea typeface="Symbol" panose="05050102010706020507" pitchFamily="18" charset="2"/>
                <a:cs typeface="Symbol" panose="05050102010706020507" pitchFamily="18" charset="2"/>
              </a:rPr>
              <a:t> </a:t>
            </a:r>
            <a:r>
              <a:rPr lang="en-US" sz="2800" dirty="0">
                <a:effectLst/>
                <a:latin typeface="Times New Roman" panose="02020603050405020304" pitchFamily="18" charset="0"/>
                <a:ea typeface="Symbol" panose="05050102010706020507" pitchFamily="18" charset="2"/>
                <a:cs typeface="Symbol" panose="05050102010706020507" pitchFamily="18" charset="2"/>
              </a:rPr>
              <a:t>Business</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endParaRPr lang="en-US" sz="2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b="1" dirty="0">
                <a:effectLst/>
                <a:latin typeface="Times New Roman" panose="02020603050405020304" pitchFamily="18" charset="0"/>
                <a:ea typeface="Times New Roman" panose="02020603050405020304" pitchFamily="18" charset="0"/>
              </a:rPr>
              <a:t>AUDIT RISKS AND MATERIALITY ASSESSMENT</a:t>
            </a:r>
            <a:endParaRPr lang="en-US" sz="4000" dirty="0"/>
          </a:p>
        </p:txBody>
      </p:sp>
      <p:sp>
        <p:nvSpPr>
          <p:cNvPr id="3" name="Content Placeholder 2"/>
          <p:cNvSpPr>
            <a:spLocks noGrp="1"/>
          </p:cNvSpPr>
          <p:nvPr>
            <p:ph idx="1"/>
          </p:nvPr>
        </p:nvSpPr>
        <p:spPr>
          <a:xfrm>
            <a:off x="198783" y="1845734"/>
            <a:ext cx="11741425" cy="4023360"/>
          </a:xfrm>
        </p:spPr>
        <p:txBody>
          <a:bodyPr>
            <a:normAutofit/>
          </a:bodyPr>
          <a:lstStyle/>
          <a:p>
            <a:pPr marL="457200" lvl="1" indent="0" algn="just">
              <a:lnSpc>
                <a:spcPts val="1610"/>
              </a:lnSpc>
              <a:spcBef>
                <a:spcPts val="345"/>
              </a:spcBef>
              <a:spcAft>
                <a:spcPts val="0"/>
              </a:spcAft>
              <a:buSzPts val="1400"/>
              <a:buNone/>
              <a:tabLst>
                <a:tab pos="985520" algn="l"/>
              </a:tabLst>
            </a:pPr>
            <a:r>
              <a:rPr lang="en-US" sz="2800" b="1" kern="0" spc="-5" dirty="0">
                <a:effectLst/>
                <a:latin typeface="Times New Roman" panose="02020603050405020304" pitchFamily="18" charset="0"/>
                <a:ea typeface="Times New Roman" panose="02020603050405020304" pitchFamily="18" charset="0"/>
              </a:rPr>
              <a:t>Risk-based Audit</a:t>
            </a:r>
            <a:endParaRPr lang="en-US" sz="2800" b="1" kern="0" spc="-5" dirty="0">
              <a:effectLst/>
              <a:latin typeface="Times New Roman" panose="02020603050405020304" pitchFamily="18" charset="0"/>
              <a:ea typeface="Times New Roman" panose="02020603050405020304" pitchFamily="18" charset="0"/>
            </a:endParaRPr>
          </a:p>
          <a:p>
            <a:pPr marL="527685" marR="1210310" algn="just">
              <a:spcAft>
                <a:spcPts val="0"/>
              </a:spcAft>
            </a:pPr>
            <a:r>
              <a:rPr lang="en-US" sz="2800" dirty="0">
                <a:effectLst/>
                <a:latin typeface="Times New Roman" panose="02020603050405020304" pitchFamily="18" charset="0"/>
                <a:ea typeface="Times New Roman" panose="02020603050405020304" pitchFamily="18" charset="0"/>
              </a:rPr>
              <a:t>Risk- based audit is the system of audit used by auditors in order to concentrate on high risk clients and on high risk areas of a client’s business rather than performing detailed audit tests on all areas of a client’s business. It enables a cost-effective method to be achieved.</a:t>
            </a:r>
            <a:endParaRPr lang="en-US" sz="2800" dirty="0">
              <a:effectLst/>
              <a:latin typeface="Times New Roman" panose="02020603050405020304" pitchFamily="18" charset="0"/>
              <a:ea typeface="Times New Roman" panose="02020603050405020304" pitchFamily="18" charset="0"/>
            </a:endParaRPr>
          </a:p>
          <a:p>
            <a:endParaRPr lang="en-US" sz="2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800" b="1" dirty="0">
                <a:effectLst/>
                <a:latin typeface="Times New Roman" panose="02020603050405020304" pitchFamily="18" charset="0"/>
                <a:ea typeface="Times New Roman" panose="02020603050405020304" pitchFamily="18" charset="0"/>
              </a:rPr>
              <a:t>AUDIT RISKS AND MATERIALITY ASSESSMENT</a:t>
            </a:r>
            <a:endParaRPr lang="en-US" dirty="0"/>
          </a:p>
        </p:txBody>
      </p:sp>
      <p:sp>
        <p:nvSpPr>
          <p:cNvPr id="3" name="Content Placeholder 2"/>
          <p:cNvSpPr>
            <a:spLocks noGrp="1"/>
          </p:cNvSpPr>
          <p:nvPr>
            <p:ph idx="1"/>
          </p:nvPr>
        </p:nvSpPr>
        <p:spPr>
          <a:xfrm>
            <a:off x="0" y="1845733"/>
            <a:ext cx="12006470" cy="4290023"/>
          </a:xfrm>
        </p:spPr>
        <p:txBody>
          <a:bodyPr>
            <a:normAutofit lnSpcReduction="10000"/>
          </a:bodyPr>
          <a:lstStyle/>
          <a:p>
            <a:pPr marL="527685" marR="1209675" algn="just">
              <a:spcAft>
                <a:spcPts val="0"/>
              </a:spcAft>
            </a:pPr>
            <a:r>
              <a:rPr lang="en-US" sz="2800" dirty="0">
                <a:effectLst/>
                <a:latin typeface="Times New Roman" panose="02020603050405020304" pitchFamily="18" charset="0"/>
                <a:ea typeface="Times New Roman" panose="02020603050405020304" pitchFamily="18" charset="0"/>
              </a:rPr>
              <a:t>Before conducting the audit, the auditor needs to assess the level of risk associated with the client. The auditor does this for two main</a:t>
            </a:r>
            <a:r>
              <a:rPr lang="en-US" sz="2800" spc="-20"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reasons:</a:t>
            </a:r>
            <a:endParaRPr lang="en-US" sz="2800" dirty="0">
              <a:effectLst/>
              <a:latin typeface="Times New Roman" panose="02020603050405020304" pitchFamily="18" charset="0"/>
              <a:ea typeface="Times New Roman" panose="02020603050405020304" pitchFamily="18" charset="0"/>
            </a:endParaRPr>
          </a:p>
          <a:p>
            <a:pPr marL="1143000" marR="1209040" lvl="2" indent="-228600" algn="just">
              <a:spcAft>
                <a:spcPts val="0"/>
              </a:spcAft>
              <a:buSzPts val="1200"/>
              <a:buFont typeface="Times New Roman" panose="02020603050405020304" pitchFamily="18" charset="0"/>
              <a:buAutoNum type="arabicPeriod"/>
              <a:tabLst>
                <a:tab pos="985520" algn="l"/>
              </a:tabLst>
            </a:pPr>
            <a:r>
              <a:rPr lang="en-US" sz="2800" spc="-10" dirty="0">
                <a:effectLst/>
                <a:latin typeface="Times New Roman" panose="02020603050405020304" pitchFamily="18" charset="0"/>
                <a:ea typeface="Times New Roman" panose="02020603050405020304" pitchFamily="18" charset="0"/>
              </a:rPr>
              <a:t>To identify the issues which have the potential to cause the financial statements to be materially</a:t>
            </a:r>
            <a:r>
              <a:rPr lang="en-US" sz="2800" spc="-15" dirty="0">
                <a:effectLst/>
                <a:latin typeface="Times New Roman" panose="02020603050405020304" pitchFamily="18" charset="0"/>
                <a:ea typeface="Times New Roman" panose="02020603050405020304" pitchFamily="18" charset="0"/>
              </a:rPr>
              <a:t> </a:t>
            </a:r>
            <a:r>
              <a:rPr lang="en-US" sz="2800" spc="-10" dirty="0">
                <a:effectLst/>
                <a:latin typeface="Times New Roman" panose="02020603050405020304" pitchFamily="18" charset="0"/>
                <a:ea typeface="Times New Roman" panose="02020603050405020304" pitchFamily="18" charset="0"/>
              </a:rPr>
              <a:t>misstated</a:t>
            </a:r>
            <a:endParaRPr lang="en-US" sz="2800" spc="-10" dirty="0">
              <a:effectLst/>
              <a:latin typeface="Times New Roman" panose="02020603050405020304" pitchFamily="18" charset="0"/>
              <a:ea typeface="Times New Roman" panose="02020603050405020304" pitchFamily="18" charset="0"/>
            </a:endParaRPr>
          </a:p>
          <a:p>
            <a:pPr marL="1143000" lvl="2" indent="-228600" algn="just">
              <a:buSzPts val="1200"/>
              <a:buFont typeface="Times New Roman" panose="02020603050405020304" pitchFamily="18" charset="0"/>
              <a:buAutoNum type="arabicPeriod"/>
              <a:tabLst>
                <a:tab pos="985520" algn="l"/>
              </a:tabLst>
            </a:pPr>
            <a:r>
              <a:rPr lang="en-US" sz="2800" spc="-10" dirty="0">
                <a:effectLst/>
                <a:latin typeface="Times New Roman" panose="02020603050405020304" pitchFamily="18" charset="0"/>
                <a:ea typeface="Times New Roman" panose="02020603050405020304" pitchFamily="18" charset="0"/>
              </a:rPr>
              <a:t>To assist the auditor in getting the audit opinion</a:t>
            </a:r>
            <a:r>
              <a:rPr lang="en-US" sz="2800" spc="-20" dirty="0">
                <a:effectLst/>
                <a:latin typeface="Times New Roman" panose="02020603050405020304" pitchFamily="18" charset="0"/>
                <a:ea typeface="Times New Roman" panose="02020603050405020304" pitchFamily="18" charset="0"/>
              </a:rPr>
              <a:t> </a:t>
            </a:r>
            <a:r>
              <a:rPr lang="en-US" sz="2800" spc="-10" dirty="0">
                <a:effectLst/>
                <a:latin typeface="Times New Roman" panose="02020603050405020304" pitchFamily="18" charset="0"/>
                <a:ea typeface="Times New Roman" panose="02020603050405020304" pitchFamily="18" charset="0"/>
              </a:rPr>
              <a:t>correct.</a:t>
            </a:r>
            <a:endParaRPr lang="en-US" sz="2800" spc="-10" dirty="0">
              <a:effectLst/>
              <a:latin typeface="Times New Roman" panose="02020603050405020304" pitchFamily="18" charset="0"/>
              <a:ea typeface="Times New Roman" panose="02020603050405020304" pitchFamily="18" charset="0"/>
            </a:endParaRPr>
          </a:p>
          <a:p>
            <a:pPr marL="527685" marR="1209675" algn="just">
              <a:spcAft>
                <a:spcPts val="0"/>
              </a:spcAft>
            </a:pPr>
            <a:r>
              <a:rPr lang="en-US" sz="2800" dirty="0">
                <a:effectLst/>
                <a:latin typeface="Times New Roman" panose="02020603050405020304" pitchFamily="18" charset="0"/>
                <a:ea typeface="Times New Roman" panose="02020603050405020304" pitchFamily="18" charset="0"/>
              </a:rPr>
              <a:t>If the client is assessed to be riskier, the more work the auditor will have to do in coming out with a correct audit opinion. </a:t>
            </a:r>
            <a:endParaRPr lang="en-US" sz="2800" dirty="0">
              <a:effectLst/>
              <a:latin typeface="Times New Roman" panose="02020603050405020304" pitchFamily="18" charset="0"/>
              <a:ea typeface="Times New Roman" panose="02020603050405020304" pitchFamily="18" charset="0"/>
            </a:endParaRPr>
          </a:p>
          <a:p>
            <a:pPr marL="527685" marR="1209675" algn="just">
              <a:spcAft>
                <a:spcPts val="0"/>
              </a:spcAft>
            </a:pPr>
            <a:r>
              <a:rPr lang="en-US" sz="2800" dirty="0">
                <a:solidFill>
                  <a:srgbClr val="FF0000"/>
                </a:solidFill>
                <a:effectLst/>
                <a:latin typeface="Times New Roman" panose="02020603050405020304" pitchFamily="18" charset="0"/>
                <a:ea typeface="Times New Roman" panose="02020603050405020304" pitchFamily="18" charset="0"/>
              </a:rPr>
              <a:t>The risk that the auditor will get the audit opinion wrong (the risk that the auditor says the financial statements are true and fair, whilst they are not) is referred to as </a:t>
            </a:r>
            <a:r>
              <a:rPr lang="en-US" sz="2800" b="1" i="1" dirty="0">
                <a:solidFill>
                  <a:srgbClr val="FF0000"/>
                </a:solidFill>
                <a:effectLst/>
                <a:latin typeface="Times New Roman" panose="02020603050405020304" pitchFamily="18" charset="0"/>
                <a:ea typeface="Times New Roman" panose="02020603050405020304" pitchFamily="18" charset="0"/>
              </a:rPr>
              <a:t>audit risk</a:t>
            </a:r>
            <a:r>
              <a:rPr lang="en-US" sz="2800" dirty="0">
                <a:solidFill>
                  <a:srgbClr val="FF0000"/>
                </a:solidFill>
                <a:effectLst/>
                <a:latin typeface="Times New Roman" panose="02020603050405020304" pitchFamily="18" charset="0"/>
                <a:ea typeface="Times New Roman" panose="02020603050405020304" pitchFamily="18" charset="0"/>
              </a:rPr>
              <a:t>.</a:t>
            </a:r>
            <a:endParaRPr lang="en-US" sz="2800" dirty="0">
              <a:solidFill>
                <a:srgbClr val="FF0000"/>
              </a:solidFill>
              <a:effectLst/>
              <a:latin typeface="Times New Roman" panose="02020603050405020304" pitchFamily="18" charset="0"/>
              <a:ea typeface="Times New Roman" panose="02020603050405020304" pitchFamily="18" charset="0"/>
            </a:endParaRPr>
          </a:p>
          <a:p>
            <a:endParaRPr lang="en-US" sz="2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800" b="1" dirty="0">
                <a:effectLst/>
                <a:latin typeface="Times New Roman" panose="02020603050405020304" pitchFamily="18" charset="0"/>
                <a:ea typeface="Times New Roman" panose="02020603050405020304" pitchFamily="18" charset="0"/>
              </a:rPr>
              <a:t>AUDIT RISKS AND MATERIALITY ASSESSMENT</a:t>
            </a:r>
            <a:endParaRPr lang="en-US" dirty="0"/>
          </a:p>
        </p:txBody>
      </p:sp>
      <p:sp>
        <p:nvSpPr>
          <p:cNvPr id="3" name="Content Placeholder 2"/>
          <p:cNvSpPr>
            <a:spLocks noGrp="1"/>
          </p:cNvSpPr>
          <p:nvPr>
            <p:ph idx="1"/>
          </p:nvPr>
        </p:nvSpPr>
        <p:spPr>
          <a:xfrm>
            <a:off x="106017" y="1845734"/>
            <a:ext cx="11979965" cy="4023360"/>
          </a:xfrm>
        </p:spPr>
        <p:txBody>
          <a:bodyPr>
            <a:normAutofit/>
          </a:bodyPr>
          <a:lstStyle/>
          <a:p>
            <a:pPr marL="457200" lvl="1" indent="0" algn="just">
              <a:lnSpc>
                <a:spcPts val="1610"/>
              </a:lnSpc>
              <a:spcBef>
                <a:spcPts val="345"/>
              </a:spcBef>
              <a:spcAft>
                <a:spcPts val="0"/>
              </a:spcAft>
              <a:buSzPts val="1400"/>
              <a:buNone/>
              <a:tabLst>
                <a:tab pos="985520" algn="l"/>
              </a:tabLst>
            </a:pPr>
            <a:r>
              <a:rPr lang="en-US" sz="2800" b="1" kern="0" spc="-5" dirty="0">
                <a:effectLst/>
                <a:latin typeface="Times New Roman" panose="02020603050405020304" pitchFamily="18" charset="0"/>
                <a:ea typeface="Times New Roman" panose="02020603050405020304" pitchFamily="18" charset="0"/>
              </a:rPr>
              <a:t>Total Audit Risk</a:t>
            </a:r>
            <a:r>
              <a:rPr lang="en-US" sz="2800" b="1" kern="0" spc="-10" dirty="0">
                <a:effectLst/>
                <a:latin typeface="Times New Roman" panose="02020603050405020304" pitchFamily="18" charset="0"/>
                <a:ea typeface="Times New Roman" panose="02020603050405020304" pitchFamily="18" charset="0"/>
              </a:rPr>
              <a:t> </a:t>
            </a:r>
            <a:r>
              <a:rPr lang="en-US" sz="2800" b="1" kern="0" spc="-5" dirty="0">
                <a:effectLst/>
                <a:latin typeface="Times New Roman" panose="02020603050405020304" pitchFamily="18" charset="0"/>
                <a:ea typeface="Times New Roman" panose="02020603050405020304" pitchFamily="18" charset="0"/>
              </a:rPr>
              <a:t>(TAR)</a:t>
            </a:r>
            <a:endParaRPr lang="en-US" sz="2800" b="1" kern="0" spc="-5" dirty="0">
              <a:effectLst/>
              <a:latin typeface="Times New Roman" panose="02020603050405020304" pitchFamily="18" charset="0"/>
              <a:ea typeface="Times New Roman" panose="02020603050405020304" pitchFamily="18" charset="0"/>
            </a:endParaRPr>
          </a:p>
          <a:p>
            <a:pPr marL="528320" marR="1209675" algn="just">
              <a:spcAft>
                <a:spcPts val="0"/>
              </a:spcAft>
            </a:pPr>
            <a:r>
              <a:rPr lang="en-US" sz="2800" dirty="0">
                <a:effectLst/>
                <a:latin typeface="Times New Roman" panose="02020603050405020304" pitchFamily="18" charset="0"/>
                <a:ea typeface="Times New Roman" panose="02020603050405020304" pitchFamily="18" charset="0"/>
              </a:rPr>
              <a:t>The total audit risk is the risk that the auditor expresses an inappropriate audit opinion. (the risk that the auditor says the financial statements are true and fair, whilst they are not).</a:t>
            </a:r>
            <a:endParaRPr lang="en-US" sz="2800" dirty="0">
              <a:effectLst/>
              <a:latin typeface="Times New Roman" panose="02020603050405020304" pitchFamily="18" charset="0"/>
              <a:ea typeface="Times New Roman" panose="02020603050405020304" pitchFamily="18" charset="0"/>
            </a:endParaRPr>
          </a:p>
          <a:p>
            <a:r>
              <a:rPr lang="en-US" sz="2800" dirty="0">
                <a:effectLst/>
                <a:latin typeface="Times New Roman" panose="02020603050405020304" pitchFamily="18" charset="0"/>
                <a:ea typeface="Times New Roman" panose="02020603050405020304" pitchFamily="18" charset="0"/>
              </a:rPr>
              <a:t> </a:t>
            </a:r>
            <a:r>
              <a:rPr lang="en-US" sz="2800" dirty="0">
                <a:solidFill>
                  <a:srgbClr val="FF0000"/>
                </a:solidFill>
                <a:effectLst/>
                <a:latin typeface="Times New Roman" panose="02020603050405020304" pitchFamily="18" charset="0"/>
                <a:ea typeface="Times New Roman" panose="02020603050405020304" pitchFamily="18" charset="0"/>
              </a:rPr>
              <a:t>Total audit risk has three components:</a:t>
            </a:r>
            <a:endParaRPr lang="en-US" sz="2800" dirty="0">
              <a:solidFill>
                <a:srgbClr val="FF0000"/>
              </a:solidFill>
              <a:effectLst/>
              <a:latin typeface="Times New Roman" panose="02020603050405020304" pitchFamily="18" charset="0"/>
              <a:ea typeface="Times New Roman" panose="02020603050405020304" pitchFamily="18" charset="0"/>
            </a:endParaRPr>
          </a:p>
          <a:p>
            <a:pPr marL="342900" lvl="0" indent="-342900">
              <a:lnSpc>
                <a:spcPts val="1465"/>
              </a:lnSpc>
              <a:buSzPts val="1200"/>
              <a:buFont typeface="Symbol" panose="05050102010706020507" pitchFamily="18" charset="2"/>
              <a:buChar char=""/>
              <a:tabLst>
                <a:tab pos="984885" algn="l"/>
                <a:tab pos="985520" algn="l"/>
              </a:tabLst>
            </a:pPr>
            <a:r>
              <a:rPr lang="en-US" sz="2800" dirty="0">
                <a:solidFill>
                  <a:srgbClr val="FF0000"/>
                </a:solidFill>
                <a:effectLst/>
                <a:latin typeface="Times New Roman" panose="02020603050405020304" pitchFamily="18" charset="0"/>
                <a:ea typeface="Symbol" panose="05050102010706020507" pitchFamily="18" charset="2"/>
                <a:cs typeface="Symbol" panose="05050102010706020507" pitchFamily="18" charset="2"/>
              </a:rPr>
              <a:t>Inherent risk</a:t>
            </a:r>
            <a:r>
              <a:rPr lang="en-US" sz="2800" spc="-30" dirty="0">
                <a:solidFill>
                  <a:srgbClr val="FF0000"/>
                </a:solidFill>
                <a:effectLst/>
                <a:latin typeface="Times New Roman" panose="02020603050405020304" pitchFamily="18" charset="0"/>
                <a:ea typeface="Symbol" panose="05050102010706020507" pitchFamily="18" charset="2"/>
                <a:cs typeface="Symbol" panose="05050102010706020507" pitchFamily="18" charset="2"/>
              </a:rPr>
              <a:t> </a:t>
            </a:r>
            <a:r>
              <a:rPr lang="en-US" sz="2800" dirty="0">
                <a:solidFill>
                  <a:srgbClr val="FF0000"/>
                </a:solidFill>
                <a:effectLst/>
                <a:latin typeface="Times New Roman" panose="02020603050405020304" pitchFamily="18" charset="0"/>
                <a:ea typeface="Symbol" panose="05050102010706020507" pitchFamily="18" charset="2"/>
                <a:cs typeface="Symbol" panose="05050102010706020507" pitchFamily="18" charset="2"/>
              </a:rPr>
              <a:t>(IR)</a:t>
            </a:r>
            <a:endParaRPr lang="en-US" sz="2800" dirty="0">
              <a:solidFill>
                <a:srgbClr val="FF0000"/>
              </a:solidFill>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lnSpc>
                <a:spcPts val="1465"/>
              </a:lnSpc>
              <a:buSzPts val="1200"/>
              <a:buFont typeface="Symbol" panose="05050102010706020507" pitchFamily="18" charset="2"/>
              <a:buChar char=""/>
              <a:tabLst>
                <a:tab pos="984885" algn="l"/>
                <a:tab pos="985520" algn="l"/>
              </a:tabLst>
            </a:pPr>
            <a:r>
              <a:rPr lang="en-US" sz="2800" dirty="0">
                <a:solidFill>
                  <a:srgbClr val="FF0000"/>
                </a:solidFill>
                <a:effectLst/>
                <a:latin typeface="Times New Roman" panose="02020603050405020304" pitchFamily="18" charset="0"/>
                <a:ea typeface="Symbol" panose="05050102010706020507" pitchFamily="18" charset="2"/>
                <a:cs typeface="Symbol" panose="05050102010706020507" pitchFamily="18" charset="2"/>
              </a:rPr>
              <a:t>Control risk</a:t>
            </a:r>
            <a:r>
              <a:rPr lang="en-US" sz="2800" spc="-30" dirty="0">
                <a:solidFill>
                  <a:srgbClr val="FF0000"/>
                </a:solidFill>
                <a:effectLst/>
                <a:latin typeface="Times New Roman" panose="02020603050405020304" pitchFamily="18" charset="0"/>
                <a:ea typeface="Symbol" panose="05050102010706020507" pitchFamily="18" charset="2"/>
                <a:cs typeface="Symbol" panose="05050102010706020507" pitchFamily="18" charset="2"/>
              </a:rPr>
              <a:t> </a:t>
            </a:r>
            <a:r>
              <a:rPr lang="en-US" sz="2800" dirty="0">
                <a:solidFill>
                  <a:srgbClr val="FF0000"/>
                </a:solidFill>
                <a:effectLst/>
                <a:latin typeface="Times New Roman" panose="02020603050405020304" pitchFamily="18" charset="0"/>
                <a:ea typeface="Symbol" panose="05050102010706020507" pitchFamily="18" charset="2"/>
                <a:cs typeface="Symbol" panose="05050102010706020507" pitchFamily="18" charset="2"/>
              </a:rPr>
              <a:t>(CR)</a:t>
            </a:r>
            <a:endParaRPr lang="en-US" sz="2800" dirty="0">
              <a:solidFill>
                <a:srgbClr val="FF0000"/>
              </a:solidFill>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lnSpc>
                <a:spcPts val="1465"/>
              </a:lnSpc>
              <a:buSzPts val="1200"/>
              <a:buFont typeface="Symbol" panose="05050102010706020507" pitchFamily="18" charset="2"/>
              <a:buChar char=""/>
              <a:tabLst>
                <a:tab pos="984885" algn="l"/>
                <a:tab pos="985520" algn="l"/>
              </a:tabLst>
            </a:pPr>
            <a:r>
              <a:rPr lang="en-US" sz="2800" dirty="0">
                <a:solidFill>
                  <a:srgbClr val="FF0000"/>
                </a:solidFill>
                <a:latin typeface="Times New Roman" panose="02020603050405020304" pitchFamily="18" charset="0"/>
                <a:ea typeface="Symbol" panose="05050102010706020507" pitchFamily="18" charset="2"/>
                <a:cs typeface="Symbol" panose="05050102010706020507" pitchFamily="18" charset="2"/>
              </a:rPr>
              <a:t>Detection risk (DR)</a:t>
            </a:r>
            <a:endParaRPr lang="en-US" sz="2800" dirty="0">
              <a:solidFill>
                <a:srgbClr val="FF0000"/>
              </a:solidFill>
              <a:effectLst/>
              <a:latin typeface="Times New Roman" panose="02020603050405020304" pitchFamily="18" charset="0"/>
              <a:ea typeface="Symbol" panose="05050102010706020507" pitchFamily="18" charset="2"/>
              <a:cs typeface="Symbol" panose="05050102010706020507" pitchFamily="18" charset="2"/>
            </a:endParaRPr>
          </a:p>
          <a:p>
            <a:endParaRPr lang="en-US" sz="2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800" b="1" dirty="0">
                <a:effectLst/>
                <a:latin typeface="Times New Roman" panose="02020603050405020304" pitchFamily="18" charset="0"/>
                <a:ea typeface="Times New Roman" panose="02020603050405020304" pitchFamily="18" charset="0"/>
              </a:rPr>
              <a:t>AUDIT RISKS AND MATERIALITY ASSESSMENT</a:t>
            </a:r>
            <a:endParaRPr lang="en-US" dirty="0"/>
          </a:p>
        </p:txBody>
      </p:sp>
      <p:sp>
        <p:nvSpPr>
          <p:cNvPr id="3" name="Content Placeholder 2"/>
          <p:cNvSpPr>
            <a:spLocks noGrp="1"/>
          </p:cNvSpPr>
          <p:nvPr>
            <p:ph idx="1"/>
          </p:nvPr>
        </p:nvSpPr>
        <p:spPr>
          <a:xfrm>
            <a:off x="0" y="1845733"/>
            <a:ext cx="12059478" cy="4329779"/>
          </a:xfrm>
        </p:spPr>
        <p:txBody>
          <a:bodyPr>
            <a:normAutofit/>
          </a:bodyPr>
          <a:lstStyle/>
          <a:p>
            <a:pPr marL="1442085" marR="2803525" indent="-914400">
              <a:spcBef>
                <a:spcPts val="1155"/>
              </a:spcBef>
              <a:spcAft>
                <a:spcPts val="0"/>
              </a:spcAft>
            </a:pPr>
            <a:endParaRPr lang="en-US" sz="1800" dirty="0">
              <a:effectLst/>
              <a:latin typeface="Times New Roman" panose="02020603050405020304" pitchFamily="18" charset="0"/>
              <a:ea typeface="Times New Roman" panose="02020603050405020304" pitchFamily="18" charset="0"/>
            </a:endParaRPr>
          </a:p>
          <a:p>
            <a:pPr marL="527685" marR="2803525" indent="0">
              <a:spcBef>
                <a:spcPts val="1155"/>
              </a:spcBef>
              <a:spcAft>
                <a:spcPts val="0"/>
              </a:spcAft>
              <a:buNone/>
            </a:pPr>
            <a:r>
              <a:rPr lang="en-US" sz="2800" b="1" kern="0" spc="-5" dirty="0">
                <a:effectLst/>
                <a:latin typeface="Times New Roman" panose="02020603050405020304" pitchFamily="18" charset="0"/>
                <a:ea typeface="Times New Roman" panose="02020603050405020304" pitchFamily="18" charset="0"/>
              </a:rPr>
              <a:t>Total Audit Risk</a:t>
            </a:r>
            <a:r>
              <a:rPr lang="en-US" sz="2800" b="1" kern="0" spc="-10" dirty="0">
                <a:effectLst/>
                <a:latin typeface="Times New Roman" panose="02020603050405020304" pitchFamily="18" charset="0"/>
                <a:ea typeface="Times New Roman" panose="02020603050405020304" pitchFamily="18" charset="0"/>
              </a:rPr>
              <a:t> </a:t>
            </a:r>
            <a:r>
              <a:rPr lang="en-US" sz="2800" b="1" kern="0" spc="-5" dirty="0">
                <a:effectLst/>
                <a:latin typeface="Times New Roman" panose="02020603050405020304" pitchFamily="18" charset="0"/>
                <a:ea typeface="Times New Roman" panose="02020603050405020304" pitchFamily="18" charset="0"/>
              </a:rPr>
              <a:t>(TAR)</a:t>
            </a:r>
            <a:endParaRPr lang="en-US" sz="2800" b="1" kern="0" spc="-5" dirty="0">
              <a:effectLst/>
              <a:latin typeface="Times New Roman" panose="02020603050405020304" pitchFamily="18" charset="0"/>
              <a:ea typeface="Times New Roman" panose="02020603050405020304" pitchFamily="18" charset="0"/>
            </a:endParaRPr>
          </a:p>
          <a:p>
            <a:pPr marL="527685" marR="2803525" indent="0">
              <a:spcBef>
                <a:spcPts val="1155"/>
              </a:spcBef>
              <a:spcAft>
                <a:spcPts val="0"/>
              </a:spcAft>
              <a:buNone/>
            </a:pPr>
            <a:r>
              <a:rPr lang="en-US" sz="2800" dirty="0">
                <a:effectLst/>
                <a:latin typeface="Times New Roman" panose="02020603050405020304" pitchFamily="18" charset="0"/>
                <a:ea typeface="Times New Roman" panose="02020603050405020304" pitchFamily="18" charset="0"/>
              </a:rPr>
              <a:t>The three risks multiplied together give total audit risk. Thus; TAR = IR x CR x DR.</a:t>
            </a:r>
            <a:endParaRPr lang="en-US" sz="2800" dirty="0">
              <a:effectLst/>
              <a:latin typeface="Times New Roman" panose="02020603050405020304" pitchFamily="18" charset="0"/>
              <a:ea typeface="Times New Roman" panose="02020603050405020304" pitchFamily="18" charset="0"/>
            </a:endParaRPr>
          </a:p>
          <a:p>
            <a:pPr>
              <a:spcBef>
                <a:spcPts val="55"/>
              </a:spcBef>
            </a:pPr>
            <a:r>
              <a:rPr lang="en-US" sz="2800" dirty="0">
                <a:effectLst/>
                <a:latin typeface="Times New Roman" panose="02020603050405020304" pitchFamily="18" charset="0"/>
                <a:ea typeface="Times New Roman" panose="02020603050405020304" pitchFamily="18" charset="0"/>
              </a:rPr>
              <a:t> </a:t>
            </a:r>
            <a:endParaRPr lang="en-US" sz="2800" dirty="0">
              <a:effectLst/>
              <a:latin typeface="Times New Roman" panose="02020603050405020304" pitchFamily="18" charset="0"/>
              <a:ea typeface="Times New Roman" panose="02020603050405020304" pitchFamily="18" charset="0"/>
            </a:endParaRPr>
          </a:p>
          <a:p>
            <a:pPr marL="527685" marR="1210310" algn="just">
              <a:spcAft>
                <a:spcPts val="0"/>
              </a:spcAft>
            </a:pPr>
            <a:r>
              <a:rPr lang="en-US" sz="2800" dirty="0">
                <a:effectLst/>
                <a:latin typeface="Times New Roman" panose="02020603050405020304" pitchFamily="18" charset="0"/>
                <a:ea typeface="Times New Roman" panose="02020603050405020304" pitchFamily="18" charset="0"/>
              </a:rPr>
              <a:t>It is worth noting that the auditor applies professional judgement to put weights on these risks; there is no hard and fast</a:t>
            </a:r>
            <a:r>
              <a:rPr lang="en-US" sz="2800" spc="-5"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rules</a:t>
            </a:r>
            <a:endParaRPr lang="en-US" sz="2800" dirty="0">
              <a:effectLst/>
              <a:latin typeface="Times New Roman" panose="02020603050405020304" pitchFamily="18" charset="0"/>
              <a:ea typeface="Times New Roman" panose="02020603050405020304" pitchFamily="18" charset="0"/>
            </a:endParaRPr>
          </a:p>
          <a:p>
            <a:r>
              <a:rPr lang="en-US" sz="2800" dirty="0">
                <a:effectLst/>
                <a:latin typeface="Times New Roman" panose="02020603050405020304" pitchFamily="18" charset="0"/>
                <a:ea typeface="Times New Roman" panose="02020603050405020304" pitchFamily="18" charset="0"/>
              </a:rPr>
              <a:t> </a:t>
            </a:r>
            <a:endParaRPr lang="en-US" sz="2800" dirty="0">
              <a:effectLst/>
              <a:latin typeface="Times New Roman" panose="02020603050405020304" pitchFamily="18" charset="0"/>
              <a:ea typeface="Times New Roman" panose="02020603050405020304" pitchFamily="18" charset="0"/>
            </a:endParaRPr>
          </a:p>
          <a:p>
            <a:endParaRPr lang="en-US" sz="2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800" b="1" dirty="0">
                <a:effectLst/>
                <a:latin typeface="Times New Roman" panose="02020603050405020304" pitchFamily="18" charset="0"/>
                <a:ea typeface="Times New Roman" panose="02020603050405020304" pitchFamily="18" charset="0"/>
              </a:rPr>
              <a:t>AUDIT RISKS AND MATERIALITY ASSESSMENT</a:t>
            </a:r>
            <a:endParaRPr lang="en-US" dirty="0"/>
          </a:p>
        </p:txBody>
      </p:sp>
      <p:sp>
        <p:nvSpPr>
          <p:cNvPr id="3" name="Content Placeholder 2"/>
          <p:cNvSpPr>
            <a:spLocks noGrp="1"/>
          </p:cNvSpPr>
          <p:nvPr>
            <p:ph idx="1"/>
          </p:nvPr>
        </p:nvSpPr>
        <p:spPr>
          <a:xfrm>
            <a:off x="132522" y="1845734"/>
            <a:ext cx="11767930" cy="4023360"/>
          </a:xfrm>
        </p:spPr>
        <p:txBody>
          <a:bodyPr>
            <a:normAutofit/>
          </a:bodyPr>
          <a:lstStyle/>
          <a:p>
            <a:pPr marL="914400" lvl="2" indent="0" algn="just">
              <a:buSzPts val="1200"/>
              <a:buNone/>
              <a:tabLst>
                <a:tab pos="985520" algn="l"/>
              </a:tabLst>
            </a:pPr>
            <a:r>
              <a:rPr lang="en-US" sz="2800" b="1" spc="-5" dirty="0">
                <a:effectLst/>
                <a:latin typeface="Times New Roman" panose="02020603050405020304" pitchFamily="18" charset="0"/>
                <a:ea typeface="Times New Roman" panose="02020603050405020304" pitchFamily="18" charset="0"/>
              </a:rPr>
              <a:t>Inherent Risk</a:t>
            </a:r>
            <a:endParaRPr lang="en-US" sz="2800" b="1" spc="-5" dirty="0">
              <a:effectLst/>
              <a:latin typeface="Times New Roman" panose="02020603050405020304" pitchFamily="18" charset="0"/>
              <a:ea typeface="Times New Roman" panose="02020603050405020304" pitchFamily="18" charset="0"/>
            </a:endParaRPr>
          </a:p>
          <a:p>
            <a:pPr marL="527685" marR="1186180" algn="just">
              <a:spcAft>
                <a:spcPts val="0"/>
              </a:spcAft>
            </a:pPr>
            <a:r>
              <a:rPr lang="en-US" sz="2800" dirty="0">
                <a:effectLst/>
                <a:latin typeface="Times New Roman" panose="02020603050405020304" pitchFamily="18" charset="0"/>
                <a:ea typeface="Times New Roman" panose="02020603050405020304" pitchFamily="18" charset="0"/>
              </a:rPr>
              <a:t>Inherent risk is the susceptibility of an account balance or class of transactions to material misstatement, either individually or when aggregated with misstatements in other balances or classes, while assuming no related internal controls.</a:t>
            </a:r>
            <a:endParaRPr lang="en-US" sz="2800" dirty="0">
              <a:effectLst/>
              <a:latin typeface="Times New Roman" panose="02020603050405020304" pitchFamily="18" charset="0"/>
              <a:ea typeface="Times New Roman" panose="02020603050405020304" pitchFamily="18" charset="0"/>
            </a:endParaRPr>
          </a:p>
          <a:p>
            <a:pPr marL="527685" marR="1186180" algn="just">
              <a:spcAft>
                <a:spcPts val="0"/>
              </a:spcAft>
            </a:pPr>
            <a:endParaRPr lang="en-US" sz="1800" dirty="0">
              <a:effectLst/>
              <a:latin typeface="Times New Roman" panose="02020603050405020304" pitchFamily="18" charset="0"/>
              <a:ea typeface="Times New Roman" panose="02020603050405020304" pitchFamily="18" charset="0"/>
            </a:endParaRPr>
          </a:p>
          <a:p>
            <a:pPr marL="527685" marR="1186180" algn="just">
              <a:spcAft>
                <a:spcPts val="0"/>
              </a:spcAft>
            </a:pPr>
            <a:r>
              <a:rPr lang="en-US" sz="2800" dirty="0">
                <a:effectLst/>
                <a:latin typeface="Times New Roman" panose="02020603050405020304" pitchFamily="18" charset="0"/>
                <a:ea typeface="Times New Roman" panose="02020603050405020304" pitchFamily="18" charset="0"/>
              </a:rPr>
              <a:t>In developing the overall audit plan, the auditors should assess inherent risk at the financial statement level.</a:t>
            </a:r>
            <a:endParaRPr lang="en-US" sz="2800" dirty="0">
              <a:effectLst/>
              <a:latin typeface="Times New Roman" panose="02020603050405020304" pitchFamily="18" charset="0"/>
              <a:ea typeface="Times New Roman" panose="02020603050405020304" pitchFamily="18" charset="0"/>
            </a:endParaRPr>
          </a:p>
          <a:p>
            <a:endParaRPr lang="en-US" sz="2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800" b="1" dirty="0">
                <a:effectLst/>
                <a:latin typeface="Times New Roman" panose="02020603050405020304" pitchFamily="18" charset="0"/>
                <a:ea typeface="Times New Roman" panose="02020603050405020304" pitchFamily="18" charset="0"/>
              </a:rPr>
              <a:t>AUDIT RISKS AND MATERIALITY ASSESSMENT</a:t>
            </a:r>
            <a:endParaRPr lang="en-US" dirty="0"/>
          </a:p>
        </p:txBody>
      </p:sp>
      <p:sp>
        <p:nvSpPr>
          <p:cNvPr id="3" name="Content Placeholder 2"/>
          <p:cNvSpPr>
            <a:spLocks noGrp="1"/>
          </p:cNvSpPr>
          <p:nvPr>
            <p:ph idx="1"/>
          </p:nvPr>
        </p:nvSpPr>
        <p:spPr>
          <a:xfrm>
            <a:off x="185530" y="1845733"/>
            <a:ext cx="11887200" cy="4343031"/>
          </a:xfrm>
        </p:spPr>
        <p:txBody>
          <a:bodyPr>
            <a:normAutofit lnSpcReduction="10000"/>
          </a:bodyPr>
          <a:lstStyle/>
          <a:p>
            <a:r>
              <a:rPr lang="en-US" sz="2800" b="1" spc="-5" dirty="0">
                <a:effectLst/>
                <a:latin typeface="Times New Roman" panose="02020603050405020304" pitchFamily="18" charset="0"/>
                <a:ea typeface="Times New Roman" panose="02020603050405020304" pitchFamily="18" charset="0"/>
              </a:rPr>
              <a:t>Inherent Risk cont’d</a:t>
            </a:r>
            <a:endParaRPr lang="en-US" sz="2800" b="1" spc="-5" dirty="0">
              <a:effectLst/>
              <a:latin typeface="Times New Roman" panose="02020603050405020304" pitchFamily="18" charset="0"/>
              <a:ea typeface="Times New Roman" panose="02020603050405020304" pitchFamily="18" charset="0"/>
            </a:endParaRPr>
          </a:p>
          <a:p>
            <a:r>
              <a:rPr lang="en-US" sz="2800" dirty="0">
                <a:solidFill>
                  <a:srgbClr val="FF0000"/>
                </a:solidFill>
              </a:rPr>
              <a:t>At the financial statement level:</a:t>
            </a:r>
            <a:endParaRPr lang="en-US" sz="2800" dirty="0">
              <a:solidFill>
                <a:srgbClr val="FF0000"/>
              </a:solidFill>
            </a:endParaRPr>
          </a:p>
          <a:p>
            <a:r>
              <a:rPr lang="en-US" dirty="0"/>
              <a:t>•</a:t>
            </a:r>
            <a:r>
              <a:rPr lang="en-US" sz="2800" dirty="0"/>
              <a:t>The integrity of management</a:t>
            </a:r>
            <a:endParaRPr lang="en-US" sz="2800" dirty="0"/>
          </a:p>
          <a:p>
            <a:r>
              <a:rPr lang="en-US" sz="2800" dirty="0"/>
              <a:t>•Management experience and knowledge and changes in management during the period, for example the inexperience of management may affect the preparation of the financial statement of the entity.</a:t>
            </a:r>
            <a:endParaRPr lang="en-US" sz="2800" dirty="0"/>
          </a:p>
          <a:p>
            <a:pPr marL="0" indent="0">
              <a:buNone/>
            </a:pPr>
            <a:r>
              <a:rPr lang="en-US" sz="2800" dirty="0"/>
              <a:t>•Unusual pressures on management. </a:t>
            </a:r>
            <a:endParaRPr lang="en-US" sz="2800" dirty="0"/>
          </a:p>
          <a:p>
            <a:r>
              <a:rPr lang="en-US" sz="2800" dirty="0"/>
              <a:t>•The nature of the entity’s business, for example the potential for technological obsolescence of its products etc. </a:t>
            </a:r>
            <a:endParaRPr lang="en-US" sz="2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1"/>
            <a:ext cx="10058400" cy="1086678"/>
          </a:xfrm>
        </p:spPr>
        <p:txBody>
          <a:bodyPr>
            <a:normAutofit fontScale="90000"/>
          </a:bodyPr>
          <a:lstStyle/>
          <a:p>
            <a:pPr algn="ctr"/>
            <a:r>
              <a:rPr lang="en-US" sz="4000" b="1" dirty="0">
                <a:effectLst/>
                <a:latin typeface="Times New Roman" panose="02020603050405020304" pitchFamily="18" charset="0"/>
                <a:ea typeface="Times New Roman" panose="02020603050405020304" pitchFamily="18" charset="0"/>
              </a:rPr>
              <a:t>AUDIT RISKS AND MATERIALITY ASSESSMENT</a:t>
            </a:r>
            <a:endParaRPr lang="en-US" sz="4000" dirty="0"/>
          </a:p>
        </p:txBody>
      </p:sp>
      <p:sp>
        <p:nvSpPr>
          <p:cNvPr id="3" name="Content Placeholder 2"/>
          <p:cNvSpPr>
            <a:spLocks noGrp="1"/>
          </p:cNvSpPr>
          <p:nvPr>
            <p:ph idx="1"/>
          </p:nvPr>
        </p:nvSpPr>
        <p:spPr>
          <a:xfrm>
            <a:off x="0" y="1199213"/>
            <a:ext cx="12032975" cy="5306518"/>
          </a:xfrm>
        </p:spPr>
        <p:txBody>
          <a:bodyPr>
            <a:normAutofit fontScale="25000" lnSpcReduction="20000"/>
          </a:bodyPr>
          <a:lstStyle/>
          <a:p>
            <a:pPr marL="528320" algn="just">
              <a:lnSpc>
                <a:spcPts val="1380"/>
              </a:lnSpc>
            </a:pPr>
            <a:r>
              <a:rPr lang="en-US" sz="11200" b="1" spc="-5" dirty="0">
                <a:effectLst/>
                <a:latin typeface="Times New Roman" panose="02020603050405020304" pitchFamily="18" charset="0"/>
                <a:ea typeface="Times New Roman" panose="02020603050405020304" pitchFamily="18" charset="0"/>
              </a:rPr>
              <a:t>Inherent Risk cont’d</a:t>
            </a:r>
            <a:endParaRPr lang="en-US" sz="11200" b="1" spc="-5" dirty="0">
              <a:effectLst/>
              <a:latin typeface="Times New Roman" panose="02020603050405020304" pitchFamily="18" charset="0"/>
              <a:ea typeface="Times New Roman" panose="02020603050405020304" pitchFamily="18" charset="0"/>
            </a:endParaRPr>
          </a:p>
          <a:p>
            <a:pPr marL="436880" indent="0" algn="just">
              <a:lnSpc>
                <a:spcPts val="1380"/>
              </a:lnSpc>
              <a:buNone/>
            </a:pPr>
            <a:r>
              <a:rPr lang="en-US" sz="11200" dirty="0">
                <a:solidFill>
                  <a:srgbClr val="FF0000"/>
                </a:solidFill>
                <a:effectLst/>
                <a:latin typeface="Times New Roman" panose="02020603050405020304" pitchFamily="18" charset="0"/>
                <a:ea typeface="Times New Roman" panose="02020603050405020304" pitchFamily="18" charset="0"/>
              </a:rPr>
              <a:t>At the account balance and class of transactions level</a:t>
            </a:r>
            <a:endParaRPr lang="en-US" sz="11200" dirty="0">
              <a:solidFill>
                <a:srgbClr val="FF0000"/>
              </a:solidFill>
              <a:effectLst/>
              <a:latin typeface="Times New Roman" panose="02020603050405020304" pitchFamily="18" charset="0"/>
              <a:ea typeface="Times New Roman" panose="02020603050405020304" pitchFamily="18" charset="0"/>
            </a:endParaRPr>
          </a:p>
          <a:p>
            <a:pPr marL="436880" indent="0" algn="just">
              <a:lnSpc>
                <a:spcPts val="1380"/>
              </a:lnSpc>
              <a:buNone/>
            </a:pPr>
            <a:endParaRPr lang="en-US" sz="11200" dirty="0">
              <a:solidFill>
                <a:srgbClr val="FF0000"/>
              </a:solidFill>
              <a:effectLst/>
              <a:latin typeface="Times New Roman" panose="02020603050405020304" pitchFamily="18" charset="0"/>
              <a:ea typeface="Times New Roman" panose="02020603050405020304" pitchFamily="18" charset="0"/>
            </a:endParaRPr>
          </a:p>
          <a:p>
            <a:pPr marL="742950" marR="1209040" lvl="1" indent="-285750" algn="just">
              <a:buSzPts val="1200"/>
              <a:buFont typeface="Symbol" panose="05050102010706020507" pitchFamily="18" charset="2"/>
              <a:buChar char=""/>
              <a:tabLst>
                <a:tab pos="985520" algn="l"/>
              </a:tabLst>
            </a:pPr>
            <a:r>
              <a:rPr lang="en-US" sz="11200" dirty="0">
                <a:effectLst/>
                <a:latin typeface="Times New Roman" panose="02020603050405020304" pitchFamily="18" charset="0"/>
                <a:ea typeface="Symbol" panose="05050102010706020507" pitchFamily="18" charset="2"/>
                <a:cs typeface="Symbol" panose="05050102010706020507" pitchFamily="18" charset="2"/>
              </a:rPr>
              <a:t>Financial statement likely to be susceptible to misstatement.</a:t>
            </a:r>
            <a:endParaRPr lang="en-US" sz="11200" dirty="0">
              <a:effectLst/>
              <a:latin typeface="Times New Roman" panose="02020603050405020304" pitchFamily="18" charset="0"/>
              <a:ea typeface="Symbol" panose="05050102010706020507" pitchFamily="18" charset="2"/>
              <a:cs typeface="Symbol" panose="05050102010706020507" pitchFamily="18" charset="2"/>
            </a:endParaRPr>
          </a:p>
          <a:p>
            <a:pPr marL="742950" marR="1209040" lvl="1" indent="-285750" algn="just">
              <a:buSzPts val="1200"/>
              <a:buFont typeface="Symbol" panose="05050102010706020507" pitchFamily="18" charset="2"/>
              <a:buChar char=""/>
              <a:tabLst>
                <a:tab pos="985520" algn="l"/>
              </a:tabLst>
            </a:pPr>
            <a:endParaRPr lang="en-US" sz="11200" dirty="0">
              <a:effectLst/>
              <a:latin typeface="Times New Roman" panose="02020603050405020304" pitchFamily="18" charset="0"/>
              <a:ea typeface="Symbol" panose="05050102010706020507" pitchFamily="18" charset="2"/>
              <a:cs typeface="Symbol" panose="05050102010706020507" pitchFamily="18" charset="2"/>
            </a:endParaRPr>
          </a:p>
          <a:p>
            <a:pPr marL="742950" marR="1209675" lvl="1" indent="-285750" algn="just">
              <a:buSzPts val="1200"/>
              <a:buFont typeface="Symbol" panose="05050102010706020507" pitchFamily="18" charset="2"/>
              <a:buChar char=""/>
              <a:tabLst>
                <a:tab pos="985520" algn="l"/>
              </a:tabLst>
            </a:pPr>
            <a:r>
              <a:rPr lang="en-US" sz="11200" dirty="0">
                <a:effectLst/>
                <a:latin typeface="Times New Roman" panose="02020603050405020304" pitchFamily="18" charset="0"/>
                <a:ea typeface="Symbol" panose="05050102010706020507" pitchFamily="18" charset="2"/>
                <a:cs typeface="Symbol" panose="05050102010706020507" pitchFamily="18" charset="2"/>
              </a:rPr>
              <a:t>The complexity of understanding transactions and other events which might require the use of </a:t>
            </a:r>
            <a:endParaRPr lang="en-US" sz="11200" dirty="0">
              <a:effectLst/>
              <a:latin typeface="Times New Roman" panose="02020603050405020304" pitchFamily="18" charset="0"/>
              <a:ea typeface="Symbol" panose="05050102010706020507" pitchFamily="18" charset="2"/>
              <a:cs typeface="Symbol" panose="05050102010706020507" pitchFamily="18" charset="2"/>
            </a:endParaRPr>
          </a:p>
          <a:p>
            <a:pPr marL="457200" marR="1209675" lvl="1" indent="0" algn="just">
              <a:buSzPts val="1200"/>
              <a:buNone/>
              <a:tabLst>
                <a:tab pos="985520" algn="l"/>
              </a:tabLst>
            </a:pPr>
            <a:r>
              <a:rPr lang="en-US" sz="11200" dirty="0">
                <a:effectLst/>
                <a:latin typeface="Times New Roman" panose="02020603050405020304" pitchFamily="18" charset="0"/>
                <a:ea typeface="Symbol" panose="05050102010706020507" pitchFamily="18" charset="2"/>
                <a:cs typeface="Symbol" panose="05050102010706020507" pitchFamily="18" charset="2"/>
              </a:rPr>
              <a:t>the work of an</a:t>
            </a:r>
            <a:r>
              <a:rPr lang="en-US" sz="11200" spc="-5" dirty="0">
                <a:effectLst/>
                <a:latin typeface="Times New Roman" panose="02020603050405020304" pitchFamily="18" charset="0"/>
                <a:ea typeface="Symbol" panose="05050102010706020507" pitchFamily="18" charset="2"/>
                <a:cs typeface="Symbol" panose="05050102010706020507" pitchFamily="18" charset="2"/>
              </a:rPr>
              <a:t> </a:t>
            </a:r>
            <a:r>
              <a:rPr lang="en-US" sz="11200" dirty="0">
                <a:effectLst/>
                <a:latin typeface="Times New Roman" panose="02020603050405020304" pitchFamily="18" charset="0"/>
                <a:ea typeface="Symbol" panose="05050102010706020507" pitchFamily="18" charset="2"/>
                <a:cs typeface="Symbol" panose="05050102010706020507" pitchFamily="18" charset="2"/>
              </a:rPr>
              <a:t>expert.</a:t>
            </a:r>
            <a:endParaRPr lang="en-US" sz="11200" dirty="0">
              <a:effectLst/>
              <a:latin typeface="Times New Roman" panose="02020603050405020304" pitchFamily="18" charset="0"/>
              <a:ea typeface="Symbol" panose="05050102010706020507" pitchFamily="18" charset="2"/>
              <a:cs typeface="Symbol" panose="05050102010706020507" pitchFamily="18" charset="2"/>
            </a:endParaRPr>
          </a:p>
          <a:p>
            <a:pPr marL="742950" marR="1209675" lvl="1" indent="-285750" algn="just">
              <a:buSzPts val="1200"/>
              <a:buFont typeface="Symbol" panose="05050102010706020507" pitchFamily="18" charset="2"/>
              <a:buChar char=""/>
              <a:tabLst>
                <a:tab pos="985520" algn="l"/>
              </a:tabLst>
            </a:pPr>
            <a:endParaRPr lang="en-US" sz="11200" dirty="0">
              <a:effectLst/>
              <a:latin typeface="Times New Roman" panose="02020603050405020304" pitchFamily="18" charset="0"/>
              <a:ea typeface="Symbol" panose="05050102010706020507" pitchFamily="18" charset="2"/>
              <a:cs typeface="Symbol" panose="05050102010706020507" pitchFamily="18" charset="2"/>
            </a:endParaRPr>
          </a:p>
          <a:p>
            <a:pPr marL="742950" lvl="1" indent="-285750" algn="just">
              <a:lnSpc>
                <a:spcPts val="1465"/>
              </a:lnSpc>
              <a:buSzPts val="1200"/>
              <a:buFont typeface="Symbol" panose="05050102010706020507" pitchFamily="18" charset="2"/>
              <a:buChar char=""/>
              <a:tabLst>
                <a:tab pos="985520" algn="l"/>
              </a:tabLst>
            </a:pPr>
            <a:r>
              <a:rPr lang="en-US" sz="11200" dirty="0">
                <a:effectLst/>
                <a:latin typeface="Times New Roman" panose="02020603050405020304" pitchFamily="18" charset="0"/>
                <a:ea typeface="Symbol" panose="05050102010706020507" pitchFamily="18" charset="2"/>
                <a:cs typeface="Symbol" panose="05050102010706020507" pitchFamily="18" charset="2"/>
              </a:rPr>
              <a:t>The degree of judgement involved in determining account</a:t>
            </a:r>
            <a:r>
              <a:rPr lang="en-US" sz="11200" spc="-35" dirty="0">
                <a:effectLst/>
                <a:latin typeface="Times New Roman" panose="02020603050405020304" pitchFamily="18" charset="0"/>
                <a:ea typeface="Symbol" panose="05050102010706020507" pitchFamily="18" charset="2"/>
                <a:cs typeface="Symbol" panose="05050102010706020507" pitchFamily="18" charset="2"/>
              </a:rPr>
              <a:t> </a:t>
            </a:r>
            <a:r>
              <a:rPr lang="en-US" sz="11200" dirty="0">
                <a:effectLst/>
                <a:latin typeface="Times New Roman" panose="02020603050405020304" pitchFamily="18" charset="0"/>
                <a:ea typeface="Symbol" panose="05050102010706020507" pitchFamily="18" charset="2"/>
                <a:cs typeface="Symbol" panose="05050102010706020507" pitchFamily="18" charset="2"/>
              </a:rPr>
              <a:t>balances.</a:t>
            </a:r>
            <a:endParaRPr lang="en-US" sz="11200" dirty="0">
              <a:effectLst/>
              <a:latin typeface="Times New Roman" panose="02020603050405020304" pitchFamily="18" charset="0"/>
              <a:ea typeface="Symbol" panose="05050102010706020507" pitchFamily="18" charset="2"/>
              <a:cs typeface="Symbol" panose="05050102010706020507" pitchFamily="18" charset="2"/>
            </a:endParaRPr>
          </a:p>
          <a:p>
            <a:pPr marL="742950" lvl="1" indent="-285750" algn="just">
              <a:lnSpc>
                <a:spcPts val="1465"/>
              </a:lnSpc>
              <a:buSzPts val="1200"/>
              <a:buFont typeface="Symbol" panose="05050102010706020507" pitchFamily="18" charset="2"/>
              <a:buChar char=""/>
              <a:tabLst>
                <a:tab pos="985520" algn="l"/>
              </a:tabLst>
            </a:pPr>
            <a:endParaRPr lang="en-US" sz="11200" dirty="0">
              <a:effectLst/>
              <a:latin typeface="Times New Roman" panose="02020603050405020304" pitchFamily="18" charset="0"/>
              <a:ea typeface="Symbol" panose="05050102010706020507" pitchFamily="18" charset="2"/>
              <a:cs typeface="Symbol" panose="05050102010706020507" pitchFamily="18" charset="2"/>
            </a:endParaRPr>
          </a:p>
          <a:p>
            <a:pPr marL="742950" marR="1209675" lvl="1" indent="-285750">
              <a:buSzPts val="1200"/>
              <a:buFont typeface="Symbol" panose="05050102010706020507" pitchFamily="18" charset="2"/>
              <a:buChar char=""/>
              <a:tabLst>
                <a:tab pos="984885" algn="l"/>
                <a:tab pos="985520" algn="l"/>
              </a:tabLst>
            </a:pPr>
            <a:r>
              <a:rPr lang="en-US" sz="11200" dirty="0">
                <a:effectLst/>
                <a:latin typeface="Times New Roman" panose="02020603050405020304" pitchFamily="18" charset="0"/>
                <a:ea typeface="Symbol" panose="05050102010706020507" pitchFamily="18" charset="2"/>
                <a:cs typeface="Symbol" panose="05050102010706020507" pitchFamily="18" charset="2"/>
              </a:rPr>
              <a:t>Susceptibility of assets to loss or misappropriation</a:t>
            </a:r>
            <a:endParaRPr lang="en-US" sz="11200" dirty="0">
              <a:effectLst/>
              <a:latin typeface="Times New Roman" panose="02020603050405020304" pitchFamily="18" charset="0"/>
              <a:ea typeface="Symbol" panose="05050102010706020507" pitchFamily="18" charset="2"/>
              <a:cs typeface="Symbol" panose="05050102010706020507" pitchFamily="18" charset="2"/>
            </a:endParaRPr>
          </a:p>
          <a:p>
            <a:pPr marL="742950" marR="1209675" lvl="1" indent="-285750">
              <a:buSzPts val="1200"/>
              <a:buFont typeface="Symbol" panose="05050102010706020507" pitchFamily="18" charset="2"/>
              <a:buChar char=""/>
              <a:tabLst>
                <a:tab pos="984885" algn="l"/>
                <a:tab pos="985520" algn="l"/>
              </a:tabLst>
            </a:pPr>
            <a:r>
              <a:rPr lang="en-US" sz="11200" dirty="0">
                <a:effectLst/>
                <a:latin typeface="Times New Roman" panose="02020603050405020304" pitchFamily="18" charset="0"/>
                <a:ea typeface="Symbol" panose="05050102010706020507" pitchFamily="18" charset="2"/>
                <a:cs typeface="Symbol" panose="05050102010706020507" pitchFamily="18" charset="2"/>
              </a:rPr>
              <a:t>The completion of unusual and complex transactions, particularly at or near period end</a:t>
            </a:r>
            <a:endParaRPr lang="en-US" sz="11200" dirty="0">
              <a:effectLst/>
              <a:latin typeface="Times New Roman" panose="02020603050405020304" pitchFamily="18" charset="0"/>
              <a:ea typeface="Symbol" panose="05050102010706020507" pitchFamily="18" charset="2"/>
              <a:cs typeface="Symbol" panose="05050102010706020507" pitchFamily="18" charset="2"/>
            </a:endParaRPr>
          </a:p>
          <a:p>
            <a:pPr marL="742950" marR="1209675" lvl="1" indent="-285750">
              <a:buSzPts val="1200"/>
              <a:buFont typeface="Symbol" panose="05050102010706020507" pitchFamily="18" charset="2"/>
              <a:buChar char=""/>
              <a:tabLst>
                <a:tab pos="984885" algn="l"/>
                <a:tab pos="985520" algn="l"/>
              </a:tabLst>
            </a:pPr>
            <a:endParaRPr lang="en-US" sz="11200" dirty="0">
              <a:effectLst/>
              <a:latin typeface="Times New Roman" panose="02020603050405020304" pitchFamily="18" charset="0"/>
              <a:ea typeface="Symbol" panose="05050102010706020507" pitchFamily="18" charset="2"/>
              <a:cs typeface="Symbol" panose="05050102010706020507" pitchFamily="18" charset="2"/>
            </a:endParaRPr>
          </a:p>
          <a:p>
            <a:pPr marL="742950" lvl="1" indent="-285750">
              <a:lnSpc>
                <a:spcPts val="1465"/>
              </a:lnSpc>
              <a:buSzPts val="1200"/>
              <a:buFont typeface="Symbol" panose="05050102010706020507" pitchFamily="18" charset="2"/>
              <a:buChar char=""/>
              <a:tabLst>
                <a:tab pos="984885" algn="l"/>
                <a:tab pos="985520" algn="l"/>
              </a:tabLst>
            </a:pPr>
            <a:r>
              <a:rPr lang="en-US" sz="11200" dirty="0">
                <a:effectLst/>
                <a:latin typeface="Times New Roman" panose="02020603050405020304" pitchFamily="18" charset="0"/>
                <a:ea typeface="Symbol" panose="05050102010706020507" pitchFamily="18" charset="2"/>
                <a:cs typeface="Symbol" panose="05050102010706020507" pitchFamily="18" charset="2"/>
              </a:rPr>
              <a:t>Transactions not subjected to ordinary</a:t>
            </a:r>
            <a:r>
              <a:rPr lang="en-US" sz="11200" spc="-10" dirty="0">
                <a:effectLst/>
                <a:latin typeface="Times New Roman" panose="02020603050405020304" pitchFamily="18" charset="0"/>
                <a:ea typeface="Symbol" panose="05050102010706020507" pitchFamily="18" charset="2"/>
                <a:cs typeface="Symbol" panose="05050102010706020507" pitchFamily="18" charset="2"/>
              </a:rPr>
              <a:t> </a:t>
            </a:r>
            <a:r>
              <a:rPr lang="en-US" sz="11200" dirty="0">
                <a:effectLst/>
                <a:latin typeface="Times New Roman" panose="02020603050405020304" pitchFamily="18" charset="0"/>
                <a:ea typeface="Symbol" panose="05050102010706020507" pitchFamily="18" charset="2"/>
                <a:cs typeface="Symbol" panose="05050102010706020507" pitchFamily="18" charset="2"/>
              </a:rPr>
              <a:t>processing.</a:t>
            </a:r>
            <a:endParaRPr lang="en-US" sz="11200" dirty="0">
              <a:effectLst/>
              <a:latin typeface="Times New Roman" panose="02020603050405020304" pitchFamily="18" charset="0"/>
              <a:ea typeface="Symbol" panose="05050102010706020507" pitchFamily="18" charset="2"/>
              <a:cs typeface="Symbol" panose="05050102010706020507" pitchFamily="18" charset="2"/>
            </a:endParaRPr>
          </a:p>
          <a:p>
            <a:pPr>
              <a:spcBef>
                <a:spcPts val="45"/>
              </a:spcBef>
            </a:pPr>
            <a:r>
              <a:rPr lang="en-US" sz="7400" dirty="0">
                <a:effectLst/>
                <a:latin typeface="Times New Roman" panose="02020603050405020304" pitchFamily="18" charset="0"/>
                <a:ea typeface="Times New Roman" panose="02020603050405020304" pitchFamily="18" charset="0"/>
              </a:rPr>
              <a:t> </a:t>
            </a:r>
            <a:endParaRPr lang="en-US" sz="7400" dirty="0">
              <a:effectLst/>
              <a:latin typeface="Times New Roman" panose="02020603050405020304" pitchFamily="18" charset="0"/>
              <a:ea typeface="Times New Roman" panose="02020603050405020304" pitchFamily="18" charset="0"/>
            </a:endParaRPr>
          </a:p>
          <a:p>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800" b="1" dirty="0">
                <a:effectLst/>
                <a:latin typeface="Times New Roman" panose="02020603050405020304" pitchFamily="18" charset="0"/>
                <a:ea typeface="Times New Roman" panose="02020603050405020304" pitchFamily="18" charset="0"/>
              </a:rPr>
              <a:t>AUDIT RISKS AND MATERIALITY ASSESSMENT</a:t>
            </a:r>
            <a:endParaRPr lang="en-US" dirty="0"/>
          </a:p>
        </p:txBody>
      </p:sp>
      <p:sp>
        <p:nvSpPr>
          <p:cNvPr id="3" name="Content Placeholder 2"/>
          <p:cNvSpPr>
            <a:spLocks noGrp="1"/>
          </p:cNvSpPr>
          <p:nvPr>
            <p:ph idx="1"/>
          </p:nvPr>
        </p:nvSpPr>
        <p:spPr>
          <a:xfrm>
            <a:off x="145773" y="1845734"/>
            <a:ext cx="11847443" cy="4023360"/>
          </a:xfrm>
        </p:spPr>
        <p:txBody>
          <a:bodyPr/>
          <a:lstStyle/>
          <a:p>
            <a:pPr marL="914400" lvl="2" indent="0" algn="just">
              <a:spcBef>
                <a:spcPts val="5"/>
              </a:spcBef>
              <a:spcAft>
                <a:spcPts val="0"/>
              </a:spcAft>
              <a:buSzPts val="1200"/>
              <a:buNone/>
              <a:tabLst>
                <a:tab pos="985520" algn="l"/>
              </a:tabLst>
            </a:pPr>
            <a:r>
              <a:rPr lang="en-US" sz="2800" b="1" spc="-5" dirty="0">
                <a:effectLst/>
                <a:latin typeface="Times New Roman" panose="02020603050405020304" pitchFamily="18" charset="0"/>
                <a:ea typeface="Times New Roman" panose="02020603050405020304" pitchFamily="18" charset="0"/>
              </a:rPr>
              <a:t>Control Risk</a:t>
            </a:r>
            <a:endParaRPr lang="en-US" sz="2800" b="1" spc="-5" dirty="0">
              <a:effectLst/>
              <a:latin typeface="Times New Roman" panose="02020603050405020304" pitchFamily="18" charset="0"/>
              <a:ea typeface="Times New Roman" panose="02020603050405020304" pitchFamily="18" charset="0"/>
            </a:endParaRPr>
          </a:p>
          <a:p>
            <a:pPr marL="528320" marR="1209040" algn="just">
              <a:spcAft>
                <a:spcPts val="0"/>
              </a:spcAft>
            </a:pPr>
            <a:r>
              <a:rPr lang="en-US" sz="2800" dirty="0">
                <a:effectLst/>
                <a:latin typeface="Times New Roman" panose="02020603050405020304" pitchFamily="18" charset="0"/>
                <a:ea typeface="Times New Roman" panose="02020603050405020304" pitchFamily="18" charset="0"/>
              </a:rPr>
              <a:t>“Control risk” is the risk that material misstatement could occur in account balance or class of transactions, either individually or when aggregated with misstatements in other balances or classes, and not be prevented, or detected on a timely basis, by the accounting and internal control</a:t>
            </a:r>
            <a:r>
              <a:rPr lang="en-US" sz="2800" spc="-5"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systems.</a:t>
            </a:r>
            <a:endParaRPr lang="en-US" sz="2800" dirty="0">
              <a:effectLst/>
              <a:latin typeface="Times New Roman" panose="02020603050405020304" pitchFamily="18" charset="0"/>
              <a:ea typeface="Times New Roman" panose="02020603050405020304" pitchFamily="18" charset="0"/>
            </a:endParaRPr>
          </a:p>
          <a:p>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800" b="1" dirty="0">
                <a:effectLst/>
                <a:latin typeface="Times New Roman" panose="02020603050405020304" pitchFamily="18" charset="0"/>
                <a:ea typeface="Times New Roman" panose="02020603050405020304" pitchFamily="18" charset="0"/>
              </a:rPr>
              <a:t>AUDIT RISKS AND MATERIALITY ASSESSMENT</a:t>
            </a:r>
            <a:endParaRPr lang="en-US" dirty="0"/>
          </a:p>
        </p:txBody>
      </p:sp>
      <p:sp>
        <p:nvSpPr>
          <p:cNvPr id="3" name="Content Placeholder 2"/>
          <p:cNvSpPr>
            <a:spLocks noGrp="1"/>
          </p:cNvSpPr>
          <p:nvPr>
            <p:ph idx="1"/>
          </p:nvPr>
        </p:nvSpPr>
        <p:spPr>
          <a:xfrm>
            <a:off x="106017" y="1845734"/>
            <a:ext cx="11940209" cy="4023360"/>
          </a:xfrm>
        </p:spPr>
        <p:txBody>
          <a:bodyPr/>
          <a:lstStyle/>
          <a:p>
            <a:pPr marL="914400" lvl="2" indent="0" algn="just">
              <a:spcBef>
                <a:spcPts val="5"/>
              </a:spcBef>
              <a:spcAft>
                <a:spcPts val="0"/>
              </a:spcAft>
              <a:buSzPts val="1200"/>
              <a:buNone/>
              <a:tabLst>
                <a:tab pos="985520" algn="l"/>
              </a:tabLst>
            </a:pPr>
            <a:r>
              <a:rPr lang="en-US" sz="2800" b="1" spc="-5" dirty="0">
                <a:effectLst/>
                <a:latin typeface="Times New Roman" panose="02020603050405020304" pitchFamily="18" charset="0"/>
                <a:ea typeface="Times New Roman" panose="02020603050405020304" pitchFamily="18" charset="0"/>
              </a:rPr>
              <a:t>Detection</a:t>
            </a:r>
            <a:r>
              <a:rPr lang="en-US" sz="2800" b="1" spc="-10" dirty="0">
                <a:effectLst/>
                <a:latin typeface="Times New Roman" panose="02020603050405020304" pitchFamily="18" charset="0"/>
                <a:ea typeface="Times New Roman" panose="02020603050405020304" pitchFamily="18" charset="0"/>
              </a:rPr>
              <a:t> </a:t>
            </a:r>
            <a:r>
              <a:rPr lang="en-US" sz="2800" b="1" spc="-5" dirty="0">
                <a:effectLst/>
                <a:latin typeface="Times New Roman" panose="02020603050405020304" pitchFamily="18" charset="0"/>
                <a:ea typeface="Times New Roman" panose="02020603050405020304" pitchFamily="18" charset="0"/>
              </a:rPr>
              <a:t>Risk</a:t>
            </a:r>
            <a:endParaRPr lang="en-US" sz="2800" b="1" spc="-5" dirty="0">
              <a:effectLst/>
              <a:latin typeface="Times New Roman" panose="02020603050405020304" pitchFamily="18" charset="0"/>
              <a:ea typeface="Times New Roman" panose="02020603050405020304" pitchFamily="18" charset="0"/>
            </a:endParaRPr>
          </a:p>
          <a:p>
            <a:pPr marL="527685" marR="1187450" algn="just">
              <a:spcAft>
                <a:spcPts val="0"/>
              </a:spcAft>
            </a:pPr>
            <a:r>
              <a:rPr lang="en-US" sz="2800" dirty="0">
                <a:effectLst/>
                <a:latin typeface="Times New Roman" panose="02020603050405020304" pitchFamily="18" charset="0"/>
                <a:ea typeface="Times New Roman" panose="02020603050405020304" pitchFamily="18" charset="0"/>
              </a:rPr>
              <a:t>“Detection Risk” is the risk that auditors’ substantive procedures (tests of details of transactions and balances or analytical procedures) do not detect a material misstatement that exists in an account balance or class of transactions, either individually or when aggregated with misstatement in other balances or</a:t>
            </a:r>
            <a:r>
              <a:rPr lang="en-US" sz="2800" spc="-60"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classes.</a:t>
            </a:r>
            <a:endParaRPr lang="en-US" sz="2800" dirty="0">
              <a:effectLst/>
              <a:latin typeface="Times New Roman" panose="02020603050405020304" pitchFamily="18" charset="0"/>
              <a:ea typeface="Times New Roman" panose="02020603050405020304" pitchFamily="18" charset="0"/>
            </a:endParaRPr>
          </a:p>
          <a:p>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800" b="1" dirty="0">
                <a:effectLst/>
                <a:latin typeface="Times New Roman" panose="02020603050405020304" pitchFamily="18" charset="0"/>
                <a:ea typeface="Times New Roman" panose="02020603050405020304" pitchFamily="18" charset="0"/>
              </a:rPr>
              <a:t>AUDIT RISKS AND MATERIALITY ASSESSMENT</a:t>
            </a:r>
            <a:endParaRPr lang="en-US" dirty="0"/>
          </a:p>
        </p:txBody>
      </p:sp>
      <p:sp>
        <p:nvSpPr>
          <p:cNvPr id="3" name="Content Placeholder 2"/>
          <p:cNvSpPr>
            <a:spLocks noGrp="1"/>
          </p:cNvSpPr>
          <p:nvPr>
            <p:ph idx="1"/>
          </p:nvPr>
        </p:nvSpPr>
        <p:spPr>
          <a:xfrm>
            <a:off x="92765" y="1845733"/>
            <a:ext cx="11953461" cy="4316527"/>
          </a:xfrm>
        </p:spPr>
        <p:txBody>
          <a:bodyPr/>
          <a:lstStyle/>
          <a:p>
            <a:r>
              <a:rPr lang="en-US" sz="2800" b="1" kern="0" spc="-5" dirty="0">
                <a:effectLst/>
                <a:latin typeface="Times New Roman" panose="02020603050405020304" pitchFamily="18" charset="0"/>
                <a:ea typeface="Times New Roman" panose="02020603050405020304" pitchFamily="18" charset="0"/>
              </a:rPr>
              <a:t>The Concept of Materiality</a:t>
            </a:r>
            <a:endParaRPr lang="en-US" sz="2800" b="1" kern="0" spc="-5" dirty="0">
              <a:effectLst/>
              <a:latin typeface="Times New Roman" panose="02020603050405020304" pitchFamily="18" charset="0"/>
              <a:ea typeface="Times New Roman" panose="02020603050405020304" pitchFamily="18" charset="0"/>
            </a:endParaRPr>
          </a:p>
          <a:p>
            <a:r>
              <a:rPr lang="en-US" sz="2800" dirty="0">
                <a:effectLst/>
                <a:latin typeface="Times New Roman" panose="02020603050405020304" pitchFamily="18" charset="0"/>
                <a:ea typeface="Times New Roman" panose="02020603050405020304" pitchFamily="18" charset="0"/>
              </a:rPr>
              <a:t>Information is material if its omission or misstatement could influence the economic decisions of users taken on the basis of the financial statements. </a:t>
            </a:r>
            <a:endParaRPr lang="en-US" sz="2800" dirty="0">
              <a:effectLst/>
              <a:latin typeface="Times New Roman" panose="02020603050405020304" pitchFamily="18" charset="0"/>
              <a:ea typeface="Times New Roman" panose="02020603050405020304" pitchFamily="18" charset="0"/>
            </a:endParaRPr>
          </a:p>
          <a:p>
            <a:endParaRPr lang="en-US" sz="2800" b="1" kern="0" spc="-5" dirty="0">
              <a:effectLst/>
              <a:latin typeface="Times New Roman" panose="02020603050405020304" pitchFamily="18" charset="0"/>
              <a:ea typeface="Times New Roman" panose="02020603050405020304" pitchFamily="18" charset="0"/>
            </a:endParaRPr>
          </a:p>
          <a:p>
            <a:r>
              <a:rPr lang="en-US" sz="2800" dirty="0">
                <a:effectLst/>
                <a:latin typeface="Times New Roman" panose="02020603050405020304" pitchFamily="18" charset="0"/>
                <a:ea typeface="Times New Roman" panose="02020603050405020304" pitchFamily="18" charset="0"/>
              </a:rPr>
              <a:t>Materiality depends on the size of the item or error judged in the particular circumstances of its omission or misstatement. Thus, materiality provides a threshold or cut-off point rather than being  a primary qualitative characteristic which information must have if it is to be</a:t>
            </a:r>
            <a:r>
              <a:rPr lang="en-US" sz="2800" spc="-95"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useful.”</a:t>
            </a:r>
            <a:endParaRPr lang="en-US" sz="2800" dirty="0">
              <a:effectLst/>
              <a:latin typeface="Times New Roman" panose="02020603050405020304" pitchFamily="18" charset="0"/>
              <a:ea typeface="Times New Roman" panose="02020603050405020304" pitchFamily="18" charset="0"/>
            </a:endParaRPr>
          </a:p>
          <a:p>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800" b="1" dirty="0">
                <a:effectLst/>
                <a:latin typeface="Times New Roman" panose="02020603050405020304" pitchFamily="18" charset="0"/>
                <a:ea typeface="Times New Roman" panose="02020603050405020304" pitchFamily="18" charset="0"/>
              </a:rPr>
              <a:t>AUDIT RISKS AND MATERIALITY ASSESSMENT</a:t>
            </a:r>
            <a:endParaRPr lang="en-US" dirty="0"/>
          </a:p>
        </p:txBody>
      </p:sp>
      <p:sp>
        <p:nvSpPr>
          <p:cNvPr id="3" name="Content Placeholder 2"/>
          <p:cNvSpPr>
            <a:spLocks noGrp="1"/>
          </p:cNvSpPr>
          <p:nvPr>
            <p:ph idx="1"/>
          </p:nvPr>
        </p:nvSpPr>
        <p:spPr/>
        <p:txBody>
          <a:bodyPr/>
          <a:lstStyle/>
          <a:p>
            <a:pPr marL="436880" indent="0" algn="just">
              <a:buNone/>
            </a:pPr>
            <a:r>
              <a:rPr lang="en-US" sz="2800" b="1" kern="0" spc="-5" dirty="0">
                <a:effectLst/>
                <a:latin typeface="Times New Roman" panose="02020603050405020304" pitchFamily="18" charset="0"/>
                <a:ea typeface="Times New Roman" panose="02020603050405020304" pitchFamily="18" charset="0"/>
              </a:rPr>
              <a:t>The Concept of Materiality cont’d</a:t>
            </a:r>
            <a:endParaRPr lang="en-US" sz="2800" b="1" kern="0" spc="-5" dirty="0">
              <a:effectLst/>
              <a:latin typeface="Times New Roman" panose="02020603050405020304" pitchFamily="18" charset="0"/>
              <a:ea typeface="Times New Roman" panose="02020603050405020304" pitchFamily="18" charset="0"/>
            </a:endParaRPr>
          </a:p>
          <a:p>
            <a:pPr marL="436880" indent="0" algn="just">
              <a:buNone/>
            </a:pPr>
            <a:r>
              <a:rPr lang="en-US" sz="2800" dirty="0">
                <a:effectLst/>
                <a:latin typeface="Times New Roman" panose="02020603050405020304" pitchFamily="18" charset="0"/>
                <a:ea typeface="Times New Roman" panose="02020603050405020304" pitchFamily="18" charset="0"/>
              </a:rPr>
              <a:t>Materiality should be considered by the auditor when:</a:t>
            </a:r>
            <a:endParaRPr lang="en-US" sz="2800" dirty="0">
              <a:effectLst/>
              <a:latin typeface="Times New Roman" panose="02020603050405020304" pitchFamily="18" charset="0"/>
              <a:ea typeface="Times New Roman" panose="02020603050405020304" pitchFamily="18" charset="0"/>
            </a:endParaRPr>
          </a:p>
          <a:p>
            <a:pPr marL="342900" lvl="0" indent="-342900">
              <a:buSzPts val="1200"/>
              <a:buFont typeface="Times New Roman" panose="02020603050405020304" pitchFamily="18" charset="0"/>
              <a:buAutoNum type="alphaLcParenR"/>
              <a:tabLst>
                <a:tab pos="1442085" algn="l"/>
                <a:tab pos="1442720" algn="l"/>
              </a:tabLst>
            </a:pPr>
            <a:r>
              <a:rPr lang="en-US" sz="2800" spc="-10" dirty="0">
                <a:effectLst/>
                <a:latin typeface="Times New Roman" panose="02020603050405020304" pitchFamily="18" charset="0"/>
                <a:ea typeface="Times New Roman" panose="02020603050405020304" pitchFamily="18" charset="0"/>
              </a:rPr>
              <a:t>Determining the nature, timing and extent of audit procedures;</a:t>
            </a:r>
            <a:r>
              <a:rPr lang="en-US" sz="2800" spc="-35" dirty="0">
                <a:effectLst/>
                <a:latin typeface="Times New Roman" panose="02020603050405020304" pitchFamily="18" charset="0"/>
                <a:ea typeface="Times New Roman" panose="02020603050405020304" pitchFamily="18" charset="0"/>
              </a:rPr>
              <a:t> </a:t>
            </a:r>
            <a:r>
              <a:rPr lang="en-US" sz="2800" spc="-10" dirty="0">
                <a:effectLst/>
                <a:latin typeface="Times New Roman" panose="02020603050405020304" pitchFamily="18" charset="0"/>
                <a:ea typeface="Times New Roman" panose="02020603050405020304" pitchFamily="18" charset="0"/>
              </a:rPr>
              <a:t>and</a:t>
            </a:r>
            <a:endParaRPr lang="en-US" sz="2800" spc="-10" dirty="0">
              <a:effectLst/>
              <a:latin typeface="Times New Roman" panose="02020603050405020304" pitchFamily="18" charset="0"/>
              <a:ea typeface="Times New Roman" panose="02020603050405020304" pitchFamily="18" charset="0"/>
            </a:endParaRPr>
          </a:p>
          <a:p>
            <a:r>
              <a:rPr lang="en-US" sz="2800" dirty="0">
                <a:effectLst/>
                <a:latin typeface="Times New Roman" panose="02020603050405020304" pitchFamily="18" charset="0"/>
                <a:ea typeface="Times New Roman" panose="02020603050405020304" pitchFamily="18" charset="0"/>
              </a:rPr>
              <a:t> </a:t>
            </a:r>
            <a:endParaRPr lang="en-US" sz="2800" dirty="0">
              <a:effectLst/>
              <a:latin typeface="Times New Roman" panose="02020603050405020304" pitchFamily="18" charset="0"/>
              <a:ea typeface="Times New Roman" panose="02020603050405020304" pitchFamily="18" charset="0"/>
            </a:endParaRPr>
          </a:p>
          <a:p>
            <a:pPr marL="342900" lvl="0" indent="-342900">
              <a:buSzPts val="1200"/>
              <a:buFont typeface="Times New Roman" panose="02020603050405020304" pitchFamily="18" charset="0"/>
              <a:buAutoNum type="alphaLcParenR"/>
              <a:tabLst>
                <a:tab pos="1442085" algn="l"/>
                <a:tab pos="1442720" algn="l"/>
              </a:tabLst>
            </a:pPr>
            <a:r>
              <a:rPr lang="en-US" sz="2800" spc="-10" dirty="0">
                <a:effectLst/>
                <a:latin typeface="Times New Roman" panose="02020603050405020304" pitchFamily="18" charset="0"/>
                <a:ea typeface="Times New Roman" panose="02020603050405020304" pitchFamily="18" charset="0"/>
              </a:rPr>
              <a:t>Evaluating the effect of misstatements.</a:t>
            </a:r>
            <a:endParaRPr lang="en-US" sz="2800" spc="-10" dirty="0">
              <a:effectLst/>
              <a:latin typeface="Times New Roman" panose="02020603050405020304" pitchFamily="18" charset="0"/>
              <a:ea typeface="Times New Roman" panose="02020603050405020304" pitchFamily="18" charset="0"/>
            </a:endParaRPr>
          </a:p>
          <a:p>
            <a:r>
              <a:rPr lang="en-US" sz="2800" dirty="0">
                <a:effectLst/>
                <a:latin typeface="Times New Roman" panose="02020603050405020304" pitchFamily="18" charset="0"/>
                <a:ea typeface="Times New Roman" panose="02020603050405020304" pitchFamily="18" charset="0"/>
              </a:rPr>
              <a:t> </a:t>
            </a:r>
            <a:endParaRPr lang="en-US" sz="2800" dirty="0">
              <a:effectLst/>
              <a:latin typeface="Times New Roman" panose="02020603050405020304" pitchFamily="18" charset="0"/>
              <a:ea typeface="Times New Roman" panose="02020603050405020304" pitchFamily="18" charset="0"/>
            </a:endParaRPr>
          </a:p>
          <a:p>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800" b="1" dirty="0">
                <a:effectLst/>
                <a:latin typeface="Times New Roman" panose="02020603050405020304" pitchFamily="18" charset="0"/>
                <a:ea typeface="Times New Roman" panose="02020603050405020304" pitchFamily="18" charset="0"/>
              </a:rPr>
              <a:t>AUDIT RISKS AND MATERIALITY ASSESSMENT</a:t>
            </a:r>
            <a:endParaRPr lang="en-US" dirty="0"/>
          </a:p>
        </p:txBody>
      </p:sp>
      <p:sp>
        <p:nvSpPr>
          <p:cNvPr id="3" name="Content Placeholder 2"/>
          <p:cNvSpPr>
            <a:spLocks noGrp="1"/>
          </p:cNvSpPr>
          <p:nvPr>
            <p:ph idx="1"/>
          </p:nvPr>
        </p:nvSpPr>
        <p:spPr>
          <a:xfrm>
            <a:off x="145774" y="1845733"/>
            <a:ext cx="11900452" cy="4290023"/>
          </a:xfrm>
        </p:spPr>
        <p:txBody>
          <a:bodyPr/>
          <a:lstStyle/>
          <a:p>
            <a:r>
              <a:rPr lang="en-US" sz="2800" b="1" kern="0" spc="-5" dirty="0">
                <a:effectLst/>
                <a:latin typeface="Times New Roman" panose="02020603050405020304" pitchFamily="18" charset="0"/>
                <a:ea typeface="Times New Roman" panose="02020603050405020304" pitchFamily="18" charset="0"/>
              </a:rPr>
              <a:t>The Concept of Materiality cont’d</a:t>
            </a:r>
            <a:endParaRPr lang="en-US" sz="2800" b="1" kern="0" spc="-5" dirty="0">
              <a:effectLst/>
              <a:latin typeface="Times New Roman" panose="02020603050405020304" pitchFamily="18" charset="0"/>
              <a:ea typeface="Times New Roman" panose="02020603050405020304" pitchFamily="18" charset="0"/>
            </a:endParaRPr>
          </a:p>
          <a:p>
            <a:pPr marL="528320" algn="just"/>
            <a:r>
              <a:rPr lang="en-US" sz="2800" b="1" dirty="0">
                <a:solidFill>
                  <a:srgbClr val="FF0000"/>
                </a:solidFill>
                <a:effectLst/>
                <a:latin typeface="Times New Roman" panose="02020603050405020304" pitchFamily="18" charset="0"/>
                <a:ea typeface="Times New Roman" panose="02020603050405020304" pitchFamily="18" charset="0"/>
              </a:rPr>
              <a:t>Assessing the risk of material misstatement</a:t>
            </a:r>
            <a:endParaRPr lang="en-US" sz="2800" b="1" dirty="0">
              <a:solidFill>
                <a:srgbClr val="FF0000"/>
              </a:solidFill>
              <a:effectLst/>
              <a:latin typeface="Times New Roman" panose="02020603050405020304" pitchFamily="18" charset="0"/>
              <a:ea typeface="Times New Roman" panose="02020603050405020304" pitchFamily="18" charset="0"/>
            </a:endParaRPr>
          </a:p>
          <a:p>
            <a:pPr marL="528320" marR="1187450" algn="just">
              <a:spcAft>
                <a:spcPts val="0"/>
              </a:spcAft>
            </a:pPr>
            <a:r>
              <a:rPr lang="en-US" sz="2800" dirty="0">
                <a:effectLst/>
                <a:latin typeface="Times New Roman" panose="02020603050405020304" pitchFamily="18" charset="0"/>
                <a:ea typeface="Times New Roman" panose="02020603050405020304" pitchFamily="18" charset="0"/>
              </a:rPr>
              <a:t>Misstatement is the difference between the classification, disclosure, presentation and amount of a reported financial statement and the classification, disclosure, presentation and amount that is required in accordance with an applicable financial reporting framework.</a:t>
            </a:r>
            <a:endParaRPr lang="en-US" sz="2800" dirty="0">
              <a:effectLst/>
              <a:latin typeface="Times New Roman" panose="02020603050405020304" pitchFamily="18" charset="0"/>
              <a:ea typeface="Times New Roman" panose="02020603050405020304" pitchFamily="18" charset="0"/>
            </a:endParaRPr>
          </a:p>
          <a:p>
            <a:endParaRPr lang="en-US" sz="2800" b="1" kern="0" spc="-5" dirty="0">
              <a:effectLst/>
              <a:latin typeface="Times New Roman" panose="02020603050405020304" pitchFamily="18" charset="0"/>
              <a:ea typeface="Times New Roman" panose="02020603050405020304" pitchFamily="18" charset="0"/>
            </a:endParaRPr>
          </a:p>
          <a:p>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800" b="1" dirty="0">
                <a:effectLst/>
                <a:latin typeface="Times New Roman" panose="02020603050405020304" pitchFamily="18" charset="0"/>
                <a:ea typeface="Times New Roman" panose="02020603050405020304" pitchFamily="18" charset="0"/>
              </a:rPr>
              <a:t>AUDIT RISKS AND MATERIALITY ASSESSMENT</a:t>
            </a:r>
            <a:endParaRPr lang="en-US" dirty="0"/>
          </a:p>
        </p:txBody>
      </p:sp>
      <p:sp>
        <p:nvSpPr>
          <p:cNvPr id="3" name="Content Placeholder 2"/>
          <p:cNvSpPr>
            <a:spLocks noGrp="1"/>
          </p:cNvSpPr>
          <p:nvPr>
            <p:ph idx="1"/>
          </p:nvPr>
        </p:nvSpPr>
        <p:spPr>
          <a:xfrm>
            <a:off x="0" y="1845734"/>
            <a:ext cx="12192000" cy="4382788"/>
          </a:xfrm>
        </p:spPr>
        <p:txBody>
          <a:bodyPr/>
          <a:lstStyle/>
          <a:p>
            <a:pPr marL="436880" marR="1186180" indent="0" algn="just">
              <a:spcAft>
                <a:spcPts val="0"/>
              </a:spcAft>
              <a:buNone/>
            </a:pPr>
            <a:r>
              <a:rPr lang="en-US" sz="2800" b="1" dirty="0">
                <a:solidFill>
                  <a:srgbClr val="FF0000"/>
                </a:solidFill>
                <a:effectLst/>
                <a:latin typeface="Times New Roman" panose="02020603050405020304" pitchFamily="18" charset="0"/>
                <a:ea typeface="Times New Roman" panose="02020603050405020304" pitchFamily="18" charset="0"/>
              </a:rPr>
              <a:t>Assessing the risk of material misstatement cont’d</a:t>
            </a:r>
            <a:endParaRPr lang="en-US" sz="2800" b="1" dirty="0">
              <a:solidFill>
                <a:srgbClr val="FF0000"/>
              </a:solidFill>
              <a:effectLst/>
              <a:latin typeface="Times New Roman" panose="02020603050405020304" pitchFamily="18" charset="0"/>
              <a:ea typeface="Times New Roman" panose="02020603050405020304" pitchFamily="18" charset="0"/>
            </a:endParaRPr>
          </a:p>
          <a:p>
            <a:pPr marL="436880" marR="1186180" indent="0" algn="just">
              <a:spcAft>
                <a:spcPts val="0"/>
              </a:spcAft>
              <a:buNone/>
            </a:pPr>
            <a:r>
              <a:rPr lang="en-US" sz="2800" dirty="0">
                <a:effectLst/>
                <a:latin typeface="Times New Roman" panose="02020603050405020304" pitchFamily="18" charset="0"/>
                <a:ea typeface="Times New Roman" panose="02020603050405020304" pitchFamily="18" charset="0"/>
              </a:rPr>
              <a:t>An item is material if its omission, inclusion or misstatement will affect the decision of users of the financial statement.</a:t>
            </a:r>
            <a:endParaRPr lang="en-US" sz="2800" dirty="0">
              <a:effectLst/>
              <a:latin typeface="Times New Roman" panose="02020603050405020304" pitchFamily="18" charset="0"/>
              <a:ea typeface="Times New Roman" panose="02020603050405020304" pitchFamily="18" charset="0"/>
            </a:endParaRPr>
          </a:p>
          <a:p>
            <a:pPr marL="528320" algn="just">
              <a:lnSpc>
                <a:spcPts val="1380"/>
              </a:lnSpc>
            </a:pPr>
            <a:r>
              <a:rPr lang="en-US" sz="2800" dirty="0">
                <a:effectLst/>
                <a:latin typeface="Times New Roman" panose="02020603050405020304" pitchFamily="18" charset="0"/>
                <a:ea typeface="Times New Roman" panose="02020603050405020304" pitchFamily="18" charset="0"/>
              </a:rPr>
              <a:t>In conducting assessment of risk, auditors will be able to:</a:t>
            </a:r>
            <a:endParaRPr lang="en-US" sz="2800" dirty="0">
              <a:effectLst/>
              <a:latin typeface="Times New Roman" panose="02020603050405020304" pitchFamily="18" charset="0"/>
              <a:ea typeface="Times New Roman" panose="02020603050405020304" pitchFamily="18" charset="0"/>
            </a:endParaRPr>
          </a:p>
          <a:p>
            <a:pPr marL="342900" marR="1187450" lvl="0" indent="-342900">
              <a:spcAft>
                <a:spcPts val="0"/>
              </a:spcAft>
              <a:buSzPts val="1200"/>
              <a:buFont typeface="Symbol" panose="05050102010706020507" pitchFamily="18" charset="2"/>
              <a:buChar char=""/>
              <a:tabLst>
                <a:tab pos="1022985" algn="l"/>
                <a:tab pos="102362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Identify areas of financial statements where misstatements are likely to occur early in the</a:t>
            </a:r>
            <a:r>
              <a:rPr lang="en-US" sz="2800" spc="-15" dirty="0">
                <a:effectLst/>
                <a:latin typeface="Times New Roman" panose="02020603050405020304" pitchFamily="18" charset="0"/>
                <a:ea typeface="Symbol" panose="05050102010706020507" pitchFamily="18" charset="2"/>
                <a:cs typeface="Symbol" panose="05050102010706020507" pitchFamily="18" charset="2"/>
              </a:rPr>
              <a:t> </a:t>
            </a:r>
            <a:r>
              <a:rPr lang="en-US" sz="2800" dirty="0">
                <a:effectLst/>
                <a:latin typeface="Times New Roman" panose="02020603050405020304" pitchFamily="18" charset="0"/>
                <a:ea typeface="Symbol" panose="05050102010706020507" pitchFamily="18" charset="2"/>
                <a:cs typeface="Symbol" panose="05050102010706020507" pitchFamily="18" charset="2"/>
              </a:rPr>
              <a:t>audit.</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lnSpc>
                <a:spcPts val="1465"/>
              </a:lnSpc>
              <a:buSzPts val="1200"/>
              <a:buFont typeface="Symbol" panose="05050102010706020507" pitchFamily="18" charset="2"/>
              <a:buChar char=""/>
              <a:tabLst>
                <a:tab pos="1022985" algn="l"/>
                <a:tab pos="102362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Plan procedures that address the significant risk areas</a:t>
            </a:r>
            <a:r>
              <a:rPr lang="en-US" sz="2800" spc="-20" dirty="0">
                <a:effectLst/>
                <a:latin typeface="Times New Roman" panose="02020603050405020304" pitchFamily="18" charset="0"/>
                <a:ea typeface="Symbol" panose="05050102010706020507" pitchFamily="18" charset="2"/>
                <a:cs typeface="Symbol" panose="05050102010706020507" pitchFamily="18" charset="2"/>
              </a:rPr>
              <a:t> </a:t>
            </a:r>
            <a:r>
              <a:rPr lang="en-US" sz="2800" dirty="0">
                <a:effectLst/>
                <a:latin typeface="Times New Roman" panose="02020603050405020304" pitchFamily="18" charset="0"/>
                <a:ea typeface="Symbol" panose="05050102010706020507" pitchFamily="18" charset="2"/>
                <a:cs typeface="Symbol" panose="05050102010706020507" pitchFamily="18" charset="2"/>
              </a:rPr>
              <a:t>identified.</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lnSpc>
                <a:spcPts val="1465"/>
              </a:lnSpc>
              <a:buSzPts val="1200"/>
              <a:buFont typeface="Symbol" panose="05050102010706020507" pitchFamily="18" charset="2"/>
              <a:buChar char=""/>
              <a:tabLst>
                <a:tab pos="1022985" algn="l"/>
                <a:tab pos="102362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Carry out an efficient, focused and effective</a:t>
            </a:r>
            <a:r>
              <a:rPr lang="en-US" sz="2800" spc="-25" dirty="0">
                <a:effectLst/>
                <a:latin typeface="Times New Roman" panose="02020603050405020304" pitchFamily="18" charset="0"/>
                <a:ea typeface="Symbol" panose="05050102010706020507" pitchFamily="18" charset="2"/>
                <a:cs typeface="Symbol" panose="05050102010706020507" pitchFamily="18" charset="2"/>
              </a:rPr>
              <a:t> </a:t>
            </a:r>
            <a:r>
              <a:rPr lang="en-US" sz="2800" dirty="0">
                <a:effectLst/>
                <a:latin typeface="Times New Roman" panose="02020603050405020304" pitchFamily="18" charset="0"/>
                <a:ea typeface="Symbol" panose="05050102010706020507" pitchFamily="18" charset="2"/>
                <a:cs typeface="Symbol" panose="05050102010706020507" pitchFamily="18" charset="2"/>
              </a:rPr>
              <a:t>audit.</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lnSpc>
                <a:spcPts val="1465"/>
              </a:lnSpc>
              <a:buSzPts val="1200"/>
              <a:buFont typeface="Symbol" panose="05050102010706020507" pitchFamily="18" charset="2"/>
              <a:buChar char=""/>
              <a:tabLst>
                <a:tab pos="1022985" algn="l"/>
                <a:tab pos="1023620" algn="l"/>
              </a:tabLst>
            </a:pPr>
            <a:r>
              <a:rPr lang="en-US" sz="2800" dirty="0">
                <a:effectLst/>
                <a:latin typeface="Times New Roman" panose="02020603050405020304" pitchFamily="18" charset="0"/>
                <a:ea typeface="Symbol" panose="05050102010706020507" pitchFamily="18" charset="2"/>
                <a:cs typeface="Symbol" panose="05050102010706020507" pitchFamily="18" charset="2"/>
              </a:rPr>
              <a:t>Minimize risk of issuing inappropriate</a:t>
            </a:r>
            <a:r>
              <a:rPr lang="en-US" sz="2800" spc="-20" dirty="0">
                <a:effectLst/>
                <a:latin typeface="Times New Roman" panose="02020603050405020304" pitchFamily="18" charset="0"/>
                <a:ea typeface="Symbol" panose="05050102010706020507" pitchFamily="18" charset="2"/>
                <a:cs typeface="Symbol" panose="05050102010706020507" pitchFamily="18" charset="2"/>
              </a:rPr>
              <a:t> </a:t>
            </a:r>
            <a:r>
              <a:rPr lang="en-US" sz="2800" dirty="0">
                <a:effectLst/>
                <a:latin typeface="Times New Roman" panose="02020603050405020304" pitchFamily="18" charset="0"/>
                <a:ea typeface="Symbol" panose="05050102010706020507" pitchFamily="18" charset="2"/>
                <a:cs typeface="Symbol" panose="05050102010706020507" pitchFamily="18" charset="2"/>
              </a:rPr>
              <a:t>opinion.</a:t>
            </a:r>
            <a:endParaRPr lang="en-US" sz="2800" dirty="0">
              <a:effectLst/>
              <a:latin typeface="Times New Roman" panose="02020603050405020304" pitchFamily="18" charset="0"/>
              <a:ea typeface="Symbol" panose="05050102010706020507" pitchFamily="18" charset="2"/>
              <a:cs typeface="Symbol" panose="05050102010706020507" pitchFamily="18" charset="2"/>
            </a:endParaRPr>
          </a:p>
          <a:p>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5531" y="1122363"/>
            <a:ext cx="11807686" cy="2387600"/>
          </a:xfrm>
        </p:spPr>
        <p:txBody>
          <a:bodyPr/>
          <a:lstStyle/>
          <a:p>
            <a:r>
              <a:rPr lang="en-US" sz="6600" b="1" dirty="0"/>
              <a:t>AUDIT DOCUMENTATION</a:t>
            </a:r>
            <a:br>
              <a:rPr lang="en-US" sz="6600" b="1" dirty="0"/>
            </a:br>
            <a:endParaRPr lang="en-US" sz="6600" b="1" dirty="0"/>
          </a:p>
        </p:txBody>
      </p:sp>
      <p:sp>
        <p:nvSpPr>
          <p:cNvPr id="3" name="Subtitle 2"/>
          <p:cNvSpPr>
            <a:spLocks noGrp="1"/>
          </p:cNvSpPr>
          <p:nvPr>
            <p:ph type="subTitle" idx="1"/>
          </p:nvPr>
        </p:nvSpPr>
        <p:spPr/>
        <p:txBody>
          <a:bodyPr>
            <a:normAutofit/>
          </a:bodyPr>
          <a:lstStyle/>
          <a:p>
            <a:endParaRPr lang="en-US" sz="4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800" b="1" kern="0" spc="-5" dirty="0">
                <a:effectLst/>
                <a:latin typeface="Times New Roman" panose="02020603050405020304" pitchFamily="18" charset="0"/>
                <a:ea typeface="Times New Roman" panose="02020603050405020304" pitchFamily="18" charset="0"/>
              </a:rPr>
              <a:t>Audit documentation</a:t>
            </a:r>
            <a:br>
              <a:rPr lang="en-US" sz="1800" b="1" kern="0" spc="-5" dirty="0">
                <a:effectLst/>
                <a:latin typeface="Times New Roman" panose="02020603050405020304" pitchFamily="18" charset="0"/>
                <a:ea typeface="Times New Roman" panose="02020603050405020304" pitchFamily="18" charset="0"/>
              </a:rPr>
            </a:br>
            <a:endParaRPr lang="en-US" dirty="0"/>
          </a:p>
        </p:txBody>
      </p:sp>
      <p:sp>
        <p:nvSpPr>
          <p:cNvPr id="3" name="Content Placeholder 2"/>
          <p:cNvSpPr>
            <a:spLocks noGrp="1"/>
          </p:cNvSpPr>
          <p:nvPr>
            <p:ph idx="1"/>
          </p:nvPr>
        </p:nvSpPr>
        <p:spPr>
          <a:xfrm>
            <a:off x="291549" y="1825625"/>
            <a:ext cx="11688416" cy="4351338"/>
          </a:xfrm>
        </p:spPr>
        <p:txBody>
          <a:bodyPr/>
          <a:lstStyle/>
          <a:p>
            <a:r>
              <a:rPr lang="en-US" sz="3200" dirty="0">
                <a:effectLst/>
                <a:latin typeface="Times New Roman" panose="02020603050405020304" pitchFamily="18" charset="0"/>
                <a:ea typeface="Times New Roman" panose="02020603050405020304" pitchFamily="18" charset="0"/>
              </a:rPr>
              <a:t>The auditors should document matters which are important in providing evidence to support the audit opinion and evidence that the audit was carried out in accordance with acceptable standards.</a:t>
            </a:r>
            <a:endParaRPr lang="en-US" sz="32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sz="3200" dirty="0">
              <a:effectLst/>
              <a:latin typeface="Times New Roman" panose="02020603050405020304" pitchFamily="18" charset="0"/>
              <a:ea typeface="Times New Roman" panose="02020603050405020304" pitchFamily="18" charset="0"/>
            </a:endParaRPr>
          </a:p>
          <a:p>
            <a:r>
              <a:rPr lang="en-US" sz="3200" dirty="0">
                <a:effectLst/>
                <a:latin typeface="Times New Roman" panose="02020603050405020304" pitchFamily="18" charset="0"/>
                <a:ea typeface="Times New Roman" panose="02020603050405020304" pitchFamily="18" charset="0"/>
              </a:rPr>
              <a:t>Audit documentation is the record of </a:t>
            </a:r>
            <a:r>
              <a:rPr lang="en-US" sz="3200" dirty="0">
                <a:solidFill>
                  <a:srgbClr val="FF0000"/>
                </a:solidFill>
                <a:effectLst/>
                <a:latin typeface="Times New Roman" panose="02020603050405020304" pitchFamily="18" charset="0"/>
                <a:ea typeface="Times New Roman" panose="02020603050405020304" pitchFamily="18" charset="0"/>
              </a:rPr>
              <a:t>audit procedures performed</a:t>
            </a:r>
            <a:r>
              <a:rPr lang="en-US" sz="3200" dirty="0">
                <a:effectLst/>
                <a:latin typeface="Times New Roman" panose="02020603050405020304" pitchFamily="18" charset="0"/>
                <a:ea typeface="Times New Roman" panose="02020603050405020304" pitchFamily="18" charset="0"/>
              </a:rPr>
              <a:t>, </a:t>
            </a:r>
            <a:r>
              <a:rPr lang="en-US" sz="3200" dirty="0">
                <a:solidFill>
                  <a:srgbClr val="FF0000"/>
                </a:solidFill>
                <a:effectLst/>
                <a:latin typeface="Times New Roman" panose="02020603050405020304" pitchFamily="18" charset="0"/>
                <a:ea typeface="Times New Roman" panose="02020603050405020304" pitchFamily="18" charset="0"/>
              </a:rPr>
              <a:t>relevant audit evidence obtained</a:t>
            </a:r>
            <a:r>
              <a:rPr lang="en-US" sz="3200" dirty="0">
                <a:effectLst/>
                <a:latin typeface="Times New Roman" panose="02020603050405020304" pitchFamily="18" charset="0"/>
                <a:ea typeface="Times New Roman" panose="02020603050405020304" pitchFamily="18" charset="0"/>
              </a:rPr>
              <a:t>, and </a:t>
            </a:r>
            <a:r>
              <a:rPr lang="en-US" sz="3200" dirty="0">
                <a:solidFill>
                  <a:srgbClr val="FF0000"/>
                </a:solidFill>
                <a:effectLst/>
                <a:latin typeface="Times New Roman" panose="02020603050405020304" pitchFamily="18" charset="0"/>
                <a:ea typeface="Times New Roman" panose="02020603050405020304" pitchFamily="18" charset="0"/>
              </a:rPr>
              <a:t>conclusions the auditor reached.</a:t>
            </a:r>
            <a:endParaRPr lang="en-US" sz="3200" dirty="0">
              <a:solidFill>
                <a:srgbClr val="FF0000"/>
              </a:solidFill>
              <a:effectLst/>
              <a:latin typeface="Times New Roman" panose="02020603050405020304" pitchFamily="18" charset="0"/>
              <a:ea typeface="Times New Roman" panose="02020603050405020304" pitchFamily="18" charset="0"/>
            </a:endParaRPr>
          </a:p>
          <a:p>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400" b="1" kern="0" spc="-5" dirty="0">
                <a:effectLst/>
                <a:latin typeface="Times New Roman" panose="02020603050405020304" pitchFamily="18" charset="0"/>
                <a:ea typeface="Times New Roman" panose="02020603050405020304" pitchFamily="18" charset="0"/>
              </a:rPr>
              <a:t>Audit documentation cont’d</a:t>
            </a:r>
            <a:endParaRPr lang="en-US" dirty="0"/>
          </a:p>
        </p:txBody>
      </p:sp>
      <p:sp>
        <p:nvSpPr>
          <p:cNvPr id="3" name="Content Placeholder 2"/>
          <p:cNvSpPr>
            <a:spLocks noGrp="1"/>
          </p:cNvSpPr>
          <p:nvPr>
            <p:ph idx="1"/>
          </p:nvPr>
        </p:nvSpPr>
        <p:spPr>
          <a:xfrm>
            <a:off x="318053" y="1825625"/>
            <a:ext cx="11661912" cy="4667250"/>
          </a:xfrm>
        </p:spPr>
        <p:txBody>
          <a:bodyPr>
            <a:normAutofit/>
          </a:bodyPr>
          <a:lstStyle/>
          <a:p>
            <a:pPr marL="527685" marR="1188085" algn="just">
              <a:spcAft>
                <a:spcPts val="0"/>
              </a:spcAft>
            </a:pPr>
            <a:r>
              <a:rPr lang="en-US" sz="3200" dirty="0">
                <a:effectLst/>
                <a:latin typeface="Times New Roman" panose="02020603050405020304" pitchFamily="18" charset="0"/>
                <a:ea typeface="Times New Roman" panose="02020603050405020304" pitchFamily="18" charset="0"/>
              </a:rPr>
              <a:t>Documentation should be sufficient to enable and experienced auditor, with no previous connection to the audit, to understand:</a:t>
            </a:r>
            <a:endParaRPr lang="en-US" sz="3200" dirty="0">
              <a:effectLst/>
              <a:latin typeface="Times New Roman" panose="02020603050405020304" pitchFamily="18" charset="0"/>
              <a:ea typeface="Times New Roman" panose="02020603050405020304" pitchFamily="18" charset="0"/>
            </a:endParaRPr>
          </a:p>
          <a:p>
            <a:pPr marL="1143000" lvl="2" indent="-228600" algn="just">
              <a:lnSpc>
                <a:spcPts val="1470"/>
              </a:lnSpc>
              <a:buSzPts val="1200"/>
              <a:buFont typeface="Symbol" panose="05050102010706020507" pitchFamily="18" charset="2"/>
              <a:buChar char=""/>
              <a:tabLst>
                <a:tab pos="1214120" algn="l"/>
              </a:tabLst>
            </a:pPr>
            <a:endParaRPr lang="en-US" sz="3200" dirty="0">
              <a:effectLst/>
              <a:latin typeface="Times New Roman" panose="02020603050405020304" pitchFamily="18" charset="0"/>
              <a:ea typeface="Symbol" panose="05050102010706020507" pitchFamily="18" charset="2"/>
              <a:cs typeface="Symbol" panose="05050102010706020507" pitchFamily="18" charset="2"/>
            </a:endParaRPr>
          </a:p>
          <a:p>
            <a:pPr marL="1143000" lvl="2" indent="-228600" algn="just">
              <a:lnSpc>
                <a:spcPts val="1470"/>
              </a:lnSpc>
              <a:buSzPts val="1200"/>
              <a:buFont typeface="Symbol" panose="05050102010706020507" pitchFamily="18" charset="2"/>
              <a:buChar char=""/>
              <a:tabLst>
                <a:tab pos="1214120" algn="l"/>
              </a:tabLst>
            </a:pPr>
            <a:r>
              <a:rPr lang="en-US" sz="3200" dirty="0">
                <a:effectLst/>
                <a:latin typeface="Times New Roman" panose="02020603050405020304" pitchFamily="18" charset="0"/>
                <a:ea typeface="Symbol" panose="05050102010706020507" pitchFamily="18" charset="2"/>
                <a:cs typeface="Symbol" panose="05050102010706020507" pitchFamily="18" charset="2"/>
              </a:rPr>
              <a:t>The nature, timing and extent of the</a:t>
            </a:r>
            <a:r>
              <a:rPr lang="en-US" sz="3200" spc="-30" dirty="0">
                <a:effectLst/>
                <a:latin typeface="Times New Roman" panose="02020603050405020304" pitchFamily="18" charset="0"/>
                <a:ea typeface="Symbol" panose="05050102010706020507" pitchFamily="18" charset="2"/>
                <a:cs typeface="Symbol" panose="05050102010706020507" pitchFamily="18" charset="2"/>
              </a:rPr>
              <a:t> </a:t>
            </a:r>
            <a:r>
              <a:rPr lang="en-US" sz="3200" dirty="0">
                <a:effectLst/>
                <a:latin typeface="Times New Roman" panose="02020603050405020304" pitchFamily="18" charset="0"/>
                <a:ea typeface="Symbol" panose="05050102010706020507" pitchFamily="18" charset="2"/>
                <a:cs typeface="Symbol" panose="05050102010706020507" pitchFamily="18" charset="2"/>
              </a:rPr>
              <a:t>audit.</a:t>
            </a:r>
            <a:endParaRPr lang="en-US" sz="3200" dirty="0">
              <a:effectLst/>
              <a:latin typeface="Times New Roman" panose="02020603050405020304" pitchFamily="18" charset="0"/>
              <a:ea typeface="Symbol" panose="05050102010706020507" pitchFamily="18" charset="2"/>
              <a:cs typeface="Symbol" panose="05050102010706020507" pitchFamily="18" charset="2"/>
            </a:endParaRPr>
          </a:p>
          <a:p>
            <a:pPr marL="1143000" lvl="2" indent="-228600" algn="just">
              <a:lnSpc>
                <a:spcPts val="1465"/>
              </a:lnSpc>
              <a:buSzPts val="1200"/>
              <a:buFont typeface="Symbol" panose="05050102010706020507" pitchFamily="18" charset="2"/>
              <a:buChar char=""/>
              <a:tabLst>
                <a:tab pos="1214120" algn="l"/>
              </a:tabLst>
            </a:pPr>
            <a:endParaRPr lang="en-US" sz="3200" dirty="0">
              <a:effectLst/>
              <a:latin typeface="Times New Roman" panose="02020603050405020304" pitchFamily="18" charset="0"/>
              <a:ea typeface="Symbol" panose="05050102010706020507" pitchFamily="18" charset="2"/>
              <a:cs typeface="Symbol" panose="05050102010706020507" pitchFamily="18" charset="2"/>
            </a:endParaRPr>
          </a:p>
          <a:p>
            <a:pPr marL="1143000" lvl="2" indent="-228600" algn="just">
              <a:lnSpc>
                <a:spcPts val="1465"/>
              </a:lnSpc>
              <a:buSzPts val="1200"/>
              <a:buFont typeface="Symbol" panose="05050102010706020507" pitchFamily="18" charset="2"/>
              <a:buChar char=""/>
              <a:tabLst>
                <a:tab pos="1214120" algn="l"/>
              </a:tabLst>
            </a:pPr>
            <a:r>
              <a:rPr lang="en-US" sz="3200" dirty="0">
                <a:effectLst/>
                <a:latin typeface="Times New Roman" panose="02020603050405020304" pitchFamily="18" charset="0"/>
                <a:ea typeface="Symbol" panose="05050102010706020507" pitchFamily="18" charset="2"/>
                <a:cs typeface="Symbol" panose="05050102010706020507" pitchFamily="18" charset="2"/>
              </a:rPr>
              <a:t>The results of procedures performed and evidence</a:t>
            </a:r>
            <a:r>
              <a:rPr lang="en-US" sz="3200" spc="-30" dirty="0">
                <a:effectLst/>
                <a:latin typeface="Times New Roman" panose="02020603050405020304" pitchFamily="18" charset="0"/>
                <a:ea typeface="Symbol" panose="05050102010706020507" pitchFamily="18" charset="2"/>
                <a:cs typeface="Symbol" panose="05050102010706020507" pitchFamily="18" charset="2"/>
              </a:rPr>
              <a:t> </a:t>
            </a:r>
            <a:r>
              <a:rPr lang="en-US" sz="3200" dirty="0">
                <a:effectLst/>
                <a:latin typeface="Times New Roman" panose="02020603050405020304" pitchFamily="18" charset="0"/>
                <a:ea typeface="Symbol" panose="05050102010706020507" pitchFamily="18" charset="2"/>
                <a:cs typeface="Symbol" panose="05050102010706020507" pitchFamily="18" charset="2"/>
              </a:rPr>
              <a:t>obtained.</a:t>
            </a:r>
            <a:endParaRPr lang="en-US" sz="3200" dirty="0">
              <a:effectLst/>
              <a:latin typeface="Times New Roman" panose="02020603050405020304" pitchFamily="18" charset="0"/>
              <a:ea typeface="Symbol" panose="05050102010706020507" pitchFamily="18" charset="2"/>
              <a:cs typeface="Symbol" panose="05050102010706020507" pitchFamily="18" charset="2"/>
            </a:endParaRPr>
          </a:p>
          <a:p>
            <a:pPr marL="1143000" marR="1186815" lvl="2" indent="-228600" algn="just">
              <a:spcAft>
                <a:spcPts val="0"/>
              </a:spcAft>
              <a:buSzPts val="1200"/>
              <a:buFont typeface="Symbol" panose="05050102010706020507" pitchFamily="18" charset="2"/>
              <a:buChar char=""/>
              <a:tabLst>
                <a:tab pos="1214120" algn="l"/>
              </a:tabLst>
            </a:pPr>
            <a:r>
              <a:rPr lang="en-US" sz="3200" dirty="0">
                <a:effectLst/>
                <a:latin typeface="Times New Roman" panose="02020603050405020304" pitchFamily="18" charset="0"/>
                <a:ea typeface="Symbol" panose="05050102010706020507" pitchFamily="18" charset="2"/>
                <a:cs typeface="Symbol" panose="05050102010706020507" pitchFamily="18" charset="2"/>
              </a:rPr>
              <a:t>The significant matters arising during the course of the audit and the conclusions reached thereon and significant personal judgements made in reaching those</a:t>
            </a:r>
            <a:r>
              <a:rPr lang="en-US" sz="3200" spc="-5" dirty="0">
                <a:effectLst/>
                <a:latin typeface="Times New Roman" panose="02020603050405020304" pitchFamily="18" charset="0"/>
                <a:ea typeface="Symbol" panose="05050102010706020507" pitchFamily="18" charset="2"/>
                <a:cs typeface="Symbol" panose="05050102010706020507" pitchFamily="18" charset="2"/>
              </a:rPr>
              <a:t> </a:t>
            </a:r>
            <a:r>
              <a:rPr lang="en-US" sz="3200" dirty="0">
                <a:effectLst/>
                <a:latin typeface="Times New Roman" panose="02020603050405020304" pitchFamily="18" charset="0"/>
                <a:ea typeface="Symbol" panose="05050102010706020507" pitchFamily="18" charset="2"/>
                <a:cs typeface="Symbol" panose="05050102010706020507" pitchFamily="18" charset="2"/>
              </a:rPr>
              <a:t>conclusions.</a:t>
            </a:r>
            <a:endParaRPr lang="en-US" sz="3200" dirty="0">
              <a:effectLst/>
              <a:latin typeface="Times New Roman" panose="02020603050405020304" pitchFamily="18" charset="0"/>
              <a:ea typeface="Symbol" panose="05050102010706020507" pitchFamily="18" charset="2"/>
              <a:cs typeface="Symbol" panose="05050102010706020507" pitchFamily="18" charset="2"/>
            </a:endParaRPr>
          </a:p>
          <a:p>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400" b="1" kern="0" spc="-5" dirty="0">
                <a:effectLst/>
                <a:latin typeface="Times New Roman" panose="02020603050405020304" pitchFamily="18" charset="0"/>
                <a:ea typeface="Times New Roman" panose="02020603050405020304" pitchFamily="18" charset="0"/>
              </a:rPr>
              <a:t>Audit documentation cont’d</a:t>
            </a:r>
            <a:endParaRPr lang="en-US" dirty="0"/>
          </a:p>
        </p:txBody>
      </p:sp>
      <p:sp>
        <p:nvSpPr>
          <p:cNvPr id="3" name="Content Placeholder 2"/>
          <p:cNvSpPr>
            <a:spLocks noGrp="1"/>
          </p:cNvSpPr>
          <p:nvPr>
            <p:ph idx="1"/>
          </p:nvPr>
        </p:nvSpPr>
        <p:spPr>
          <a:xfrm>
            <a:off x="304800" y="1825625"/>
            <a:ext cx="11741426" cy="4351338"/>
          </a:xfrm>
        </p:spPr>
        <p:txBody>
          <a:bodyPr/>
          <a:lstStyle/>
          <a:p>
            <a:pPr marL="528320" marR="1187450" algn="just">
              <a:spcAft>
                <a:spcPts val="0"/>
              </a:spcAft>
            </a:pPr>
            <a:r>
              <a:rPr lang="en-US" sz="3200" dirty="0">
                <a:effectLst/>
                <a:latin typeface="Times New Roman" panose="02020603050405020304" pitchFamily="18" charset="0"/>
                <a:ea typeface="Times New Roman" panose="02020603050405020304" pitchFamily="18" charset="0"/>
              </a:rPr>
              <a:t>Documentation is kept in an audit file which should be made available in a timely fashion after the date of the audit report (normally not more than 60 days) and retained for the period required my national regulatory requirements. (Usually 5 years after audit).</a:t>
            </a:r>
            <a:endParaRPr lang="en-US" sz="3200" dirty="0">
              <a:effectLst/>
              <a:latin typeface="Times New Roman" panose="02020603050405020304" pitchFamily="18" charset="0"/>
              <a:ea typeface="Times New Roman" panose="02020603050405020304" pitchFamily="18" charset="0"/>
            </a:endParaRPr>
          </a:p>
          <a:p>
            <a:pPr>
              <a:spcBef>
                <a:spcPts val="45"/>
              </a:spcBef>
            </a:pPr>
            <a:r>
              <a:rPr lang="en-US" sz="3200" dirty="0">
                <a:effectLst/>
                <a:latin typeface="Times New Roman" panose="02020603050405020304" pitchFamily="18" charset="0"/>
                <a:ea typeface="Times New Roman" panose="02020603050405020304" pitchFamily="18" charset="0"/>
              </a:rPr>
              <a:t> </a:t>
            </a:r>
            <a:endParaRPr lang="en-US" sz="3200" dirty="0">
              <a:effectLst/>
              <a:latin typeface="Times New Roman" panose="02020603050405020304" pitchFamily="18" charset="0"/>
              <a:ea typeface="Times New Roman" panose="02020603050405020304" pitchFamily="18" charset="0"/>
            </a:endParaRPr>
          </a:p>
          <a:p>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400" b="1" kern="0" spc="-5" dirty="0">
                <a:effectLst/>
                <a:latin typeface="Times New Roman" panose="02020603050405020304" pitchFamily="18" charset="0"/>
                <a:ea typeface="Times New Roman" panose="02020603050405020304" pitchFamily="18" charset="0"/>
              </a:rPr>
              <a:t>Audit documentation cont’d</a:t>
            </a:r>
            <a:endParaRPr lang="en-US" dirty="0"/>
          </a:p>
        </p:txBody>
      </p:sp>
      <p:sp>
        <p:nvSpPr>
          <p:cNvPr id="3" name="Content Placeholder 2"/>
          <p:cNvSpPr>
            <a:spLocks noGrp="1"/>
          </p:cNvSpPr>
          <p:nvPr>
            <p:ph idx="1"/>
          </p:nvPr>
        </p:nvSpPr>
        <p:spPr>
          <a:xfrm>
            <a:off x="265043" y="1825625"/>
            <a:ext cx="11516139" cy="4351338"/>
          </a:xfrm>
        </p:spPr>
        <p:txBody>
          <a:bodyPr>
            <a:normAutofit/>
          </a:bodyPr>
          <a:lstStyle/>
          <a:p>
            <a:r>
              <a:rPr lang="en-US" sz="3200" dirty="0">
                <a:effectLst/>
                <a:latin typeface="Times New Roman" panose="02020603050405020304" pitchFamily="18" charset="0"/>
                <a:ea typeface="Times New Roman" panose="02020603050405020304" pitchFamily="18" charset="0"/>
              </a:rPr>
              <a:t>The auditor should document matters, which are important in providing evidence to support the audit opinion and evidence that the audit was carried out in accordance with acceptable standards</a:t>
            </a:r>
            <a:endParaRPr lang="en-US" sz="3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400" b="1" kern="0" spc="-5" dirty="0">
                <a:effectLst/>
                <a:latin typeface="Times New Roman" panose="02020603050405020304" pitchFamily="18" charset="0"/>
                <a:ea typeface="Times New Roman" panose="02020603050405020304" pitchFamily="18" charset="0"/>
              </a:rPr>
              <a:t>Audit documentation cont’d</a:t>
            </a:r>
            <a:endParaRPr lang="en-US" dirty="0"/>
          </a:p>
        </p:txBody>
      </p:sp>
      <p:sp>
        <p:nvSpPr>
          <p:cNvPr id="3" name="Content Placeholder 2"/>
          <p:cNvSpPr>
            <a:spLocks noGrp="1"/>
          </p:cNvSpPr>
          <p:nvPr>
            <p:ph idx="1"/>
          </p:nvPr>
        </p:nvSpPr>
        <p:spPr>
          <a:xfrm>
            <a:off x="397565" y="1825625"/>
            <a:ext cx="11542643" cy="4351338"/>
          </a:xfrm>
        </p:spPr>
        <p:txBody>
          <a:bodyPr/>
          <a:lstStyle/>
          <a:p>
            <a:pPr marL="299085" indent="0">
              <a:buNone/>
            </a:pPr>
            <a:r>
              <a:rPr lang="en-US" sz="3200" dirty="0">
                <a:solidFill>
                  <a:schemeClr val="accent5"/>
                </a:solidFill>
                <a:effectLst/>
                <a:latin typeface="Times New Roman" panose="02020603050405020304" pitchFamily="18" charset="0"/>
                <a:ea typeface="Times New Roman" panose="02020603050405020304" pitchFamily="18" charset="0"/>
              </a:rPr>
              <a:t>The auditor should prepare, on a timely basis, audit documentation that provides:</a:t>
            </a:r>
            <a:endParaRPr lang="en-US" sz="3200" dirty="0">
              <a:solidFill>
                <a:schemeClr val="accent5"/>
              </a:solidFill>
              <a:effectLst/>
              <a:latin typeface="Times New Roman" panose="02020603050405020304" pitchFamily="18" charset="0"/>
              <a:ea typeface="Times New Roman" panose="02020603050405020304" pitchFamily="18" charset="0"/>
            </a:endParaRPr>
          </a:p>
          <a:p>
            <a:pPr marL="342900" marR="1209675" lvl="0" indent="-342900">
              <a:spcAft>
                <a:spcPts val="0"/>
              </a:spcAft>
              <a:buSzPts val="1200"/>
              <a:buFont typeface="Times New Roman" panose="02020603050405020304" pitchFamily="18" charset="0"/>
              <a:buAutoNum type="alphaLcParenBoth"/>
              <a:tabLst>
                <a:tab pos="1442085" algn="l"/>
                <a:tab pos="1442720" algn="l"/>
              </a:tabLst>
            </a:pPr>
            <a:r>
              <a:rPr lang="en-US" sz="3200" spc="-10" dirty="0">
                <a:effectLst/>
                <a:latin typeface="Times New Roman" panose="02020603050405020304" pitchFamily="18" charset="0"/>
                <a:ea typeface="Times New Roman" panose="02020603050405020304" pitchFamily="18" charset="0"/>
              </a:rPr>
              <a:t>A sufficient and appropriate record of the basis for the auditor’s report; and</a:t>
            </a:r>
            <a:endParaRPr lang="en-US" sz="3200" spc="-10" dirty="0">
              <a:effectLst/>
              <a:latin typeface="Times New Roman" panose="02020603050405020304" pitchFamily="18" charset="0"/>
              <a:ea typeface="Times New Roman" panose="02020603050405020304" pitchFamily="18" charset="0"/>
            </a:endParaRPr>
          </a:p>
          <a:p>
            <a:pPr marL="342900" marR="1210310" lvl="0" indent="-342900">
              <a:spcAft>
                <a:spcPts val="0"/>
              </a:spcAft>
              <a:buSzPts val="1200"/>
              <a:buFont typeface="Times New Roman" panose="02020603050405020304" pitchFamily="18" charset="0"/>
              <a:buAutoNum type="alphaLcParenBoth"/>
              <a:tabLst>
                <a:tab pos="1442085" algn="l"/>
                <a:tab pos="1442720" algn="l"/>
              </a:tabLst>
            </a:pPr>
            <a:r>
              <a:rPr lang="en-US" sz="3200" spc="-10" dirty="0">
                <a:effectLst/>
                <a:latin typeface="Times New Roman" panose="02020603050405020304" pitchFamily="18" charset="0"/>
                <a:ea typeface="Times New Roman" panose="02020603050405020304" pitchFamily="18" charset="0"/>
              </a:rPr>
              <a:t>Evidence that the audit was performed in accordance with ISAs and applicable legal and regulatory requirements.</a:t>
            </a:r>
            <a:endParaRPr lang="en-US" sz="3200" spc="-10" dirty="0">
              <a:effectLst/>
              <a:latin typeface="Times New Roman" panose="02020603050405020304" pitchFamily="18" charset="0"/>
              <a:ea typeface="Times New Roman" panose="02020603050405020304" pitchFamily="18" charset="0"/>
            </a:endParaRPr>
          </a:p>
          <a:p>
            <a:pPr marL="0" indent="0">
              <a:buNone/>
            </a:pPr>
            <a:endParaRPr lang="en-US" sz="3200" dirty="0">
              <a:effectLst/>
              <a:latin typeface="Times New Roman" panose="02020603050405020304" pitchFamily="18" charset="0"/>
              <a:ea typeface="Times New Roman" panose="02020603050405020304" pitchFamily="18" charset="0"/>
            </a:endParaRPr>
          </a:p>
          <a:p>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4800" b="1" kern="0" spc="-5" dirty="0">
                <a:effectLst/>
                <a:latin typeface="Times New Roman" panose="02020603050405020304" pitchFamily="18" charset="0"/>
                <a:ea typeface="Times New Roman" panose="02020603050405020304" pitchFamily="18" charset="0"/>
              </a:rPr>
              <a:t>Nature of Audit Documentation</a:t>
            </a:r>
            <a:br>
              <a:rPr lang="en-US" sz="4800" b="1" kern="0" spc="-5" dirty="0">
                <a:effectLst/>
                <a:latin typeface="Times New Roman" panose="02020603050405020304" pitchFamily="18" charset="0"/>
                <a:ea typeface="Times New Roman" panose="02020603050405020304" pitchFamily="18" charset="0"/>
              </a:rPr>
            </a:br>
            <a:endParaRPr lang="en-US" sz="4800" dirty="0"/>
          </a:p>
        </p:txBody>
      </p:sp>
      <p:sp>
        <p:nvSpPr>
          <p:cNvPr id="3" name="Content Placeholder 2"/>
          <p:cNvSpPr>
            <a:spLocks noGrp="1"/>
          </p:cNvSpPr>
          <p:nvPr>
            <p:ph idx="1"/>
          </p:nvPr>
        </p:nvSpPr>
        <p:spPr>
          <a:xfrm>
            <a:off x="424071" y="1825625"/>
            <a:ext cx="11569146" cy="4351338"/>
          </a:xfrm>
        </p:spPr>
        <p:txBody>
          <a:bodyPr>
            <a:normAutofit/>
          </a:bodyPr>
          <a:lstStyle/>
          <a:p>
            <a:r>
              <a:rPr lang="en-US" sz="3200" dirty="0">
                <a:effectLst/>
                <a:latin typeface="Times New Roman" panose="02020603050405020304" pitchFamily="18" charset="0"/>
                <a:ea typeface="Times New Roman" panose="02020603050405020304" pitchFamily="18" charset="0"/>
              </a:rPr>
              <a:t>Audit documentation may be recorded on paper or on electronic or other media.</a:t>
            </a:r>
            <a:endParaRPr lang="en-US" sz="3200" dirty="0">
              <a:effectLst/>
              <a:latin typeface="Times New Roman" panose="02020603050405020304" pitchFamily="18" charset="0"/>
              <a:ea typeface="Times New Roman" panose="02020603050405020304" pitchFamily="18" charset="0"/>
            </a:endParaRPr>
          </a:p>
          <a:p>
            <a:r>
              <a:rPr lang="en-US" sz="3200" dirty="0">
                <a:effectLst/>
                <a:latin typeface="Times New Roman" panose="02020603050405020304" pitchFamily="18" charset="0"/>
                <a:ea typeface="Times New Roman" panose="02020603050405020304" pitchFamily="18" charset="0"/>
              </a:rPr>
              <a:t> It includes, for example, audit programs, analyses, issues memoranda, summaries of significant matters, letters of confirmation and representation, checklists, and correspondence (including e-mail) concerning significant matters</a:t>
            </a:r>
            <a:endParaRPr lang="en-US" sz="3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400" b="1" kern="0" spc="-5" dirty="0">
                <a:effectLst/>
                <a:latin typeface="Times New Roman" panose="02020603050405020304" pitchFamily="18" charset="0"/>
                <a:ea typeface="Times New Roman" panose="02020603050405020304" pitchFamily="18" charset="0"/>
              </a:rPr>
              <a:t>Nature of Audit Documentation</a:t>
            </a:r>
            <a:br>
              <a:rPr lang="en-US" sz="4400" b="1" kern="0" spc="-5" dirty="0">
                <a:effectLst/>
                <a:latin typeface="Times New Roman" panose="02020603050405020304" pitchFamily="18" charset="0"/>
                <a:ea typeface="Times New Roman" panose="02020603050405020304" pitchFamily="18" charset="0"/>
              </a:rPr>
            </a:br>
            <a:endParaRPr lang="en-US" dirty="0"/>
          </a:p>
        </p:txBody>
      </p:sp>
      <p:sp>
        <p:nvSpPr>
          <p:cNvPr id="3" name="Content Placeholder 2"/>
          <p:cNvSpPr>
            <a:spLocks noGrp="1"/>
          </p:cNvSpPr>
          <p:nvPr>
            <p:ph idx="1"/>
          </p:nvPr>
        </p:nvSpPr>
        <p:spPr/>
        <p:txBody>
          <a:bodyPr/>
          <a:lstStyle/>
          <a:p>
            <a:r>
              <a:rPr lang="en-US" sz="3200" dirty="0">
                <a:effectLst/>
                <a:latin typeface="Times New Roman" panose="02020603050405020304" pitchFamily="18" charset="0"/>
                <a:ea typeface="Times New Roman" panose="02020603050405020304" pitchFamily="18" charset="0"/>
              </a:rPr>
              <a:t>Audit documentation, however, is not a substitute for the entity’s accounting records. The audit documentation for a specific audit engagement is assembled in an audit</a:t>
            </a:r>
            <a:r>
              <a:rPr lang="en-US" sz="3200" spc="-80" dirty="0">
                <a:effectLst/>
                <a:latin typeface="Times New Roman" panose="02020603050405020304" pitchFamily="18" charset="0"/>
                <a:ea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rPr>
              <a:t>file.</a:t>
            </a:r>
            <a:endParaRPr lang="en-US" sz="3200" dirty="0">
              <a:effectLst/>
              <a:latin typeface="Times New Roman" panose="02020603050405020304" pitchFamily="18" charset="0"/>
              <a:ea typeface="Times New Roman" panose="02020603050405020304" pitchFamily="18" charset="0"/>
            </a:endParaRPr>
          </a:p>
          <a:p>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4800" b="1" kern="0" spc="-5" dirty="0">
                <a:effectLst/>
                <a:latin typeface="Times New Roman" panose="02020603050405020304" pitchFamily="18" charset="0"/>
                <a:ea typeface="Times New Roman" panose="02020603050405020304" pitchFamily="18" charset="0"/>
              </a:rPr>
              <a:t>Purposes of Audit Documentation</a:t>
            </a:r>
            <a:br>
              <a:rPr lang="en-US" sz="4800" b="1" kern="0" spc="-5" dirty="0">
                <a:effectLst/>
                <a:latin typeface="Times New Roman" panose="02020603050405020304" pitchFamily="18" charset="0"/>
                <a:ea typeface="Times New Roman" panose="02020603050405020304" pitchFamily="18" charset="0"/>
              </a:rPr>
            </a:br>
            <a:endParaRPr lang="en-US" sz="4800" dirty="0"/>
          </a:p>
        </p:txBody>
      </p:sp>
      <p:sp>
        <p:nvSpPr>
          <p:cNvPr id="3" name="Content Placeholder 2"/>
          <p:cNvSpPr>
            <a:spLocks noGrp="1"/>
          </p:cNvSpPr>
          <p:nvPr>
            <p:ph idx="1"/>
          </p:nvPr>
        </p:nvSpPr>
        <p:spPr>
          <a:xfrm>
            <a:off x="304801" y="1825625"/>
            <a:ext cx="11648660" cy="4351338"/>
          </a:xfrm>
        </p:spPr>
        <p:txBody>
          <a:bodyPr>
            <a:normAutofit/>
          </a:bodyPr>
          <a:lstStyle/>
          <a:p>
            <a:r>
              <a:rPr lang="en-US" sz="3200" dirty="0">
                <a:effectLst/>
                <a:latin typeface="Times New Roman" panose="02020603050405020304" pitchFamily="18" charset="0"/>
                <a:ea typeface="Times New Roman" panose="02020603050405020304" pitchFamily="18" charset="0"/>
              </a:rPr>
              <a:t>The main purpose of preparing sufficient and appropriate audit documentation on a timely basis helps to enhance the quality of the audit and facilitates the effective review and evaluation of the audit evidence obtained and conclusions reached before the auditor’s report is finalized.</a:t>
            </a:r>
            <a:endParaRPr lang="en-US" sz="3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b="1" kern="0" spc="-5" dirty="0">
                <a:effectLst/>
                <a:latin typeface="Times New Roman" panose="02020603050405020304" pitchFamily="18" charset="0"/>
                <a:ea typeface="Times New Roman" panose="02020603050405020304" pitchFamily="18" charset="0"/>
              </a:rPr>
              <a:t>Purposes of Audit Documentation cont’d</a:t>
            </a:r>
            <a:br>
              <a:rPr lang="en-US" sz="4400" b="1" kern="0" spc="-5" dirty="0">
                <a:effectLst/>
                <a:latin typeface="Times New Roman" panose="02020603050405020304" pitchFamily="18" charset="0"/>
                <a:ea typeface="Times New Roman" panose="02020603050405020304" pitchFamily="18" charset="0"/>
              </a:rPr>
            </a:br>
            <a:endParaRPr lang="en-US" dirty="0"/>
          </a:p>
        </p:txBody>
      </p:sp>
      <p:sp>
        <p:nvSpPr>
          <p:cNvPr id="3" name="Content Placeholder 2"/>
          <p:cNvSpPr>
            <a:spLocks noGrp="1"/>
          </p:cNvSpPr>
          <p:nvPr>
            <p:ph idx="1"/>
          </p:nvPr>
        </p:nvSpPr>
        <p:spPr>
          <a:xfrm>
            <a:off x="344557" y="1825625"/>
            <a:ext cx="11555895" cy="4351338"/>
          </a:xfrm>
        </p:spPr>
        <p:txBody>
          <a:bodyPr>
            <a:normAutofit/>
          </a:bodyPr>
          <a:lstStyle/>
          <a:p>
            <a:r>
              <a:rPr lang="en-US" sz="3200" dirty="0">
                <a:effectLst/>
                <a:latin typeface="Times New Roman" panose="02020603050405020304" pitchFamily="18" charset="0"/>
                <a:ea typeface="Times New Roman" panose="02020603050405020304" pitchFamily="18" charset="0"/>
              </a:rPr>
              <a:t>It is also prepared at the time the work is performed is likely to be more accurate than documentation prepared subsequently. </a:t>
            </a:r>
            <a:endParaRPr lang="en-US" sz="3200" dirty="0">
              <a:effectLst/>
              <a:latin typeface="Times New Roman" panose="02020603050405020304" pitchFamily="18" charset="0"/>
              <a:ea typeface="Times New Roman" panose="02020603050405020304" pitchFamily="18" charset="0"/>
            </a:endParaRPr>
          </a:p>
          <a:p>
            <a:endParaRPr lang="en-US" sz="3200" dirty="0">
              <a:latin typeface="Times New Roman" panose="02020603050405020304" pitchFamily="18" charset="0"/>
            </a:endParaRPr>
          </a:p>
          <a:p>
            <a:endParaRPr lang="en-US" sz="3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b="1" kern="0" spc="-5" dirty="0">
                <a:effectLst/>
                <a:latin typeface="Times New Roman" panose="02020603050405020304" pitchFamily="18" charset="0"/>
                <a:ea typeface="Times New Roman" panose="02020603050405020304" pitchFamily="18" charset="0"/>
              </a:rPr>
              <a:t>Purposes of Audit Documentation cont’d</a:t>
            </a:r>
            <a:br>
              <a:rPr lang="en-US" sz="4400" b="1" kern="0" spc="-5" dirty="0">
                <a:effectLst/>
                <a:latin typeface="Times New Roman" panose="02020603050405020304" pitchFamily="18" charset="0"/>
                <a:ea typeface="Times New Roman" panose="02020603050405020304" pitchFamily="18" charset="0"/>
              </a:rPr>
            </a:br>
            <a:endParaRPr lang="en-US" dirty="0"/>
          </a:p>
        </p:txBody>
      </p:sp>
      <p:sp>
        <p:nvSpPr>
          <p:cNvPr id="3" name="Content Placeholder 2"/>
          <p:cNvSpPr>
            <a:spLocks noGrp="1"/>
          </p:cNvSpPr>
          <p:nvPr>
            <p:ph idx="1"/>
          </p:nvPr>
        </p:nvSpPr>
        <p:spPr>
          <a:xfrm>
            <a:off x="251791" y="1825625"/>
            <a:ext cx="11661913" cy="4351338"/>
          </a:xfrm>
        </p:spPr>
        <p:txBody>
          <a:bodyPr/>
          <a:lstStyle/>
          <a:p>
            <a:pPr marL="0" indent="0">
              <a:buNone/>
            </a:pPr>
            <a:r>
              <a:rPr lang="en-US" sz="3200" dirty="0">
                <a:solidFill>
                  <a:schemeClr val="accent5"/>
                </a:solidFill>
                <a:effectLst/>
                <a:latin typeface="Times New Roman" panose="02020603050405020304" pitchFamily="18" charset="0"/>
                <a:ea typeface="Times New Roman" panose="02020603050405020304" pitchFamily="18" charset="0"/>
              </a:rPr>
              <a:t>In addition to these objectives, audit documentation serves a number of purposes,</a:t>
            </a:r>
            <a:r>
              <a:rPr lang="en-US" sz="3200" spc="-40" dirty="0">
                <a:solidFill>
                  <a:schemeClr val="accent5"/>
                </a:solidFill>
                <a:effectLst/>
                <a:latin typeface="Times New Roman" panose="02020603050405020304" pitchFamily="18" charset="0"/>
                <a:ea typeface="Times New Roman" panose="02020603050405020304" pitchFamily="18" charset="0"/>
              </a:rPr>
              <a:t> </a:t>
            </a:r>
            <a:r>
              <a:rPr lang="en-US" sz="3200" dirty="0">
                <a:solidFill>
                  <a:schemeClr val="accent5"/>
                </a:solidFill>
                <a:effectLst/>
                <a:latin typeface="Times New Roman" panose="02020603050405020304" pitchFamily="18" charset="0"/>
                <a:ea typeface="Times New Roman" panose="02020603050405020304" pitchFamily="18" charset="0"/>
              </a:rPr>
              <a:t>including:</a:t>
            </a:r>
            <a:endParaRPr lang="en-US" sz="3200" dirty="0">
              <a:solidFill>
                <a:schemeClr val="accent5"/>
              </a:solidFill>
              <a:effectLst/>
              <a:latin typeface="Times New Roman" panose="02020603050405020304" pitchFamily="18" charset="0"/>
              <a:ea typeface="Times New Roman" panose="02020603050405020304" pitchFamily="18" charset="0"/>
            </a:endParaRPr>
          </a:p>
          <a:p>
            <a:r>
              <a:rPr lang="en-US" sz="3200" spc="-10" dirty="0">
                <a:effectLst/>
                <a:latin typeface="Times New Roman" panose="02020603050405020304" pitchFamily="18" charset="0"/>
                <a:ea typeface="Times New Roman" panose="02020603050405020304" pitchFamily="18" charset="0"/>
              </a:rPr>
              <a:t>Assisting the audit team to plan and perform the</a:t>
            </a:r>
            <a:r>
              <a:rPr lang="en-US" sz="3200" spc="-40" dirty="0">
                <a:effectLst/>
                <a:latin typeface="Times New Roman" panose="02020603050405020304" pitchFamily="18" charset="0"/>
                <a:ea typeface="Times New Roman" panose="02020603050405020304" pitchFamily="18" charset="0"/>
              </a:rPr>
              <a:t> </a:t>
            </a:r>
            <a:r>
              <a:rPr lang="en-US" sz="3200" spc="-10" dirty="0">
                <a:effectLst/>
                <a:latin typeface="Times New Roman" panose="02020603050405020304" pitchFamily="18" charset="0"/>
                <a:ea typeface="Times New Roman" panose="02020603050405020304" pitchFamily="18" charset="0"/>
              </a:rPr>
              <a:t>audit;</a:t>
            </a:r>
            <a:endParaRPr lang="en-US" sz="3200" spc="-10" dirty="0">
              <a:effectLst/>
              <a:latin typeface="Times New Roman" panose="02020603050405020304" pitchFamily="18" charset="0"/>
              <a:ea typeface="Times New Roman" panose="02020603050405020304" pitchFamily="18" charset="0"/>
            </a:endParaRPr>
          </a:p>
          <a:p>
            <a:r>
              <a:rPr lang="en-US" sz="3200" spc="-10" dirty="0">
                <a:effectLst/>
                <a:latin typeface="Times New Roman" panose="02020603050405020304" pitchFamily="18" charset="0"/>
                <a:ea typeface="Times New Roman" panose="02020603050405020304" pitchFamily="18" charset="0"/>
              </a:rPr>
              <a:t>Assisting members of the audit team responsible for supervision to direct and supervise the audit work, and to discharge their review</a:t>
            </a:r>
            <a:r>
              <a:rPr lang="en-US" sz="3200" spc="-40" dirty="0">
                <a:effectLst/>
                <a:latin typeface="Times New Roman" panose="02020603050405020304" pitchFamily="18" charset="0"/>
                <a:ea typeface="Times New Roman" panose="02020603050405020304" pitchFamily="18" charset="0"/>
              </a:rPr>
              <a:t> </a:t>
            </a:r>
            <a:r>
              <a:rPr lang="en-US" sz="3200" spc="-10" dirty="0">
                <a:effectLst/>
                <a:latin typeface="Times New Roman" panose="02020603050405020304" pitchFamily="18" charset="0"/>
                <a:ea typeface="Times New Roman" panose="02020603050405020304" pitchFamily="18" charset="0"/>
              </a:rPr>
              <a:t>responsibilities.</a:t>
            </a:r>
            <a:endParaRPr lang="en-US" sz="3200" spc="-10" dirty="0">
              <a:effectLst/>
              <a:latin typeface="Times New Roman" panose="02020603050405020304" pitchFamily="18" charset="0"/>
              <a:ea typeface="Times New Roman" panose="02020603050405020304" pitchFamily="18" charset="0"/>
            </a:endParaRPr>
          </a:p>
          <a:p>
            <a:r>
              <a:rPr lang="en-US" sz="3200" spc="-10" dirty="0">
                <a:effectLst/>
                <a:latin typeface="Times New Roman" panose="02020603050405020304" pitchFamily="18" charset="0"/>
                <a:ea typeface="Times New Roman" panose="02020603050405020304" pitchFamily="18" charset="0"/>
              </a:rPr>
              <a:t>Enabling the audit team to be accountable for its</a:t>
            </a:r>
            <a:r>
              <a:rPr lang="en-US" sz="3200" spc="-25" dirty="0">
                <a:effectLst/>
                <a:latin typeface="Times New Roman" panose="02020603050405020304" pitchFamily="18" charset="0"/>
                <a:ea typeface="Times New Roman" panose="02020603050405020304" pitchFamily="18" charset="0"/>
              </a:rPr>
              <a:t> </a:t>
            </a:r>
            <a:r>
              <a:rPr lang="en-US" sz="3200" spc="-10" dirty="0">
                <a:effectLst/>
                <a:latin typeface="Times New Roman" panose="02020603050405020304" pitchFamily="18" charset="0"/>
                <a:ea typeface="Times New Roman" panose="02020603050405020304" pitchFamily="18" charset="0"/>
              </a:rPr>
              <a:t>work;</a:t>
            </a:r>
            <a:endParaRPr lang="en-US" sz="3200" spc="-10" dirty="0">
              <a:effectLst/>
              <a:latin typeface="Times New Roman" panose="02020603050405020304" pitchFamily="18" charset="0"/>
              <a:ea typeface="Times New Roman" panose="02020603050405020304" pitchFamily="18" charset="0"/>
            </a:endParaRPr>
          </a:p>
          <a:p>
            <a:endParaRPr lang="en-US" sz="3200" spc="-10" dirty="0">
              <a:effectLst/>
              <a:latin typeface="Times New Roman" panose="02020603050405020304" pitchFamily="18" charset="0"/>
              <a:ea typeface="Times New Roman" panose="02020603050405020304" pitchFamily="18" charset="0"/>
            </a:endParaRPr>
          </a:p>
          <a:p>
            <a:endParaRPr lang="en-US" sz="3200" spc="-10" dirty="0">
              <a:effectLst/>
              <a:latin typeface="Times New Roman" panose="02020603050405020304" pitchFamily="18" charset="0"/>
              <a:ea typeface="Times New Roman" panose="02020603050405020304" pitchFamily="18" charset="0"/>
            </a:endParaRPr>
          </a:p>
          <a:p>
            <a:endParaRPr lang="en-US" sz="3200" dirty="0">
              <a:effectLst/>
              <a:latin typeface="Times New Roman" panose="02020603050405020304" pitchFamily="18" charset="0"/>
              <a:ea typeface="Times New Roman" panose="02020603050405020304" pitchFamily="18" charset="0"/>
            </a:endParaRPr>
          </a:p>
          <a:p>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b="1" kern="0" spc="-5" dirty="0">
                <a:effectLst/>
                <a:latin typeface="Times New Roman" panose="02020603050405020304" pitchFamily="18" charset="0"/>
                <a:ea typeface="Times New Roman" panose="02020603050405020304" pitchFamily="18" charset="0"/>
              </a:rPr>
              <a:t>Purposes of Audit Documentation cont’d</a:t>
            </a:r>
            <a:br>
              <a:rPr lang="en-US" sz="4400" b="1" kern="0" spc="-5" dirty="0">
                <a:effectLst/>
                <a:latin typeface="Times New Roman" panose="02020603050405020304" pitchFamily="18" charset="0"/>
                <a:ea typeface="Times New Roman" panose="02020603050405020304" pitchFamily="18" charset="0"/>
              </a:rPr>
            </a:br>
            <a:endParaRPr lang="en-US" dirty="0"/>
          </a:p>
        </p:txBody>
      </p:sp>
      <p:sp>
        <p:nvSpPr>
          <p:cNvPr id="3" name="Content Placeholder 2"/>
          <p:cNvSpPr>
            <a:spLocks noGrp="1"/>
          </p:cNvSpPr>
          <p:nvPr>
            <p:ph idx="1"/>
          </p:nvPr>
        </p:nvSpPr>
        <p:spPr>
          <a:xfrm>
            <a:off x="212035" y="1825625"/>
            <a:ext cx="11675165" cy="4351338"/>
          </a:xfrm>
        </p:spPr>
        <p:txBody>
          <a:bodyPr/>
          <a:lstStyle/>
          <a:p>
            <a:r>
              <a:rPr lang="en-US" sz="3200" dirty="0"/>
              <a:t>Retaining a record of matters of continuing significance to future audits;</a:t>
            </a:r>
            <a:endParaRPr lang="en-US" sz="3200" dirty="0"/>
          </a:p>
          <a:p>
            <a:r>
              <a:rPr lang="en-US" sz="3200" dirty="0"/>
              <a:t>Enabling an experienced auditor to conduct quality control reviews and inspections; and</a:t>
            </a:r>
            <a:endParaRPr lang="en-US" sz="3200" dirty="0"/>
          </a:p>
          <a:p>
            <a:r>
              <a:rPr lang="en-US" sz="3200" dirty="0"/>
              <a:t>Enabling an experienced auditor to conduct external inspections in accordance with applicable legal, regulatory or other requirements.</a:t>
            </a:r>
            <a:endParaRPr lang="en-US" sz="3200" dirty="0"/>
          </a:p>
          <a:p>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effectLst/>
                <a:latin typeface="Times New Roman" panose="02020603050405020304" pitchFamily="18" charset="0"/>
                <a:ea typeface="Times New Roman" panose="02020603050405020304" pitchFamily="18" charset="0"/>
              </a:rPr>
              <a:t>Form, Content and Extent of Audit</a:t>
            </a:r>
            <a:r>
              <a:rPr lang="en-US" b="1" spc="-25" dirty="0">
                <a:effectLst/>
                <a:latin typeface="Times New Roman" panose="02020603050405020304" pitchFamily="18" charset="0"/>
                <a:ea typeface="Times New Roman" panose="02020603050405020304" pitchFamily="18" charset="0"/>
              </a:rPr>
              <a:t> </a:t>
            </a:r>
            <a:r>
              <a:rPr lang="en-US" b="1" dirty="0">
                <a:effectLst/>
                <a:latin typeface="Times New Roman" panose="02020603050405020304" pitchFamily="18" charset="0"/>
                <a:ea typeface="Times New Roman" panose="02020603050405020304" pitchFamily="18" charset="0"/>
              </a:rPr>
              <a:t>Documentation</a:t>
            </a:r>
            <a:endParaRPr lang="en-US" dirty="0"/>
          </a:p>
        </p:txBody>
      </p:sp>
      <p:sp>
        <p:nvSpPr>
          <p:cNvPr id="3" name="Content Placeholder 2"/>
          <p:cNvSpPr>
            <a:spLocks noGrp="1"/>
          </p:cNvSpPr>
          <p:nvPr>
            <p:ph idx="1"/>
          </p:nvPr>
        </p:nvSpPr>
        <p:spPr>
          <a:xfrm>
            <a:off x="238539" y="1825625"/>
            <a:ext cx="11728173" cy="4667250"/>
          </a:xfrm>
        </p:spPr>
        <p:txBody>
          <a:bodyPr>
            <a:normAutofit/>
          </a:bodyPr>
          <a:lstStyle/>
          <a:p>
            <a:pPr marL="0" indent="0">
              <a:buNone/>
            </a:pPr>
            <a:r>
              <a:rPr lang="en-US" sz="3200" dirty="0">
                <a:solidFill>
                  <a:schemeClr val="accent5"/>
                </a:solidFill>
              </a:rPr>
              <a:t>The auditor should prepare the audit documentation so as to enable an experienced auditor, having no previous connection with the audit, to understand:</a:t>
            </a:r>
            <a:endParaRPr lang="en-US" sz="3200" dirty="0">
              <a:solidFill>
                <a:schemeClr val="accent5"/>
              </a:solidFill>
            </a:endParaRPr>
          </a:p>
          <a:p>
            <a:r>
              <a:rPr lang="en-US" sz="3200" dirty="0"/>
              <a:t>The nature, timing, and extent of the audit procedures performed to comply with ISAs and applicable legal and regulatory requirements;</a:t>
            </a:r>
            <a:endParaRPr lang="en-US" sz="3200" dirty="0"/>
          </a:p>
          <a:p>
            <a:r>
              <a:rPr lang="en-US" sz="3200" dirty="0"/>
              <a:t>The results of the audit procedures and the audit evidence obtained; and</a:t>
            </a:r>
            <a:endParaRPr lang="en-US" sz="3200" dirty="0"/>
          </a:p>
          <a:p>
            <a:r>
              <a:rPr lang="en-US" sz="3200" dirty="0"/>
              <a:t>Significant matters arising during the audit and the conclusions reached thereon.</a:t>
            </a:r>
            <a:endParaRPr lang="en-US" sz="3200" dirty="0"/>
          </a:p>
          <a:p>
            <a:endParaRPr lang="en-US" dirty="0"/>
          </a:p>
          <a:p>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5040" y="-387132"/>
            <a:ext cx="10058400" cy="1450757"/>
          </a:xfrm>
        </p:spPr>
        <p:txBody>
          <a:bodyPr>
            <a:normAutofit/>
          </a:bodyPr>
          <a:lstStyle/>
          <a:p>
            <a:pPr algn="ctr"/>
            <a:r>
              <a:rPr lang="en-US" b="1" kern="0" spc="-5" dirty="0">
                <a:effectLst/>
                <a:latin typeface="Times New Roman" panose="02020603050405020304" pitchFamily="18" charset="0"/>
                <a:ea typeface="Times New Roman" panose="02020603050405020304" pitchFamily="18" charset="0"/>
              </a:rPr>
              <a:t>Factors that affect audit documentation</a:t>
            </a:r>
            <a:br>
              <a:rPr lang="en-US" b="1" kern="0" spc="-5" dirty="0">
                <a:effectLst/>
                <a:latin typeface="Times New Roman" panose="02020603050405020304" pitchFamily="18" charset="0"/>
                <a:ea typeface="Times New Roman" panose="02020603050405020304" pitchFamily="18" charset="0"/>
              </a:rPr>
            </a:br>
            <a:endParaRPr lang="en-US" dirty="0"/>
          </a:p>
        </p:txBody>
      </p:sp>
      <p:sp>
        <p:nvSpPr>
          <p:cNvPr id="3" name="Content Placeholder 2"/>
          <p:cNvSpPr>
            <a:spLocks noGrp="1"/>
          </p:cNvSpPr>
          <p:nvPr>
            <p:ph idx="1"/>
          </p:nvPr>
        </p:nvSpPr>
        <p:spPr>
          <a:xfrm>
            <a:off x="126365" y="624840"/>
            <a:ext cx="11715115" cy="5941695"/>
          </a:xfrm>
        </p:spPr>
        <p:txBody>
          <a:bodyPr>
            <a:noAutofit/>
          </a:bodyPr>
          <a:lstStyle/>
          <a:p>
            <a:pPr marL="0" indent="0">
              <a:buNone/>
            </a:pPr>
            <a:r>
              <a:rPr lang="en-US" sz="2700" dirty="0">
                <a:solidFill>
                  <a:schemeClr val="accent5"/>
                </a:solidFill>
              </a:rPr>
              <a:t>The form, content and extent of audit documentation depend on factors such as:</a:t>
            </a:r>
            <a:endParaRPr lang="en-US" sz="2700" dirty="0">
              <a:solidFill>
                <a:schemeClr val="accent5"/>
              </a:solidFill>
            </a:endParaRPr>
          </a:p>
          <a:p>
            <a:r>
              <a:rPr lang="en-US" sz="2700" dirty="0"/>
              <a:t>The nature of the audit procedures to be performed;</a:t>
            </a:r>
            <a:endParaRPr lang="en-US" sz="2700" dirty="0"/>
          </a:p>
          <a:p>
            <a:r>
              <a:rPr lang="en-US" sz="2700" dirty="0"/>
              <a:t>The identified risks of material misstatement;</a:t>
            </a:r>
            <a:endParaRPr lang="en-US" sz="2700" dirty="0"/>
          </a:p>
          <a:p>
            <a:r>
              <a:rPr lang="en-US" sz="2700" dirty="0"/>
              <a:t>The extent of judgment required in performing the work and evaluating the results;</a:t>
            </a:r>
            <a:endParaRPr lang="en-US" sz="2700" dirty="0"/>
          </a:p>
          <a:p>
            <a:r>
              <a:rPr lang="en-US" sz="2700" dirty="0"/>
              <a:t>The significance of the audit evidence obtained;</a:t>
            </a:r>
            <a:endParaRPr lang="en-US" sz="2700" dirty="0"/>
          </a:p>
          <a:p>
            <a:r>
              <a:rPr lang="en-US" sz="2700" dirty="0"/>
              <a:t>The nature and extent of exceptions identified;</a:t>
            </a:r>
            <a:endParaRPr lang="en-US" sz="2700" dirty="0"/>
          </a:p>
          <a:p>
            <a:r>
              <a:rPr lang="en-US" sz="2700" dirty="0"/>
              <a:t>The need to document a conclusion or the basis for a conclusion not readily determinable from the documentation of the work performed or audit evidence obtained; and</a:t>
            </a:r>
            <a:endParaRPr lang="en-US" sz="2700" dirty="0"/>
          </a:p>
          <a:p>
            <a:r>
              <a:rPr lang="en-US" sz="2700" dirty="0"/>
              <a:t>The audit methodology and tools used.</a:t>
            </a:r>
            <a:endParaRPr lang="en-US" sz="2700" dirty="0"/>
          </a:p>
          <a:p>
            <a:endParaRPr lang="en-US" sz="2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800" b="1" dirty="0">
                <a:effectLst/>
                <a:latin typeface="Times New Roman" panose="02020603050405020304" pitchFamily="18" charset="0"/>
                <a:ea typeface="Times New Roman" panose="02020603050405020304" pitchFamily="18" charset="0"/>
              </a:rPr>
              <a:t>AUDIT FILES</a:t>
            </a:r>
            <a:endParaRPr lang="en-US" sz="4800" dirty="0"/>
          </a:p>
        </p:txBody>
      </p:sp>
      <p:sp>
        <p:nvSpPr>
          <p:cNvPr id="3" name="Content Placeholder 2"/>
          <p:cNvSpPr>
            <a:spLocks noGrp="1"/>
          </p:cNvSpPr>
          <p:nvPr>
            <p:ph idx="1"/>
          </p:nvPr>
        </p:nvSpPr>
        <p:spPr>
          <a:xfrm>
            <a:off x="278297" y="1825625"/>
            <a:ext cx="11714920" cy="4351338"/>
          </a:xfrm>
        </p:spPr>
        <p:txBody>
          <a:bodyPr/>
          <a:lstStyle/>
          <a:p>
            <a:pPr marL="0" indent="0">
              <a:buNone/>
            </a:pPr>
            <a:r>
              <a:rPr lang="en-US" sz="3200" dirty="0">
                <a:solidFill>
                  <a:schemeClr val="accent5"/>
                </a:solidFill>
              </a:rPr>
              <a:t>Introduction</a:t>
            </a:r>
            <a:endParaRPr lang="en-US" sz="3200" dirty="0">
              <a:solidFill>
                <a:schemeClr val="accent5"/>
              </a:solidFill>
            </a:endParaRPr>
          </a:p>
          <a:p>
            <a:r>
              <a:rPr lang="en-US" sz="3200" dirty="0"/>
              <a:t>In the case of recurring audit, some working papers may be classified as permanent audit files which are updated with new information of continuing importance as distinct from current audit files which contain information relating primarily to the audit of a single period.</a:t>
            </a:r>
            <a:endParaRPr lang="en-US" sz="3200" dirty="0"/>
          </a:p>
          <a:p>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4800" b="1" kern="0" spc="-5" dirty="0">
                <a:effectLst/>
                <a:latin typeface="Times New Roman" panose="02020603050405020304" pitchFamily="18" charset="0"/>
                <a:ea typeface="Times New Roman" panose="02020603050405020304" pitchFamily="18" charset="0"/>
              </a:rPr>
              <a:t>Permanent Files</a:t>
            </a:r>
            <a:br>
              <a:rPr lang="en-US" sz="4800" b="1" kern="0" spc="-5" dirty="0">
                <a:effectLst/>
                <a:latin typeface="Times New Roman" panose="02020603050405020304" pitchFamily="18" charset="0"/>
                <a:ea typeface="Times New Roman" panose="02020603050405020304" pitchFamily="18" charset="0"/>
              </a:rPr>
            </a:br>
            <a:endParaRPr lang="en-US" sz="4800" dirty="0"/>
          </a:p>
        </p:txBody>
      </p:sp>
      <p:sp>
        <p:nvSpPr>
          <p:cNvPr id="3" name="Content Placeholder 2"/>
          <p:cNvSpPr>
            <a:spLocks noGrp="1"/>
          </p:cNvSpPr>
          <p:nvPr>
            <p:ph idx="1"/>
          </p:nvPr>
        </p:nvSpPr>
        <p:spPr>
          <a:xfrm>
            <a:off x="265043" y="1825625"/>
            <a:ext cx="11688418" cy="4351338"/>
          </a:xfrm>
        </p:spPr>
        <p:txBody>
          <a:bodyPr>
            <a:noAutofit/>
          </a:bodyPr>
          <a:lstStyle/>
          <a:p>
            <a:pPr marL="0" indent="0">
              <a:buNone/>
            </a:pPr>
            <a:r>
              <a:rPr lang="en-US" sz="3200" dirty="0">
                <a:solidFill>
                  <a:schemeClr val="accent5"/>
                </a:solidFill>
              </a:rPr>
              <a:t>The permanent file usually contains documents and matters of continuing importance which will be required for more than one audit. It is usually indexed. Contents include the following: </a:t>
            </a:r>
            <a:r>
              <a:rPr lang="en-US" sz="3200" dirty="0"/>
              <a:t>-</a:t>
            </a:r>
            <a:endParaRPr lang="en-US" sz="3200" dirty="0"/>
          </a:p>
          <a:p>
            <a:r>
              <a:rPr lang="en-US" sz="3200" dirty="0"/>
              <a:t>Statutory materials governing the conduct, accounts, and audit of the enterprise e.g. Companies Code, stock Exchange Regulations, etc.</a:t>
            </a:r>
            <a:endParaRPr lang="en-US" sz="3200" dirty="0"/>
          </a:p>
          <a:p>
            <a:r>
              <a:rPr lang="en-US" sz="3200" dirty="0"/>
              <a:t>The rules and Regulation of the enterprise</a:t>
            </a:r>
            <a:endParaRPr lang="en-US" sz="3200" dirty="0"/>
          </a:p>
          <a:p>
            <a:r>
              <a:rPr lang="en-US" sz="3200" dirty="0"/>
              <a:t>Copies of documents of continuing importance and relevant to the auditors, </a:t>
            </a:r>
            <a:endParaRPr lang="en-US" sz="3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2400"/>
            <a:ext cx="10515600" cy="815009"/>
          </a:xfrm>
        </p:spPr>
        <p:txBody>
          <a:bodyPr/>
          <a:lstStyle/>
          <a:p>
            <a:pPr algn="ctr"/>
            <a:r>
              <a:rPr lang="en-US" sz="4400" b="1" kern="0" spc="-5" dirty="0">
                <a:effectLst/>
                <a:latin typeface="Times New Roman" panose="02020603050405020304" pitchFamily="18" charset="0"/>
                <a:ea typeface="Times New Roman" panose="02020603050405020304" pitchFamily="18" charset="0"/>
              </a:rPr>
              <a:t>Permanent Files cont’d</a:t>
            </a:r>
            <a:endParaRPr lang="en-US" dirty="0"/>
          </a:p>
        </p:txBody>
      </p:sp>
      <p:sp>
        <p:nvSpPr>
          <p:cNvPr id="3" name="Content Placeholder 2"/>
          <p:cNvSpPr>
            <a:spLocks noGrp="1"/>
          </p:cNvSpPr>
          <p:nvPr>
            <p:ph idx="1"/>
          </p:nvPr>
        </p:nvSpPr>
        <p:spPr>
          <a:xfrm>
            <a:off x="318052" y="1166191"/>
            <a:ext cx="11754678" cy="5539409"/>
          </a:xfrm>
        </p:spPr>
        <p:txBody>
          <a:bodyPr>
            <a:normAutofit fontScale="92500" lnSpcReduction="10000"/>
          </a:bodyPr>
          <a:lstStyle/>
          <a:p>
            <a:r>
              <a:rPr lang="en-US" sz="3200" dirty="0"/>
              <a:t>Letter of engagement and minutes of appoint of the auditor</a:t>
            </a:r>
            <a:endParaRPr lang="en-US" sz="3200" dirty="0"/>
          </a:p>
          <a:p>
            <a:r>
              <a:rPr lang="en-US" sz="3200" dirty="0"/>
              <a:t>Trade license and royalty agreements entered into by the client</a:t>
            </a:r>
            <a:endParaRPr lang="en-US" sz="3200" dirty="0"/>
          </a:p>
          <a:p>
            <a:r>
              <a:rPr lang="en-US" sz="3200" dirty="0"/>
              <a:t>Debenture deeds</a:t>
            </a:r>
            <a:endParaRPr lang="en-US" sz="3200" dirty="0"/>
          </a:p>
          <a:p>
            <a:r>
              <a:rPr lang="en-US" sz="3200" dirty="0"/>
              <a:t>Leases</a:t>
            </a:r>
            <a:endParaRPr lang="en-US" sz="3200" dirty="0"/>
          </a:p>
          <a:p>
            <a:r>
              <a:rPr lang="en-US" sz="3200" dirty="0"/>
              <a:t>Addresses of the registered office and all other business locations of the client company</a:t>
            </a:r>
            <a:endParaRPr lang="en-US" sz="3200" dirty="0"/>
          </a:p>
          <a:p>
            <a:r>
              <a:rPr lang="en-US" sz="3200" dirty="0"/>
              <a:t>An organization chart showing the various departments, sections, authority</a:t>
            </a:r>
            <a:endParaRPr lang="en-US" sz="3200" dirty="0"/>
          </a:p>
          <a:p>
            <a:pPr marL="0" indent="0">
              <a:buNone/>
            </a:pPr>
            <a:r>
              <a:rPr lang="en-US" sz="3200" dirty="0"/>
              <a:t>– responsibility relationships and names of responsible managers and officers.</a:t>
            </a:r>
            <a:endParaRPr lang="en-US" sz="3200" dirty="0"/>
          </a:p>
          <a:p>
            <a:pPr marL="0" indent="0">
              <a:buNone/>
            </a:pPr>
            <a:r>
              <a:rPr lang="en-US" sz="3200" dirty="0"/>
              <a:t>Lists of books and other records and where they are kept, together with designation, names and signatures of responsible officers etc.</a:t>
            </a:r>
            <a:endParaRPr lang="en-US" sz="3200" dirty="0"/>
          </a:p>
          <a:p>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4800" b="1" kern="0" spc="-5" dirty="0">
                <a:effectLst/>
                <a:latin typeface="Times New Roman" panose="02020603050405020304" pitchFamily="18" charset="0"/>
                <a:ea typeface="Times New Roman" panose="02020603050405020304" pitchFamily="18" charset="0"/>
              </a:rPr>
              <a:t>The Current File</a:t>
            </a:r>
            <a:br>
              <a:rPr lang="en-US" sz="4800" b="1" kern="0" spc="-5" dirty="0">
                <a:effectLst/>
                <a:latin typeface="Times New Roman" panose="02020603050405020304" pitchFamily="18" charset="0"/>
                <a:ea typeface="Times New Roman" panose="02020603050405020304" pitchFamily="18" charset="0"/>
              </a:rPr>
            </a:br>
            <a:endParaRPr lang="en-US" sz="4800" dirty="0"/>
          </a:p>
        </p:txBody>
      </p:sp>
      <p:sp>
        <p:nvSpPr>
          <p:cNvPr id="3" name="Content Placeholder 2"/>
          <p:cNvSpPr>
            <a:spLocks noGrp="1"/>
          </p:cNvSpPr>
          <p:nvPr>
            <p:ph idx="1"/>
          </p:nvPr>
        </p:nvSpPr>
        <p:spPr>
          <a:xfrm>
            <a:off x="225287" y="1825625"/>
            <a:ext cx="11701670" cy="4667250"/>
          </a:xfrm>
        </p:spPr>
        <p:txBody>
          <a:bodyPr/>
          <a:lstStyle/>
          <a:p>
            <a:pPr marL="0" indent="0">
              <a:buNone/>
            </a:pPr>
            <a:r>
              <a:rPr lang="en-US" sz="2800" dirty="0">
                <a:solidFill>
                  <a:schemeClr val="accent5"/>
                </a:solidFill>
              </a:rPr>
              <a:t>The Current file contains matters relating to the current year’s audit.	The contents include the following:</a:t>
            </a:r>
            <a:endParaRPr lang="en-US" sz="2800" dirty="0">
              <a:solidFill>
                <a:schemeClr val="accent5"/>
              </a:solidFill>
            </a:endParaRPr>
          </a:p>
          <a:p>
            <a:r>
              <a:rPr lang="en-US" sz="2800" dirty="0"/>
              <a:t>A copy of the accounts being audited</a:t>
            </a:r>
            <a:endParaRPr lang="en-US" sz="2800" dirty="0"/>
          </a:p>
          <a:p>
            <a:r>
              <a:rPr lang="en-US" sz="2800" dirty="0"/>
              <a:t>An index to the file</a:t>
            </a:r>
            <a:endParaRPr lang="en-US" sz="2800" dirty="0"/>
          </a:p>
          <a:p>
            <a:r>
              <a:rPr lang="en-US" sz="2800" dirty="0"/>
              <a:t>A description of the Internal Control System in the form of ICQ, Flowcharts, or written description together with supervision documents.</a:t>
            </a:r>
            <a:endParaRPr lang="en-US" sz="2800" dirty="0"/>
          </a:p>
          <a:p>
            <a:r>
              <a:rPr lang="en-US" sz="2800" dirty="0"/>
              <a:t>Cross reference to the Internal Control record and letter of weakness.</a:t>
            </a:r>
            <a:endParaRPr lang="en-US" sz="2800" dirty="0"/>
          </a:p>
          <a:p>
            <a:endParaRPr lang="en-US" sz="2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400" b="1" kern="0" spc="-5" dirty="0">
                <a:effectLst/>
                <a:latin typeface="Times New Roman" panose="02020603050405020304" pitchFamily="18" charset="0"/>
                <a:ea typeface="Times New Roman" panose="02020603050405020304" pitchFamily="18" charset="0"/>
              </a:rPr>
              <a:t>The Current File cont’d</a:t>
            </a:r>
            <a:br>
              <a:rPr lang="en-US" sz="4400" b="1" kern="0" spc="-5" dirty="0">
                <a:effectLst/>
                <a:latin typeface="Times New Roman" panose="02020603050405020304" pitchFamily="18" charset="0"/>
                <a:ea typeface="Times New Roman" panose="02020603050405020304" pitchFamily="18" charset="0"/>
              </a:rPr>
            </a:br>
            <a:endParaRPr lang="en-US" dirty="0"/>
          </a:p>
        </p:txBody>
      </p:sp>
      <p:sp>
        <p:nvSpPr>
          <p:cNvPr id="3" name="Content Placeholder 2"/>
          <p:cNvSpPr>
            <a:spLocks noGrp="1"/>
          </p:cNvSpPr>
          <p:nvPr>
            <p:ph idx="1"/>
          </p:nvPr>
        </p:nvSpPr>
        <p:spPr>
          <a:xfrm>
            <a:off x="291547" y="1825625"/>
            <a:ext cx="11516139" cy="4667250"/>
          </a:xfrm>
        </p:spPr>
        <p:txBody>
          <a:bodyPr/>
          <a:lstStyle/>
          <a:p>
            <a:r>
              <a:rPr lang="en-US" sz="3200" dirty="0"/>
              <a:t>A schedule for each item in the Statement of financial position.</a:t>
            </a:r>
            <a:endParaRPr lang="en-US" sz="3200" dirty="0"/>
          </a:p>
          <a:p>
            <a:r>
              <a:rPr lang="en-US" sz="3200" dirty="0"/>
              <a:t>A schedule for each item in the Income statements showing its makeup.</a:t>
            </a:r>
            <a:endParaRPr lang="en-US" sz="3200" dirty="0"/>
          </a:p>
          <a:p>
            <a:r>
              <a:rPr lang="en-US" sz="3200" dirty="0"/>
              <a:t>A schedule of important statistics including output, sales composition, employment, accounting ratios.</a:t>
            </a:r>
            <a:endParaRPr lang="en-US" sz="3200" dirty="0"/>
          </a:p>
          <a:p>
            <a:r>
              <a:rPr lang="en-US" sz="3200" dirty="0"/>
              <a:t>Letters of representation</a:t>
            </a:r>
            <a:endParaRPr lang="en-US" sz="3200" dirty="0"/>
          </a:p>
          <a:p>
            <a:r>
              <a:rPr lang="en-US" sz="3200" dirty="0"/>
              <a:t>Letters to the client setting out Internal control weaknesses.</a:t>
            </a:r>
            <a:endParaRPr lang="en-US" sz="3200" dirty="0"/>
          </a:p>
          <a:p>
            <a:endParaRPr lang="en-US" dirty="0"/>
          </a:p>
          <a:p>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800" b="1" dirty="0">
                <a:effectLst/>
                <a:latin typeface="Times New Roman" panose="02020603050405020304" pitchFamily="18" charset="0"/>
                <a:ea typeface="Times New Roman" panose="02020603050405020304" pitchFamily="18" charset="0"/>
              </a:rPr>
              <a:t>AUDIT PROGRAMMES</a:t>
            </a:r>
            <a:endParaRPr lang="en-US" sz="4800" dirty="0"/>
          </a:p>
        </p:txBody>
      </p:sp>
      <p:sp>
        <p:nvSpPr>
          <p:cNvPr id="3" name="Content Placeholder 2"/>
          <p:cNvSpPr>
            <a:spLocks noGrp="1"/>
          </p:cNvSpPr>
          <p:nvPr>
            <p:ph idx="1"/>
          </p:nvPr>
        </p:nvSpPr>
        <p:spPr>
          <a:xfrm>
            <a:off x="291549" y="1825625"/>
            <a:ext cx="11661912" cy="4351338"/>
          </a:xfrm>
        </p:spPr>
        <p:txBody>
          <a:bodyPr>
            <a:normAutofit/>
          </a:bodyPr>
          <a:lstStyle/>
          <a:p>
            <a:r>
              <a:rPr lang="en-US" sz="3200" dirty="0">
                <a:effectLst/>
                <a:latin typeface="Times New Roman" panose="02020603050405020304" pitchFamily="18" charset="0"/>
                <a:ea typeface="Times New Roman" panose="02020603050405020304" pitchFamily="18" charset="0"/>
              </a:rPr>
              <a:t>Auditors are required to develop and document the nature, timing and extent of planned audit procedures required to implement the overall audit plan. </a:t>
            </a:r>
            <a:endParaRPr lang="en-US" sz="3200" dirty="0">
              <a:effectLst/>
              <a:latin typeface="Times New Roman" panose="02020603050405020304" pitchFamily="18" charset="0"/>
              <a:ea typeface="Times New Roman" panose="02020603050405020304" pitchFamily="18" charset="0"/>
            </a:endParaRPr>
          </a:p>
          <a:p>
            <a:endParaRPr lang="en-US" sz="3200" dirty="0">
              <a:latin typeface="Times New Roman" panose="02020603050405020304" pitchFamily="18" charset="0"/>
              <a:ea typeface="Times New Roman" panose="02020603050405020304" pitchFamily="18" charset="0"/>
            </a:endParaRPr>
          </a:p>
          <a:p>
            <a:r>
              <a:rPr lang="en-US" sz="3200" dirty="0">
                <a:effectLst/>
                <a:latin typeface="Times New Roman" panose="02020603050405020304" pitchFamily="18" charset="0"/>
                <a:ea typeface="Times New Roman" panose="02020603050405020304" pitchFamily="18" charset="0"/>
              </a:rPr>
              <a:t>The audit </a:t>
            </a:r>
            <a:r>
              <a:rPr lang="en-US" sz="3200" dirty="0" err="1">
                <a:effectLst/>
                <a:latin typeface="Times New Roman" panose="02020603050405020304" pitchFamily="18" charset="0"/>
                <a:ea typeface="Times New Roman" panose="02020603050405020304" pitchFamily="18" charset="0"/>
              </a:rPr>
              <a:t>programme</a:t>
            </a:r>
            <a:r>
              <a:rPr lang="en-US" sz="3200" dirty="0">
                <a:effectLst/>
                <a:latin typeface="Times New Roman" panose="02020603050405020304" pitchFamily="18" charset="0"/>
                <a:ea typeface="Times New Roman" panose="02020603050405020304" pitchFamily="18" charset="0"/>
              </a:rPr>
              <a:t> specifies the nature and extent of the checking, and the members of staff who have carried out the work.</a:t>
            </a:r>
            <a:endParaRPr lang="en-US" sz="3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4800" b="1" kern="0" spc="-5" dirty="0">
                <a:effectLst/>
                <a:latin typeface="Times New Roman" panose="02020603050405020304" pitchFamily="18" charset="0"/>
                <a:ea typeface="Times New Roman" panose="02020603050405020304" pitchFamily="18" charset="0"/>
              </a:rPr>
              <a:t>Purposes of Audit </a:t>
            </a:r>
            <a:r>
              <a:rPr lang="en-US" sz="4800" b="1" kern="0" spc="-5" dirty="0" err="1">
                <a:effectLst/>
                <a:latin typeface="Times New Roman" panose="02020603050405020304" pitchFamily="18" charset="0"/>
                <a:ea typeface="Times New Roman" panose="02020603050405020304" pitchFamily="18" charset="0"/>
              </a:rPr>
              <a:t>Programme</a:t>
            </a:r>
            <a:br>
              <a:rPr lang="en-US" sz="4800" b="1" kern="0" spc="-5" dirty="0">
                <a:effectLst/>
                <a:latin typeface="Times New Roman" panose="02020603050405020304" pitchFamily="18" charset="0"/>
                <a:ea typeface="Times New Roman" panose="02020603050405020304" pitchFamily="18" charset="0"/>
              </a:rPr>
            </a:br>
            <a:endParaRPr lang="en-US" sz="4800" dirty="0"/>
          </a:p>
        </p:txBody>
      </p:sp>
      <p:sp>
        <p:nvSpPr>
          <p:cNvPr id="3" name="Content Placeholder 2"/>
          <p:cNvSpPr>
            <a:spLocks noGrp="1"/>
          </p:cNvSpPr>
          <p:nvPr>
            <p:ph idx="1"/>
          </p:nvPr>
        </p:nvSpPr>
        <p:spPr>
          <a:xfrm>
            <a:off x="357809" y="1825625"/>
            <a:ext cx="11529391" cy="4351338"/>
          </a:xfrm>
        </p:spPr>
        <p:txBody>
          <a:bodyPr/>
          <a:lstStyle/>
          <a:p>
            <a:pPr marL="0" indent="0">
              <a:buNone/>
            </a:pPr>
            <a:r>
              <a:rPr lang="en-US" sz="3200" dirty="0">
                <a:solidFill>
                  <a:schemeClr val="accent5"/>
                </a:solidFill>
              </a:rPr>
              <a:t>The </a:t>
            </a:r>
            <a:r>
              <a:rPr lang="en-US" sz="3200" dirty="0" err="1">
                <a:solidFill>
                  <a:schemeClr val="accent5"/>
                </a:solidFill>
              </a:rPr>
              <a:t>programme</a:t>
            </a:r>
            <a:r>
              <a:rPr lang="en-US" sz="3200" dirty="0">
                <a:solidFill>
                  <a:schemeClr val="accent5"/>
                </a:solidFill>
              </a:rPr>
              <a:t> serves as:</a:t>
            </a:r>
            <a:endParaRPr lang="en-US" sz="3200" dirty="0">
              <a:solidFill>
                <a:schemeClr val="accent5"/>
              </a:solidFill>
            </a:endParaRPr>
          </a:p>
          <a:p>
            <a:r>
              <a:rPr lang="en-US" sz="3200" dirty="0"/>
              <a:t>a set of instructions to the audit team;</a:t>
            </a:r>
            <a:endParaRPr lang="en-US" sz="3200" dirty="0"/>
          </a:p>
          <a:p>
            <a:r>
              <a:rPr lang="en-US" sz="3200" dirty="0"/>
              <a:t>a means to control and record the proper execution of the audit work;</a:t>
            </a:r>
            <a:endParaRPr lang="en-US" sz="3200" dirty="0"/>
          </a:p>
          <a:p>
            <a:r>
              <a:rPr lang="en-US" sz="3200" dirty="0"/>
              <a:t>a record of the audit procedures to be adopted, the audit objectives, timing, sample size an basis of selection for each area.</a:t>
            </a:r>
            <a:endParaRPr lang="en-US" sz="3200" dirty="0"/>
          </a:p>
          <a:p>
            <a:endParaRPr lang="en-US" sz="3200" dirty="0"/>
          </a:p>
          <a:p>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4800" b="1" kern="0" spc="-5" dirty="0" err="1">
                <a:effectLst/>
                <a:latin typeface="Times New Roman" panose="02020603050405020304" pitchFamily="18" charset="0"/>
                <a:ea typeface="Times New Roman" panose="02020603050405020304" pitchFamily="18" charset="0"/>
              </a:rPr>
              <a:t>Standardised</a:t>
            </a:r>
            <a:r>
              <a:rPr lang="en-US" sz="4800" b="1" kern="0" spc="-5" dirty="0">
                <a:effectLst/>
                <a:latin typeface="Times New Roman" panose="02020603050405020304" pitchFamily="18" charset="0"/>
                <a:ea typeface="Times New Roman" panose="02020603050405020304" pitchFamily="18" charset="0"/>
              </a:rPr>
              <a:t> Audit </a:t>
            </a:r>
            <a:r>
              <a:rPr lang="en-US" sz="4800" b="1" kern="0" spc="-5" dirty="0" err="1">
                <a:effectLst/>
                <a:latin typeface="Times New Roman" panose="02020603050405020304" pitchFamily="18" charset="0"/>
                <a:ea typeface="Times New Roman" panose="02020603050405020304" pitchFamily="18" charset="0"/>
              </a:rPr>
              <a:t>Programmes</a:t>
            </a:r>
            <a:br>
              <a:rPr lang="en-US" sz="4800" b="1" kern="0" spc="-5" dirty="0">
                <a:effectLst/>
                <a:latin typeface="Times New Roman" panose="02020603050405020304" pitchFamily="18" charset="0"/>
                <a:ea typeface="Times New Roman" panose="02020603050405020304" pitchFamily="18" charset="0"/>
              </a:rPr>
            </a:br>
            <a:endParaRPr lang="en-US" sz="4800" dirty="0"/>
          </a:p>
        </p:txBody>
      </p:sp>
      <p:sp>
        <p:nvSpPr>
          <p:cNvPr id="3" name="Content Placeholder 2"/>
          <p:cNvSpPr>
            <a:spLocks noGrp="1"/>
          </p:cNvSpPr>
          <p:nvPr>
            <p:ph idx="1"/>
          </p:nvPr>
        </p:nvSpPr>
        <p:spPr>
          <a:xfrm>
            <a:off x="344557" y="1825625"/>
            <a:ext cx="11489633" cy="4351338"/>
          </a:xfrm>
        </p:spPr>
        <p:txBody>
          <a:bodyPr/>
          <a:lstStyle/>
          <a:p>
            <a:r>
              <a:rPr lang="en-US" sz="3200" dirty="0"/>
              <a:t>A standardized audit </a:t>
            </a:r>
            <a:r>
              <a:rPr lang="en-US" sz="3200" dirty="0" err="1"/>
              <a:t>programme</a:t>
            </a:r>
            <a:r>
              <a:rPr lang="en-US" sz="3200" dirty="0"/>
              <a:t> is a pre-prepared listing of objectives and tests which can be used in any audit. </a:t>
            </a:r>
            <a:endParaRPr lang="en-US" sz="3200" dirty="0"/>
          </a:p>
          <a:p>
            <a:pPr marL="0" indent="0">
              <a:buNone/>
            </a:pPr>
            <a:endParaRPr lang="en-US" sz="3200" dirty="0"/>
          </a:p>
          <a:p>
            <a:r>
              <a:rPr lang="en-US" sz="3200" dirty="0" err="1"/>
              <a:t>Standadised</a:t>
            </a:r>
            <a:r>
              <a:rPr lang="en-US" sz="3200" dirty="0"/>
              <a:t> audit </a:t>
            </a:r>
            <a:r>
              <a:rPr lang="en-US" sz="3200" dirty="0" err="1"/>
              <a:t>programmes</a:t>
            </a:r>
            <a:r>
              <a:rPr lang="en-US" sz="3200" dirty="0"/>
              <a:t> are common in practice and are often drawn from a database of procedures in large auditing firms.</a:t>
            </a:r>
            <a:endParaRPr lang="en-US" sz="3200" dirty="0"/>
          </a:p>
          <a:p>
            <a:endParaRPr lang="en-US" sz="3200" dirty="0"/>
          </a:p>
          <a:p>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a:effectLst/>
                <a:latin typeface="Times New Roman" panose="02020603050405020304" pitchFamily="18" charset="0"/>
                <a:ea typeface="Times New Roman" panose="02020603050405020304" pitchFamily="18" charset="0"/>
              </a:rPr>
              <a:t>Advantages of standardized audit </a:t>
            </a:r>
            <a:r>
              <a:rPr lang="en-US" b="1" dirty="0" err="1">
                <a:effectLst/>
                <a:latin typeface="Times New Roman" panose="02020603050405020304" pitchFamily="18" charset="0"/>
                <a:ea typeface="Times New Roman" panose="02020603050405020304" pitchFamily="18" charset="0"/>
              </a:rPr>
              <a:t>programmes</a:t>
            </a:r>
            <a:br>
              <a:rPr lang="en-US" sz="1800" b="1" dirty="0">
                <a:effectLst/>
                <a:latin typeface="Times New Roman" panose="02020603050405020304" pitchFamily="18" charset="0"/>
                <a:ea typeface="Times New Roman" panose="02020603050405020304" pitchFamily="18" charset="0"/>
              </a:rPr>
            </a:br>
            <a:endParaRPr lang="en-US" dirty="0"/>
          </a:p>
        </p:txBody>
      </p:sp>
      <p:sp>
        <p:nvSpPr>
          <p:cNvPr id="3" name="Content Placeholder 2"/>
          <p:cNvSpPr>
            <a:spLocks noGrp="1"/>
          </p:cNvSpPr>
          <p:nvPr>
            <p:ph idx="1"/>
          </p:nvPr>
        </p:nvSpPr>
        <p:spPr>
          <a:xfrm>
            <a:off x="838200" y="1825625"/>
            <a:ext cx="11035748" cy="4351338"/>
          </a:xfrm>
        </p:spPr>
        <p:txBody>
          <a:bodyPr/>
          <a:lstStyle/>
          <a:p>
            <a:pPr marL="0" indent="0">
              <a:buNone/>
            </a:pPr>
            <a:r>
              <a:rPr lang="en-US" sz="3200" dirty="0">
                <a:solidFill>
                  <a:schemeClr val="accent5"/>
                </a:solidFill>
              </a:rPr>
              <a:t>Their advantages are that:</a:t>
            </a:r>
            <a:endParaRPr lang="en-US" sz="3200" dirty="0">
              <a:solidFill>
                <a:schemeClr val="accent5"/>
              </a:solidFill>
            </a:endParaRPr>
          </a:p>
          <a:p>
            <a:r>
              <a:rPr lang="en-US" sz="3200" dirty="0"/>
              <a:t>They streamline work.</a:t>
            </a:r>
            <a:endParaRPr lang="en-US" sz="3200" dirty="0"/>
          </a:p>
          <a:p>
            <a:r>
              <a:rPr lang="en-US" sz="3200" dirty="0"/>
              <a:t>They act as checklists to ensure that all important areas are considered.</a:t>
            </a:r>
            <a:endParaRPr lang="en-US" sz="3200" dirty="0"/>
          </a:p>
          <a:p>
            <a:r>
              <a:rPr lang="en-US" sz="3200" dirty="0"/>
              <a:t>They improve the efficiency of the audit team since they have thought out and well tested </a:t>
            </a:r>
            <a:r>
              <a:rPr lang="en-US" sz="3200" dirty="0" err="1"/>
              <a:t>programmes</a:t>
            </a:r>
            <a:r>
              <a:rPr lang="en-US" sz="3200" dirty="0"/>
              <a:t> as guide.</a:t>
            </a:r>
            <a:endParaRPr lang="en-US" sz="3200" dirty="0"/>
          </a:p>
          <a:p>
            <a:r>
              <a:rPr lang="en-US" sz="3200" dirty="0"/>
              <a:t>They facilitate delegation of work.</a:t>
            </a:r>
            <a:endParaRPr lang="en-US" sz="3200" dirty="0"/>
          </a:p>
          <a:p>
            <a:r>
              <a:rPr lang="en-US" sz="3200" dirty="0"/>
              <a:t>They help to maintain quality control.</a:t>
            </a:r>
            <a:endParaRPr lang="en-US" sz="3200" dirty="0"/>
          </a:p>
          <a:p>
            <a:endParaRPr lang="en-US" dirty="0"/>
          </a:p>
          <a:p>
            <a:endParaRPr lang="en-US" dirty="0"/>
          </a:p>
        </p:txBody>
      </p:sp>
    </p:spTree>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514949"/>
      </a:dk2>
      <a:lt2>
        <a:srgbClr val="E1E1DB"/>
      </a:lt2>
      <a:accent1>
        <a:srgbClr val="9DBFBE"/>
      </a:accent1>
      <a:accent2>
        <a:srgbClr val="DB8631"/>
      </a:accent2>
      <a:accent3>
        <a:srgbClr val="E3CC5A"/>
      </a:accent3>
      <a:accent4>
        <a:srgbClr val="ACADA8"/>
      </a:accent4>
      <a:accent5>
        <a:srgbClr val="927C61"/>
      </a:accent5>
      <a:accent6>
        <a:srgbClr val="B3B435"/>
      </a:accent6>
      <a:hlink>
        <a:srgbClr val="0000FF"/>
      </a:hlink>
      <a:folHlink>
        <a:srgbClr val="800080"/>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TM02900769[[fn=Retrospect]]</Template>
  <TotalTime>0</TotalTime>
  <Words>24364</Words>
  <Application>WPS Presentation</Application>
  <PresentationFormat>Widescreen</PresentationFormat>
  <Paragraphs>558</Paragraphs>
  <Slides>62</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62</vt:i4>
      </vt:variant>
    </vt:vector>
  </HeadingPairs>
  <TitlesOfParts>
    <vt:vector size="72" baseType="lpstr">
      <vt:lpstr>Arial</vt:lpstr>
      <vt:lpstr>SimSun</vt:lpstr>
      <vt:lpstr>Wingdings</vt:lpstr>
      <vt:lpstr>Calibri</vt:lpstr>
      <vt:lpstr>Times New Roman</vt:lpstr>
      <vt:lpstr>Symbol</vt:lpstr>
      <vt:lpstr>Calibri Light</vt:lpstr>
      <vt:lpstr>Microsoft YaHei</vt:lpstr>
      <vt:lpstr>Arial Unicode MS</vt:lpstr>
      <vt:lpstr>Retrospect</vt:lpstr>
      <vt:lpstr>AUDIT PLANNING AND DOCUMENTATION</vt:lpstr>
      <vt:lpstr>AUDIT PLANNING</vt:lpstr>
      <vt:lpstr>AUDIT PLANNING CONT’D</vt:lpstr>
      <vt:lpstr>The planning process</vt:lpstr>
      <vt:lpstr>Merits of adequate planning of audit work </vt:lpstr>
      <vt:lpstr>Merits of adequate planning of audit work cont’d</vt:lpstr>
      <vt:lpstr>Planning an Audit of Financial Statements </vt:lpstr>
      <vt:lpstr>Preliminary Engagement Activities </vt:lpstr>
      <vt:lpstr>Preliminary Engagement Activities</vt:lpstr>
      <vt:lpstr>The Overall Audit Strategy The overall audit strategy sets the scope, timing and direction of the audit, and guides the development of the more detailed audit plan.</vt:lpstr>
      <vt:lpstr>Auditing small entities</vt:lpstr>
      <vt:lpstr>The Audit Plan </vt:lpstr>
      <vt:lpstr>The Audit Plan</vt:lpstr>
      <vt:lpstr>Audit Planning Memorandum </vt:lpstr>
      <vt:lpstr>Audit Planning Memorandum</vt:lpstr>
      <vt:lpstr>KNOWLEDGE OF THE CLIENT BUSINESS</vt:lpstr>
      <vt:lpstr>Understanding the entity and its environment </vt:lpstr>
      <vt:lpstr>       Understanding the entity and its environment cont’d </vt:lpstr>
      <vt:lpstr>Sources of Knowledge </vt:lpstr>
      <vt:lpstr>    Sources of Knowledge cont’d </vt:lpstr>
      <vt:lpstr>Using the Knowledge </vt:lpstr>
      <vt:lpstr>Matters to Consider in Relation to Knowledge of the Business </vt:lpstr>
      <vt:lpstr>Matters to Consider in Relation to Knowledge of the Business </vt:lpstr>
      <vt:lpstr>Matters to Consider in Relation to Knowledge of the Business </vt:lpstr>
      <vt:lpstr>Matters to Consider in Relation to Knowledge of the Business </vt:lpstr>
      <vt:lpstr>Matters to Consider in Relation to Knowledge of the Business</vt:lpstr>
      <vt:lpstr>AUDIT RISKS AND MATERIALITY ASSESSMENT</vt:lpstr>
      <vt:lpstr>AUDIT RISKS AND MATERIALITY ASSESSMENT</vt:lpstr>
      <vt:lpstr>AUDIT RISKS AND MATERIALITY ASSESSMENT</vt:lpstr>
      <vt:lpstr>AUDIT RISKS AND MATERIALITY ASSESSMENT</vt:lpstr>
      <vt:lpstr>AUDIT RISKS AND MATERIALITY ASSESSMENT</vt:lpstr>
      <vt:lpstr>AUDIT RISKS AND MATERIALITY ASSESSMENT</vt:lpstr>
      <vt:lpstr>AUDIT RISKS AND MATERIALITY ASSESSMENT</vt:lpstr>
      <vt:lpstr>AUDIT RISKS AND MATERIALITY ASSESSMENT</vt:lpstr>
      <vt:lpstr>AUDIT RISKS AND MATERIALITY ASSESSMENT</vt:lpstr>
      <vt:lpstr>AUDIT RISKS AND MATERIALITY ASSESSMENT</vt:lpstr>
      <vt:lpstr>AUDIT RISKS AND MATERIALITY ASSESSMENT</vt:lpstr>
      <vt:lpstr>AUDIT RISKS AND MATERIALITY ASSESSMENT</vt:lpstr>
      <vt:lpstr>AUDIT RISKS AND MATERIALITY ASSESSMENT</vt:lpstr>
      <vt:lpstr>AUDIT DOCUMENTATION </vt:lpstr>
      <vt:lpstr>Audit documentation </vt:lpstr>
      <vt:lpstr>Audit documentation cont’d</vt:lpstr>
      <vt:lpstr>Audit documentation cont’d</vt:lpstr>
      <vt:lpstr>Audit documentation cont’d</vt:lpstr>
      <vt:lpstr>Audit documentation cont’d</vt:lpstr>
      <vt:lpstr>Nature of Audit Documentation </vt:lpstr>
      <vt:lpstr>Nature of Audit Documentation </vt:lpstr>
      <vt:lpstr>Purposes of Audit Documentation </vt:lpstr>
      <vt:lpstr>Purposes of Audit Documentation cont’d </vt:lpstr>
      <vt:lpstr>Purposes of Audit Documentation cont’d </vt:lpstr>
      <vt:lpstr>Purposes of Audit Documentation cont’d </vt:lpstr>
      <vt:lpstr>Form, Content and Extent of Audit Documentation</vt:lpstr>
      <vt:lpstr>Factors that affect audit documentation </vt:lpstr>
      <vt:lpstr>AUDIT FILES</vt:lpstr>
      <vt:lpstr>Permanent Files </vt:lpstr>
      <vt:lpstr>Permanent Files cont’d</vt:lpstr>
      <vt:lpstr>The Current File </vt:lpstr>
      <vt:lpstr>The Current File cont’d </vt:lpstr>
      <vt:lpstr>AUDIT PROGRAMMES</vt:lpstr>
      <vt:lpstr>Purposes of Audit Programme </vt:lpstr>
      <vt:lpstr>Standardised Audit Programmes </vt:lpstr>
      <vt:lpstr>Advantages of standardized audit programmes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AUDIT PLANNIONG AND DOCUMENTATION</dc:title>
  <dc:creator>hp</dc:creator>
  <cp:lastModifiedBy>Lenovo</cp:lastModifiedBy>
  <cp:revision>20</cp:revision>
  <dcterms:created xsi:type="dcterms:W3CDTF">2022-03-17T10:12:00Z</dcterms:created>
  <dcterms:modified xsi:type="dcterms:W3CDTF">2026-02-06T15:31:27Z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07049D9F141249569220AFF2A8AA4C06_13</vt:lpwstr>
  </property>
  <property fmtid="{D5CDD505-2E9C-101B-9397-08002B2CF9AE}" pid="3" name="KSOProductBuildVer">
    <vt:lpwstr>1033-12.2.0.23196</vt:lpwstr>
  </property>
</Properties>
</file>